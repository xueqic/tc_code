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91440"/>
            <a:ext cx="11969496" cy="6656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032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89320" y="201168"/>
            <a:ext cx="0" cy="6437376"/>
          </a:xfrm>
          <a:prstGeom prst="line">
            <a:avLst/>
          </a:prstGeom>
          <a:ln w="20320">
            <a:solidFill>
              <a:srgbClr val="9A9A9A"/>
            </a:solidFill>
            <a:prstDash val="dash"/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6089904" y="3931920"/>
            <a:ext cx="5888736" cy="0"/>
          </a:xfrm>
          <a:prstGeom prst="line">
            <a:avLst/>
          </a:prstGeom>
          <a:ln w="20320">
            <a:solidFill>
              <a:srgbClr val="9A9A9A"/>
            </a:solidFill>
            <a:prstDash val="dash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320040" y="2194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1F1F1E"/>
                </a:solidFill>
                <a:latin typeface="Times New Roman"/>
              </a:rPr>
              <a:t>Reading the task as skill demand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22960"/>
            <a:ext cx="78638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881481"/>
            <a:ext cx="78638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940003"/>
            <a:ext cx="78638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188720"/>
            <a:ext cx="475488" cy="41148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353312"/>
            <a:ext cx="475488" cy="41148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1517904"/>
            <a:ext cx="475488" cy="41148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751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1F1F1E"/>
                </a:solidFill>
                <a:latin typeface="Times New Roman"/>
              </a:rPr>
              <a:t>Support Set 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1417320"/>
            <a:ext cx="54864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2400300" y="891540"/>
            <a:ext cx="960120" cy="86868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9387" y="763524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34640" y="672084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66390" y="1197864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2033" y="1197864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5943" y="1430121"/>
            <a:ext cx="268833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0260" y="1796795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F1F1E"/>
                </a:solidFill>
                <a:latin typeface="Times New Roman"/>
              </a:rPr>
              <a:t>Student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103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1F1E"/>
                </a:solidFill>
                <a:latin typeface="Times New Roman"/>
              </a:rPr>
              <a:t>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0440" y="1325880"/>
            <a:ext cx="54864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4178808" y="1764792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178808" y="1618488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178808" y="1472184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178808" y="1325880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4178808" y="1783080"/>
            <a:ext cx="69037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4224528" y="1216152"/>
            <a:ext cx="118872" cy="566928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4548" y="1508760"/>
            <a:ext cx="118872" cy="274320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44568" y="1325880"/>
            <a:ext cx="118872" cy="457200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4588" y="1581912"/>
            <a:ext cx="118872" cy="201168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1920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1F1F1E"/>
                </a:solidFill>
                <a:latin typeface="Times New Roman"/>
              </a:rPr>
              <a:t>Gradient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6032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F1F1E"/>
                </a:solidFill>
                <a:latin typeface="Times New Roman"/>
              </a:rPr>
              <a:t>min‖X − CD‖²  +  λ‖C‖₁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2331720"/>
            <a:ext cx="0" cy="68580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sp>
        <p:nvSpPr>
          <p:cNvPr id="35" name="Rounded Rectangle 34"/>
          <p:cNvSpPr/>
          <p:nvPr/>
        </p:nvSpPr>
        <p:spPr>
          <a:xfrm>
            <a:off x="777240" y="315468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4C72B0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52728" y="315468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5F9EA0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728216" y="315468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7BA7D7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203704" y="315468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F2B98F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79192" y="315468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E29A9A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611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1F1F1E"/>
                </a:solidFill>
                <a:latin typeface="Times New Roman"/>
              </a:rPr>
              <a:t>Capability Atoms (dictionary D)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91840" y="3337560"/>
            <a:ext cx="59436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3977640" y="3730752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3977640" y="3584448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3977640" y="3438144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3977640" y="3291840"/>
            <a:ext cx="69037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3977640" y="3749039"/>
            <a:ext cx="69037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4023360" y="3145535"/>
            <a:ext cx="118872" cy="603504"/>
          </a:xfrm>
          <a:prstGeom prst="rect">
            <a:avLst/>
          </a:prstGeom>
          <a:solidFill>
            <a:srgbClr val="4C72B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83380" y="3346703"/>
            <a:ext cx="118872" cy="402336"/>
          </a:xfrm>
          <a:prstGeom prst="rect">
            <a:avLst/>
          </a:prstGeom>
          <a:solidFill>
            <a:srgbClr val="5F9EA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3493007"/>
            <a:ext cx="118872" cy="256032"/>
          </a:xfrm>
          <a:prstGeom prst="rect">
            <a:avLst/>
          </a:prstGeom>
          <a:solidFill>
            <a:srgbClr val="7BA7D7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03420" y="3657599"/>
            <a:ext cx="118872" cy="91440"/>
          </a:xfrm>
          <a:prstGeom prst="rect">
            <a:avLst/>
          </a:prstGeom>
          <a:solidFill>
            <a:srgbClr val="C9C9C9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60" y="38862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1F1F1E"/>
                </a:solidFill>
                <a:latin typeface="Times New Roman"/>
              </a:rPr>
              <a:t>Task Demand 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297680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1F1E"/>
                </a:solidFill>
                <a:latin typeface="Times New Roman"/>
              </a:rPr>
              <a:t>per-skill token quota  =  w ·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47548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1F1F1E"/>
                </a:solidFill>
                <a:latin typeface="Times New Roman"/>
              </a:rPr>
              <a:t>Cross-modal bridge (fit on paid pairs)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0080" y="5897880"/>
            <a:ext cx="53035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685800" y="5623560"/>
            <a:ext cx="118872" cy="274320"/>
          </a:xfrm>
          <a:prstGeom prst="rect">
            <a:avLst/>
          </a:prstGeom>
          <a:solidFill>
            <a:srgbClr val="C9C9C9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5820" y="5458968"/>
            <a:ext cx="118872" cy="438912"/>
          </a:xfrm>
          <a:prstGeom prst="rect">
            <a:avLst/>
          </a:prstGeom>
          <a:solidFill>
            <a:srgbClr val="C9C9C9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5840" y="5696712"/>
            <a:ext cx="118872" cy="201168"/>
          </a:xfrm>
          <a:prstGeom prst="rect">
            <a:avLst/>
          </a:prstGeom>
          <a:solidFill>
            <a:srgbClr val="C9C9C9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60167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1F1F1E"/>
                </a:solidFill>
                <a:latin typeface="Times New Roman"/>
              </a:rPr>
              <a:t>Prompt 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17320" y="5669280"/>
            <a:ext cx="68580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sp>
        <p:nvSpPr>
          <p:cNvPr id="60" name="Rounded Rectangle 59"/>
          <p:cNvSpPr/>
          <p:nvPr/>
        </p:nvSpPr>
        <p:spPr>
          <a:xfrm>
            <a:off x="2194560" y="5349240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58568" y="5413248"/>
            <a:ext cx="146304" cy="146304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41448" y="5413248"/>
            <a:ext cx="146304" cy="146304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24327" y="5413248"/>
            <a:ext cx="146304" cy="146304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258568" y="5596128"/>
            <a:ext cx="146304" cy="146304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441448" y="5596128"/>
            <a:ext cx="146304" cy="146304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24327" y="5596128"/>
            <a:ext cx="146304" cy="146304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58568" y="5779008"/>
            <a:ext cx="146304" cy="146304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441448" y="5779008"/>
            <a:ext cx="146304" cy="146304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24327" y="5779008"/>
            <a:ext cx="146304" cy="146304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65960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1F1F1E"/>
                </a:solidFill>
                <a:latin typeface="Times New Roman"/>
              </a:rPr>
              <a:t>Ridge Map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971800" y="5669280"/>
            <a:ext cx="68580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3794760" y="5897880"/>
            <a:ext cx="53035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73" name="Rectangle 72"/>
          <p:cNvSpPr/>
          <p:nvPr/>
        </p:nvSpPr>
        <p:spPr>
          <a:xfrm>
            <a:off x="3840480" y="5394960"/>
            <a:ext cx="118872" cy="502920"/>
          </a:xfrm>
          <a:prstGeom prst="rect">
            <a:avLst/>
          </a:prstGeom>
          <a:solidFill>
            <a:srgbClr val="9EC99A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00500" y="5669280"/>
            <a:ext cx="118872" cy="228600"/>
          </a:xfrm>
          <a:prstGeom prst="rect">
            <a:avLst/>
          </a:prstGeom>
          <a:solidFill>
            <a:srgbClr val="9EC99A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60520" y="5513832"/>
            <a:ext cx="118872" cy="384048"/>
          </a:xfrm>
          <a:prstGeom prst="rect">
            <a:avLst/>
          </a:prstGeom>
          <a:solidFill>
            <a:srgbClr val="9EC99A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11880" y="60167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1F1F1E"/>
                </a:solidFill>
                <a:latin typeface="Times New Roman"/>
              </a:rPr>
              <a:t>Predicted Skills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21945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1F1F1E"/>
                </a:solidFill>
                <a:latin typeface="Times New Roman"/>
              </a:rPr>
              <a:t>Spending the budget where demand is unmet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23659" y="800100"/>
            <a:ext cx="960120" cy="86868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8A5A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92747" y="672084"/>
            <a:ext cx="21945" cy="128016"/>
          </a:xfrm>
          <a:prstGeom prst="rect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858000" y="580644"/>
            <a:ext cx="91440" cy="91440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89750" y="1106424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035393" y="1106424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769303" y="1338681"/>
            <a:ext cx="268833" cy="27432"/>
          </a:xfrm>
          <a:prstGeom prst="roundRect">
            <a:avLst>
              <a:gd name="adj" fmla="val 50000"/>
            </a:avLst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03620" y="170535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F1F1E"/>
                </a:solidFill>
                <a:latin typeface="Times New Roman"/>
              </a:rPr>
              <a:t>Teacher API</a:t>
            </a:r>
          </a:p>
        </p:txBody>
      </p:sp>
      <p:sp>
        <p:nvSpPr>
          <p:cNvPr id="85" name="Oval 84"/>
          <p:cNvSpPr/>
          <p:nvPr/>
        </p:nvSpPr>
        <p:spPr>
          <a:xfrm>
            <a:off x="7543800" y="1188720"/>
            <a:ext cx="310896" cy="77724"/>
          </a:xfrm>
          <a:prstGeom prst="ellipse">
            <a:avLst/>
          </a:prstGeom>
          <a:solidFill>
            <a:srgbClr val="E8C56A"/>
          </a:solidFill>
          <a:ln w="1270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543800" y="1097280"/>
            <a:ext cx="310896" cy="77724"/>
          </a:xfrm>
          <a:prstGeom prst="ellipse">
            <a:avLst/>
          </a:prstGeom>
          <a:solidFill>
            <a:srgbClr val="E8C56A"/>
          </a:solidFill>
          <a:ln w="1270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543800" y="1005840"/>
            <a:ext cx="310896" cy="77724"/>
          </a:xfrm>
          <a:prstGeom prst="ellipse">
            <a:avLst/>
          </a:prstGeom>
          <a:solidFill>
            <a:srgbClr val="E8C56A"/>
          </a:solidFill>
          <a:ln w="1270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543800" y="914400"/>
            <a:ext cx="310896" cy="77724"/>
          </a:xfrm>
          <a:prstGeom prst="ellipse">
            <a:avLst/>
          </a:prstGeom>
          <a:solidFill>
            <a:srgbClr val="E8C56A"/>
          </a:solidFill>
          <a:ln w="1270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60920" y="13533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1">
                <a:solidFill>
                  <a:srgbClr val="1F1F1E"/>
                </a:solidFill>
                <a:latin typeface="Times New Roman"/>
              </a:rPr>
              <a:t>b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635240" y="1234440"/>
            <a:ext cx="50292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8229600" y="1600200"/>
            <a:ext cx="53035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92" name="Rectangle 91"/>
          <p:cNvSpPr/>
          <p:nvPr/>
        </p:nvSpPr>
        <p:spPr>
          <a:xfrm>
            <a:off x="8275320" y="1216152"/>
            <a:ext cx="118872" cy="384048"/>
          </a:xfrm>
          <a:prstGeom prst="rect">
            <a:avLst/>
          </a:prstGeom>
          <a:solidFill>
            <a:srgbClr val="9EC99A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35340" y="1417320"/>
            <a:ext cx="118872" cy="182880"/>
          </a:xfrm>
          <a:prstGeom prst="rect">
            <a:avLst/>
          </a:prstGeom>
          <a:solidFill>
            <a:srgbClr val="9EC99A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95360" y="1289304"/>
            <a:ext cx="118872" cy="310896"/>
          </a:xfrm>
          <a:prstGeom prst="rect">
            <a:avLst/>
          </a:prstGeom>
          <a:solidFill>
            <a:srgbClr val="9EC99A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6720" y="1719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1F1F1E"/>
                </a:solidFill>
                <a:latin typeface="Times New Roman"/>
              </a:rPr>
              <a:t>ŝ(x)  predicted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601200" y="1600200"/>
            <a:ext cx="53035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97" name="Rectangle 96"/>
          <p:cNvSpPr/>
          <p:nvPr/>
        </p:nvSpPr>
        <p:spPr>
          <a:xfrm>
            <a:off x="9646920" y="1097280"/>
            <a:ext cx="118872" cy="502920"/>
          </a:xfrm>
          <a:prstGeom prst="rect">
            <a:avLst/>
          </a:prstGeom>
          <a:solidFill>
            <a:srgbClr val="4C72B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806940" y="1463040"/>
            <a:ext cx="118872" cy="137160"/>
          </a:xfrm>
          <a:prstGeom prst="rect">
            <a:avLst/>
          </a:prstGeom>
          <a:solidFill>
            <a:srgbClr val="C9C9C9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966960" y="1325880"/>
            <a:ext cx="118872" cy="274320"/>
          </a:xfrm>
          <a:prstGeom prst="rect">
            <a:avLst/>
          </a:prstGeom>
          <a:solidFill>
            <a:srgbClr val="5F9EA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18320" y="1719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1F1F1E"/>
                </a:solidFill>
                <a:latin typeface="Times New Roman"/>
              </a:rPr>
              <a:t>r  remaining quota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44200" y="960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1F1E"/>
                </a:solidFill>
                <a:latin typeface="Times New Roman"/>
              </a:rPr>
              <a:t>u(x) =</a:t>
            </a:r>
          </a:p>
          <a:p>
            <a:pPr algn="ctr"/>
            <a:r>
              <a:rPr sz="1300" b="0" i="0">
                <a:solidFill>
                  <a:srgbClr val="1F1F1E"/>
                </a:solidFill>
                <a:latin typeface="Times New Roman"/>
              </a:rPr>
              <a:t>Σ min(r, ŝ) / t̂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9052560" y="1417320"/>
            <a:ext cx="41148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6263640" y="2331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A63"/>
                </a:solidFill>
                <a:latin typeface="Times New Roman"/>
              </a:rPr>
              <a:t>returns → execution check + gate</a:t>
            </a:r>
          </a:p>
        </p:txBody>
      </p:sp>
      <p:sp>
        <p:nvSpPr>
          <p:cNvPr id="104" name="Oval 103"/>
          <p:cNvSpPr/>
          <p:nvPr/>
        </p:nvSpPr>
        <p:spPr>
          <a:xfrm>
            <a:off x="9418320" y="2240280"/>
            <a:ext cx="310896" cy="310896"/>
          </a:xfrm>
          <a:prstGeom prst="ellipse">
            <a:avLst/>
          </a:prstGeom>
          <a:solidFill>
            <a:srgbClr val="9EC99A"/>
          </a:solidFill>
          <a:ln w="1524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05" name="Oval 104"/>
          <p:cNvSpPr/>
          <p:nvPr/>
        </p:nvSpPr>
        <p:spPr>
          <a:xfrm>
            <a:off x="9829800" y="2240280"/>
            <a:ext cx="310896" cy="310896"/>
          </a:xfrm>
          <a:prstGeom prst="ellipse">
            <a:avLst/>
          </a:prstGeom>
          <a:solidFill>
            <a:srgbClr val="E29A9A"/>
          </a:solidFill>
          <a:ln w="1524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41280" y="224942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A63"/>
                </a:solidFill>
                <a:latin typeface="Times New Roman"/>
              </a:rPr>
              <a:t>wasted ≤ 3%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629400" y="3547872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6629400" y="3401568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6629400" y="3255264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6629400" y="3108960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6629400" y="3566160"/>
            <a:ext cx="530351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6675120" y="2999232"/>
            <a:ext cx="118872" cy="566928"/>
          </a:xfrm>
          <a:prstGeom prst="rect">
            <a:avLst/>
          </a:prstGeom>
          <a:solidFill>
            <a:srgbClr val="4C72B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5140" y="3200400"/>
            <a:ext cx="118872" cy="365760"/>
          </a:xfrm>
          <a:prstGeom prst="rect">
            <a:avLst/>
          </a:prstGeom>
          <a:solidFill>
            <a:srgbClr val="5F9EA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995159" y="3328415"/>
            <a:ext cx="118872" cy="237744"/>
          </a:xfrm>
          <a:prstGeom prst="rect">
            <a:avLst/>
          </a:prstGeom>
          <a:solidFill>
            <a:srgbClr val="7BA7D7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7635240" y="3291840"/>
            <a:ext cx="64008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8412480" y="3547872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8412480" y="3401568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8412480" y="3255264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8412480" y="3108960"/>
            <a:ext cx="530352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8412480" y="3566160"/>
            <a:ext cx="530352" cy="0"/>
          </a:xfrm>
          <a:prstGeom prst="line">
            <a:avLst/>
          </a:prstGeom>
          <a:ln w="17780">
            <a:solidFill>
              <a:srgbClr val="555555"/>
            </a:solidFill>
          </a:ln>
          <a:effectLst/>
        </p:spPr>
      </p:cxnSp>
      <p:sp>
        <p:nvSpPr>
          <p:cNvPr id="121" name="Rectangle 120"/>
          <p:cNvSpPr/>
          <p:nvPr/>
        </p:nvSpPr>
        <p:spPr>
          <a:xfrm>
            <a:off x="8458200" y="3419856"/>
            <a:ext cx="118872" cy="146304"/>
          </a:xfrm>
          <a:prstGeom prst="rect">
            <a:avLst/>
          </a:prstGeom>
          <a:solidFill>
            <a:srgbClr val="4C72B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18220" y="3474720"/>
            <a:ext cx="118872" cy="91440"/>
          </a:xfrm>
          <a:prstGeom prst="rect">
            <a:avLst/>
          </a:prstGeom>
          <a:solidFill>
            <a:srgbClr val="5F9EA0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778240" y="3511296"/>
            <a:ext cx="118872" cy="54864"/>
          </a:xfrm>
          <a:prstGeom prst="rect">
            <a:avLst/>
          </a:prstGeom>
          <a:solidFill>
            <a:srgbClr val="7BA7D7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92240" y="3657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1F1F1E"/>
                </a:solidFill>
                <a:latin typeface="Times New Roman"/>
              </a:rPr>
              <a:t>quota drains as verified supply arrives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17920" y="404164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1F1F1E"/>
                </a:solidFill>
                <a:latin typeface="Times New Roman"/>
              </a:rPr>
              <a:t>Demand-weighted distillation, certified deployment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55080" y="4526280"/>
            <a:ext cx="658368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419088" y="4617720"/>
            <a:ext cx="384048" cy="41148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132320" y="4453128"/>
            <a:ext cx="146304" cy="384048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6355080" y="4983480"/>
            <a:ext cx="658368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419088" y="5074920"/>
            <a:ext cx="384048" cy="41148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32320" y="5093208"/>
            <a:ext cx="146304" cy="201168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355080" y="5440680"/>
            <a:ext cx="658368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19088" y="5532120"/>
            <a:ext cx="384048" cy="41148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132320" y="5440680"/>
            <a:ext cx="146304" cy="310896"/>
          </a:xfrm>
          <a:prstGeom prst="rect">
            <a:avLst/>
          </a:prstGeom>
          <a:solidFill>
            <a:srgbClr val="F2B98F"/>
          </a:solidFill>
          <a:ln w="1270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17920" y="5897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1">
                <a:solidFill>
                  <a:srgbClr val="1F1F1E"/>
                </a:solidFill>
                <a:latin typeface="Times New Roman"/>
              </a:rPr>
              <a:t>loss weights ∝ demand served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001000" y="5623560"/>
            <a:ext cx="1554480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8001000" y="5477256"/>
            <a:ext cx="1554480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8001000" y="5330952"/>
            <a:ext cx="1554480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8001000" y="5184648"/>
            <a:ext cx="1554480" cy="0"/>
          </a:xfrm>
          <a:prstGeom prst="line">
            <a:avLst/>
          </a:prstGeom>
          <a:ln w="11430">
            <a:solidFill>
              <a:srgbClr val="E4E4E4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8046720" y="5257800"/>
            <a:ext cx="274320" cy="274320"/>
          </a:xfrm>
          <a:prstGeom prst="line">
            <a:avLst/>
          </a:prstGeom>
          <a:ln w="30480">
            <a:solidFill>
              <a:srgbClr val="4C72B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8321040" y="4983480"/>
            <a:ext cx="320040" cy="274320"/>
          </a:xfrm>
          <a:prstGeom prst="line">
            <a:avLst/>
          </a:prstGeom>
          <a:ln w="30480">
            <a:solidFill>
              <a:srgbClr val="4C72B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8641080" y="4892040"/>
            <a:ext cx="320040" cy="91440"/>
          </a:xfrm>
          <a:prstGeom prst="line">
            <a:avLst/>
          </a:prstGeom>
          <a:ln w="30480">
            <a:solidFill>
              <a:srgbClr val="4C72B0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8961120" y="4892040"/>
            <a:ext cx="320040" cy="137160"/>
          </a:xfrm>
          <a:prstGeom prst="line">
            <a:avLst/>
          </a:prstGeom>
          <a:ln w="30480">
            <a:solidFill>
              <a:srgbClr val="4C72B0"/>
            </a:solidFill>
          </a:ln>
          <a:effectLst/>
        </p:spPr>
      </p:cxnSp>
      <p:sp>
        <p:nvSpPr>
          <p:cNvPr id="144" name="Oval 143"/>
          <p:cNvSpPr/>
          <p:nvPr/>
        </p:nvSpPr>
        <p:spPr>
          <a:xfrm>
            <a:off x="8887968" y="4818888"/>
            <a:ext cx="146304" cy="146304"/>
          </a:xfrm>
          <a:prstGeom prst="ellipse">
            <a:avLst/>
          </a:prstGeom>
          <a:solidFill>
            <a:srgbClr val="4E8A4A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818120" y="5760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1">
                <a:solidFill>
                  <a:srgbClr val="1F1F1E"/>
                </a:solidFill>
                <a:latin typeface="Times New Roman"/>
              </a:rPr>
              <a:t>behavioral probe keeps best step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104120" y="4480560"/>
            <a:ext cx="1691640" cy="960120"/>
          </a:xfrm>
          <a:prstGeom prst="roundRect">
            <a:avLst>
              <a:gd name="adj" fmla="val 10000"/>
            </a:avLst>
          </a:prstGeom>
          <a:solidFill>
            <a:srgbClr val="EFF7EE"/>
          </a:solidFill>
          <a:ln w="25400">
            <a:solidFill>
              <a:srgbClr val="4E8A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241280" y="4617720"/>
            <a:ext cx="502920" cy="502920"/>
          </a:xfrm>
          <a:prstGeom prst="ellipse">
            <a:avLst/>
          </a:prstGeom>
          <a:solidFill>
            <a:srgbClr val="4E8A4A"/>
          </a:solidFill>
          <a:ln w="2032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89920" y="4590288"/>
            <a:ext cx="960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1F1E"/>
                </a:solidFill>
                <a:latin typeface="Times New Roman"/>
              </a:rPr>
              <a:t>coverage ≥ 1−α</a:t>
            </a:r>
          </a:p>
          <a:p>
            <a:pPr algn="l"/>
            <a:r>
              <a:rPr sz="1000" b="0" i="0">
                <a:solidFill>
                  <a:srgbClr val="1F1F1E"/>
                </a:solidFill>
                <a:latin typeface="Times New Roman"/>
              </a:rPr>
              <a:t>leakage ≤ ε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58400" y="5504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1">
                <a:solidFill>
                  <a:srgbClr val="1F1F1E"/>
                </a:solidFill>
                <a:latin typeface="Times New Roman"/>
              </a:rPr>
              <a:t>Certificate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875520" y="589788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A63"/>
                </a:solidFill>
                <a:latin typeface="Times New Roman"/>
              </a:rPr>
              <a:t>in → student · out → teacher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509760" y="4956048"/>
            <a:ext cx="502920" cy="0"/>
          </a:xfrm>
          <a:prstGeom prst="line">
            <a:avLst/>
          </a:prstGeom>
          <a:ln w="30480">
            <a:solidFill>
              <a:srgbClr val="333333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