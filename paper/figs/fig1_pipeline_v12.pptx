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66568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032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89320" y="201168"/>
            <a:ext cx="0" cy="6437376"/>
          </a:xfrm>
          <a:prstGeom prst="line">
            <a:avLst/>
          </a:prstGeom>
          <a:ln w="20320">
            <a:solidFill>
              <a:srgbClr val="9A9A9A"/>
            </a:solidFill>
            <a:prstDash val="dash"/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6089904" y="3931920"/>
            <a:ext cx="5888736" cy="0"/>
          </a:xfrm>
          <a:prstGeom prst="line">
            <a:avLst/>
          </a:prstGeom>
          <a:ln w="20320">
            <a:solidFill>
              <a:srgbClr val="9A9A9A"/>
            </a:solidFill>
            <a:prstDash val="dash"/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320040" y="2194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F1F1E"/>
                </a:solidFill>
                <a:latin typeface="Times New Roman"/>
              </a:rPr>
              <a:t>Reading the task as skill demand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749808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815644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6384" y="881481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688" y="1170432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1371600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1572768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F1F1E"/>
                </a:solidFill>
                <a:latin typeface="Times New Roman"/>
              </a:rPr>
              <a:t>Support Set 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1417320"/>
            <a:ext cx="54864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2286000" y="772668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69387" y="644652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34640" y="553212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25242" y="1152144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53181" y="1152144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13939" y="1424635"/>
            <a:ext cx="332841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186080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1F1E"/>
                </a:solidFill>
                <a:latin typeface="Times New Roman"/>
              </a:rPr>
              <a:t>Student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1031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F1F1E"/>
                </a:solidFill>
                <a:latin typeface="Times New Roman"/>
              </a:rPr>
              <a:t>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520440" y="1325880"/>
            <a:ext cx="54864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4178808" y="1764792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178808" y="1618488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178808" y="1472184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178808" y="1325880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4178808" y="1783080"/>
            <a:ext cx="86410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4224528" y="1216152"/>
            <a:ext cx="155448" cy="566928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0268" y="1508760"/>
            <a:ext cx="155448" cy="274320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1325880"/>
            <a:ext cx="155448" cy="457200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1748" y="1581912"/>
            <a:ext cx="155448" cy="201168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0" y="19568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F1F1E"/>
                </a:solidFill>
                <a:latin typeface="Times New Roman"/>
              </a:rPr>
              <a:t>Gradient Features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5603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1F1F1E"/>
                </a:solidFill>
                <a:latin typeface="Times New Roman"/>
              </a:rPr>
              <a:t>min‖X − CD‖²  +  λ‖C‖₁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2331720"/>
            <a:ext cx="0" cy="68580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sp>
        <p:nvSpPr>
          <p:cNvPr id="35" name="Rounded Rectangle 34"/>
          <p:cNvSpPr/>
          <p:nvPr/>
        </p:nvSpPr>
        <p:spPr>
          <a:xfrm>
            <a:off x="731520" y="31272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4C72B0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98448" y="31272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5F9EA0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65376" y="31272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7BA7D7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432304" y="31272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2B98F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999232" y="312724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29A9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6576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F1F1E"/>
                </a:solidFill>
                <a:latin typeface="Times New Roman"/>
              </a:rPr>
              <a:t>Capability Atoms (dictionary D)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39312" y="3355848"/>
            <a:ext cx="36576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4087368" y="3730752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4087368" y="3584448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4087368" y="3438144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4087368" y="3291840"/>
            <a:ext cx="86410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4087368" y="3749039"/>
            <a:ext cx="864107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4133087" y="3145535"/>
            <a:ext cx="155448" cy="603504"/>
          </a:xfrm>
          <a:prstGeom prst="rect">
            <a:avLst/>
          </a:prstGeom>
          <a:solidFill>
            <a:srgbClr val="4C72B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8827" y="3346703"/>
            <a:ext cx="155448" cy="402336"/>
          </a:xfrm>
          <a:prstGeom prst="rect">
            <a:avLst/>
          </a:prstGeom>
          <a:solidFill>
            <a:srgbClr val="5F9EA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44568" y="3493007"/>
            <a:ext cx="155448" cy="256032"/>
          </a:xfrm>
          <a:prstGeom prst="rect">
            <a:avLst/>
          </a:prstGeom>
          <a:solidFill>
            <a:srgbClr val="7BA7D7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50307" y="3657599"/>
            <a:ext cx="155448" cy="91440"/>
          </a:xfrm>
          <a:prstGeom prst="rect">
            <a:avLst/>
          </a:prstGeom>
          <a:solidFill>
            <a:srgbClr val="C9C9C9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03320" y="3931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F1F1E"/>
                </a:solidFill>
                <a:latin typeface="Times New Roman"/>
              </a:rPr>
              <a:t>Task Demand 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297680"/>
            <a:ext cx="53035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1F1F1E"/>
                </a:solidFill>
                <a:latin typeface="Times New Roman"/>
              </a:rPr>
              <a:t>per-skill token quota  =  w · 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4754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F1F1E"/>
                </a:solidFill>
                <a:latin typeface="Times New Roman"/>
              </a:rPr>
              <a:t>Cross-modal bridge (fit on paid pairs)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40080" y="589788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685800" y="5623560"/>
            <a:ext cx="155448" cy="274320"/>
          </a:xfrm>
          <a:prstGeom prst="rect">
            <a:avLst/>
          </a:prstGeom>
          <a:solidFill>
            <a:srgbClr val="C9C9C9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1540" y="5458968"/>
            <a:ext cx="155448" cy="438912"/>
          </a:xfrm>
          <a:prstGeom prst="rect">
            <a:avLst/>
          </a:prstGeom>
          <a:solidFill>
            <a:srgbClr val="C9C9C9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97280" y="5696712"/>
            <a:ext cx="155448" cy="201168"/>
          </a:xfrm>
          <a:prstGeom prst="rect">
            <a:avLst/>
          </a:prstGeom>
          <a:solidFill>
            <a:srgbClr val="C9C9C9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0533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F1F1E"/>
                </a:solidFill>
                <a:latin typeface="Times New Roman"/>
              </a:rPr>
              <a:t>Prompt g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417320" y="5669280"/>
            <a:ext cx="68580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sp>
        <p:nvSpPr>
          <p:cNvPr id="60" name="Rounded Rectangle 59"/>
          <p:cNvSpPr/>
          <p:nvPr/>
        </p:nvSpPr>
        <p:spPr>
          <a:xfrm>
            <a:off x="2194560" y="5349240"/>
            <a:ext cx="8412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55555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258568" y="5413248"/>
            <a:ext cx="186944" cy="186944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92247" y="5413248"/>
            <a:ext cx="186944" cy="186944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25927" y="5413248"/>
            <a:ext cx="186944" cy="186944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58568" y="5646928"/>
            <a:ext cx="186944" cy="186944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492247" y="5646928"/>
            <a:ext cx="186944" cy="186944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25927" y="5646928"/>
            <a:ext cx="186944" cy="186944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58568" y="5880608"/>
            <a:ext cx="186944" cy="186944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492247" y="5880608"/>
            <a:ext cx="186944" cy="186944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25927" y="5880608"/>
            <a:ext cx="186944" cy="186944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74519" y="614476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F1F1E"/>
                </a:solidFill>
                <a:latin typeface="Times New Roman"/>
              </a:rPr>
              <a:t>Ridge Map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971800" y="5669280"/>
            <a:ext cx="68580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3794760" y="589788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3840480" y="5394960"/>
            <a:ext cx="155448" cy="502920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46220" y="5669280"/>
            <a:ext cx="155448" cy="228600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51960" y="5513832"/>
            <a:ext cx="155448" cy="384048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6053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F1F1E"/>
                </a:solidFill>
                <a:latin typeface="Times New Roman"/>
              </a:rPr>
              <a:t>Predicted Skills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2194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F1F1E"/>
                </a:solidFill>
                <a:latin typeface="Times New Roman"/>
              </a:rPr>
              <a:t>Spending the budget where demand is unmet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681228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8A5A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47027" y="553212"/>
            <a:ext cx="21945" cy="128016"/>
          </a:xfrm>
          <a:prstGeom prst="rect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812280" y="461772"/>
            <a:ext cx="91440" cy="91440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602882" y="106070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30821" y="106070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691579" y="1333195"/>
            <a:ext cx="332841" cy="27432"/>
          </a:xfrm>
          <a:prstGeom prst="roundRect">
            <a:avLst>
              <a:gd name="adj" fmla="val 50000"/>
            </a:avLst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0" y="176936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1F1E"/>
                </a:solidFill>
                <a:latin typeface="Times New Roman"/>
              </a:rPr>
              <a:t>Teacher API</a:t>
            </a:r>
          </a:p>
        </p:txBody>
      </p:sp>
      <p:sp>
        <p:nvSpPr>
          <p:cNvPr id="85" name="Oval 84"/>
          <p:cNvSpPr/>
          <p:nvPr/>
        </p:nvSpPr>
        <p:spPr>
          <a:xfrm>
            <a:off x="7543800" y="1188720"/>
            <a:ext cx="310896" cy="77724"/>
          </a:xfrm>
          <a:prstGeom prst="ellipse">
            <a:avLst/>
          </a:prstGeom>
          <a:solidFill>
            <a:srgbClr val="E8C56A"/>
          </a:solidFill>
          <a:ln w="1270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43800" y="1078992"/>
            <a:ext cx="310896" cy="77724"/>
          </a:xfrm>
          <a:prstGeom prst="ellipse">
            <a:avLst/>
          </a:prstGeom>
          <a:solidFill>
            <a:srgbClr val="E8C56A"/>
          </a:solidFill>
          <a:ln w="1270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543800" y="969264"/>
            <a:ext cx="310896" cy="77724"/>
          </a:xfrm>
          <a:prstGeom prst="ellipse">
            <a:avLst/>
          </a:prstGeom>
          <a:solidFill>
            <a:srgbClr val="E8C56A"/>
          </a:solidFill>
          <a:ln w="1270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43800" y="859536"/>
            <a:ext cx="310896" cy="77724"/>
          </a:xfrm>
          <a:prstGeom prst="ellipse">
            <a:avLst/>
          </a:prstGeom>
          <a:solidFill>
            <a:srgbClr val="E8C56A"/>
          </a:solidFill>
          <a:ln w="1270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60920" y="1371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1F1F1E"/>
                </a:solidFill>
                <a:latin typeface="Times New Roman"/>
              </a:rPr>
              <a:t>b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635240" y="1234440"/>
            <a:ext cx="50292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8229600" y="160020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92" name="Rectangle 91"/>
          <p:cNvSpPr/>
          <p:nvPr/>
        </p:nvSpPr>
        <p:spPr>
          <a:xfrm>
            <a:off x="8275320" y="1216152"/>
            <a:ext cx="155448" cy="384048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481060" y="1417320"/>
            <a:ext cx="155448" cy="182880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686800" y="1289304"/>
            <a:ext cx="155448" cy="310896"/>
          </a:xfrm>
          <a:prstGeom prst="rect">
            <a:avLst/>
          </a:prstGeom>
          <a:solidFill>
            <a:srgbClr val="9EC99A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60" y="17556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F1F1E"/>
                </a:solidFill>
                <a:latin typeface="Times New Roman"/>
              </a:rPr>
              <a:t>ŝ(x) predicted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601200" y="160020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97" name="Rectangle 96"/>
          <p:cNvSpPr/>
          <p:nvPr/>
        </p:nvSpPr>
        <p:spPr>
          <a:xfrm>
            <a:off x="9646920" y="1097280"/>
            <a:ext cx="155448" cy="502920"/>
          </a:xfrm>
          <a:prstGeom prst="rect">
            <a:avLst/>
          </a:prstGeom>
          <a:solidFill>
            <a:srgbClr val="4C72B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852660" y="1463040"/>
            <a:ext cx="155448" cy="137160"/>
          </a:xfrm>
          <a:prstGeom prst="rect">
            <a:avLst/>
          </a:prstGeom>
          <a:solidFill>
            <a:srgbClr val="C9C9C9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58400" y="1325880"/>
            <a:ext cx="155448" cy="274320"/>
          </a:xfrm>
          <a:prstGeom prst="rect">
            <a:avLst/>
          </a:prstGeom>
          <a:solidFill>
            <a:srgbClr val="5F9EA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235440" y="1755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F1F1E"/>
                </a:solidFill>
                <a:latin typeface="Times New Roman"/>
              </a:rPr>
              <a:t>r  remaining quota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44200" y="9601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1F1F1E"/>
                </a:solidFill>
                <a:latin typeface="Times New Roman"/>
              </a:rPr>
              <a:t>u(x) =</a:t>
            </a:r>
          </a:p>
          <a:p>
            <a:pPr algn="ctr"/>
            <a:r>
              <a:rPr sz="1500" b="0" i="0">
                <a:solidFill>
                  <a:srgbClr val="1F1F1E"/>
                </a:solidFill>
                <a:latin typeface="Times New Roman"/>
              </a:rPr>
              <a:t>Σ min(r, ŝ) / t̂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9052560" y="1417320"/>
            <a:ext cx="41148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sp>
        <p:nvSpPr>
          <p:cNvPr id="103" name="TextBox 102"/>
          <p:cNvSpPr txBox="1"/>
          <p:nvPr/>
        </p:nvSpPr>
        <p:spPr>
          <a:xfrm>
            <a:off x="6263640" y="23317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A63"/>
                </a:solidFill>
                <a:latin typeface="Times New Roman"/>
              </a:rPr>
              <a:t>returns → execution check + gate</a:t>
            </a:r>
          </a:p>
        </p:txBody>
      </p:sp>
      <p:sp>
        <p:nvSpPr>
          <p:cNvPr id="104" name="Oval 103"/>
          <p:cNvSpPr/>
          <p:nvPr/>
        </p:nvSpPr>
        <p:spPr>
          <a:xfrm>
            <a:off x="9418320" y="2194560"/>
            <a:ext cx="402336" cy="402336"/>
          </a:xfrm>
          <a:prstGeom prst="ellipse">
            <a:avLst/>
          </a:prstGeom>
          <a:solidFill>
            <a:srgbClr val="9EC99A"/>
          </a:solidFill>
          <a:ln w="1524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05" name="Oval 104"/>
          <p:cNvSpPr/>
          <p:nvPr/>
        </p:nvSpPr>
        <p:spPr>
          <a:xfrm>
            <a:off x="9921240" y="2194560"/>
            <a:ext cx="402336" cy="402336"/>
          </a:xfrm>
          <a:prstGeom prst="ellipse">
            <a:avLst/>
          </a:prstGeom>
          <a:solidFill>
            <a:srgbClr val="E29A9A"/>
          </a:solidFill>
          <a:ln w="1524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22128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6A63"/>
                </a:solidFill>
                <a:latin typeface="Times New Roman"/>
              </a:rPr>
              <a:t>wasted ≤ 3%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29400" y="3547872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6629400" y="3401568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6629400" y="3255264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6629400" y="3108960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6629400" y="356616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6675120" y="2999232"/>
            <a:ext cx="155448" cy="566928"/>
          </a:xfrm>
          <a:prstGeom prst="rect">
            <a:avLst/>
          </a:prstGeom>
          <a:solidFill>
            <a:srgbClr val="4C72B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880859" y="3200400"/>
            <a:ext cx="155448" cy="365760"/>
          </a:xfrm>
          <a:prstGeom prst="rect">
            <a:avLst/>
          </a:prstGeom>
          <a:solidFill>
            <a:srgbClr val="5F9EA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86600" y="3328415"/>
            <a:ext cx="155448" cy="237744"/>
          </a:xfrm>
          <a:prstGeom prst="rect">
            <a:avLst/>
          </a:prstGeom>
          <a:solidFill>
            <a:srgbClr val="7BA7D7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7635240" y="3291840"/>
            <a:ext cx="64008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8412480" y="3547872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8412480" y="3401568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8412480" y="3255264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8412480" y="3108960"/>
            <a:ext cx="658368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8412480" y="3566160"/>
            <a:ext cx="658368" cy="0"/>
          </a:xfrm>
          <a:prstGeom prst="line">
            <a:avLst/>
          </a:prstGeom>
          <a:ln w="17780">
            <a:solidFill>
              <a:srgbClr val="555555"/>
            </a:solidFill>
          </a:ln>
          <a:effectLst/>
        </p:spPr>
      </p:cxnSp>
      <p:sp>
        <p:nvSpPr>
          <p:cNvPr id="121" name="Rectangle 120"/>
          <p:cNvSpPr/>
          <p:nvPr/>
        </p:nvSpPr>
        <p:spPr>
          <a:xfrm>
            <a:off x="8458200" y="3419856"/>
            <a:ext cx="155448" cy="146304"/>
          </a:xfrm>
          <a:prstGeom prst="rect">
            <a:avLst/>
          </a:prstGeom>
          <a:solidFill>
            <a:srgbClr val="4C72B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63940" y="3474720"/>
            <a:ext cx="155448" cy="91440"/>
          </a:xfrm>
          <a:prstGeom prst="rect">
            <a:avLst/>
          </a:prstGeom>
          <a:solidFill>
            <a:srgbClr val="5F9EA0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869680" y="3511296"/>
            <a:ext cx="155448" cy="54864"/>
          </a:xfrm>
          <a:prstGeom prst="rect">
            <a:avLst/>
          </a:prstGeom>
          <a:solidFill>
            <a:srgbClr val="7BA7D7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55080" y="3675887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1">
                <a:solidFill>
                  <a:srgbClr val="1F1F1E"/>
                </a:solidFill>
                <a:latin typeface="Times New Roman"/>
              </a:rPr>
              <a:t>quota drains as verified supply arrives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0416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F1F1E"/>
                </a:solidFill>
                <a:latin typeface="Times New Roman"/>
              </a:rPr>
              <a:t>Demand-weighted distillation, certified deployment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55080" y="4526280"/>
            <a:ext cx="658368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19088" y="4617720"/>
            <a:ext cx="384048" cy="4114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132320" y="4453128"/>
            <a:ext cx="146304" cy="384048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6355080" y="4983480"/>
            <a:ext cx="658368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19088" y="5074920"/>
            <a:ext cx="384048" cy="4114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132320" y="5093208"/>
            <a:ext cx="146304" cy="201168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355080" y="5440680"/>
            <a:ext cx="658368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419088" y="5532120"/>
            <a:ext cx="384048" cy="4114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132320" y="5440680"/>
            <a:ext cx="146304" cy="310896"/>
          </a:xfrm>
          <a:prstGeom prst="rect">
            <a:avLst/>
          </a:prstGeom>
          <a:solidFill>
            <a:srgbClr val="F2B98F"/>
          </a:solidFill>
          <a:ln w="12700">
            <a:solidFill>
              <a:srgbClr val="6666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126480" y="5943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F1F1E"/>
                </a:solidFill>
                <a:latin typeface="Times New Roman"/>
              </a:rPr>
              <a:t>loss weights ∝ demand served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001000" y="5623560"/>
            <a:ext cx="1554480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8001000" y="5477256"/>
            <a:ext cx="1554480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8001000" y="5330952"/>
            <a:ext cx="1554480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8001000" y="5184648"/>
            <a:ext cx="1554480" cy="0"/>
          </a:xfrm>
          <a:prstGeom prst="line">
            <a:avLst/>
          </a:prstGeom>
          <a:ln w="11430">
            <a:solidFill>
              <a:srgbClr val="E4E4E4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8046720" y="5257800"/>
            <a:ext cx="274320" cy="274320"/>
          </a:xfrm>
          <a:prstGeom prst="line">
            <a:avLst/>
          </a:prstGeom>
          <a:ln w="30480">
            <a:solidFill>
              <a:srgbClr val="4C72B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8321040" y="4983480"/>
            <a:ext cx="320040" cy="274320"/>
          </a:xfrm>
          <a:prstGeom prst="line">
            <a:avLst/>
          </a:prstGeom>
          <a:ln w="30480">
            <a:solidFill>
              <a:srgbClr val="4C72B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8641080" y="4892040"/>
            <a:ext cx="320040" cy="91440"/>
          </a:xfrm>
          <a:prstGeom prst="line">
            <a:avLst/>
          </a:prstGeom>
          <a:ln w="30480">
            <a:solidFill>
              <a:srgbClr val="4C72B0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8961120" y="4892040"/>
            <a:ext cx="320040" cy="137160"/>
          </a:xfrm>
          <a:prstGeom prst="line">
            <a:avLst/>
          </a:prstGeom>
          <a:ln w="30480">
            <a:solidFill>
              <a:srgbClr val="4C72B0"/>
            </a:solidFill>
          </a:ln>
          <a:effectLst/>
        </p:spPr>
      </p:cxnSp>
      <p:sp>
        <p:nvSpPr>
          <p:cNvPr id="144" name="Oval 143"/>
          <p:cNvSpPr/>
          <p:nvPr/>
        </p:nvSpPr>
        <p:spPr>
          <a:xfrm>
            <a:off x="8887968" y="4818888"/>
            <a:ext cx="146304" cy="146304"/>
          </a:xfrm>
          <a:prstGeom prst="ellipse">
            <a:avLst/>
          </a:prstGeom>
          <a:solidFill>
            <a:srgbClr val="4E8A4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26679" y="5833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F1F1E"/>
                </a:solidFill>
                <a:latin typeface="Times New Roman"/>
              </a:rPr>
              <a:t>behavioral probe keeps best step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966960" y="4462272"/>
            <a:ext cx="2029968" cy="1005840"/>
          </a:xfrm>
          <a:prstGeom prst="roundRect">
            <a:avLst>
              <a:gd name="adj" fmla="val 10000"/>
            </a:avLst>
          </a:prstGeom>
          <a:solidFill>
            <a:srgbClr val="EFF7EE"/>
          </a:solidFill>
          <a:ln w="25400">
            <a:solidFill>
              <a:srgbClr val="4E8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195560" y="4572000"/>
            <a:ext cx="603504" cy="603504"/>
          </a:xfrm>
          <a:prstGeom prst="ellipse">
            <a:avLst/>
          </a:prstGeom>
          <a:solidFill>
            <a:srgbClr val="4E8A4A"/>
          </a:solidFill>
          <a:ln w="2032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35640" y="4626864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1F1E"/>
                </a:solidFill>
                <a:latin typeface="Times New Roman"/>
              </a:rPr>
              <a:t>coverage ≥ 1−α</a:t>
            </a:r>
          </a:p>
          <a:p>
            <a:pPr algn="l"/>
            <a:r>
              <a:rPr sz="1250" b="0" i="0">
                <a:solidFill>
                  <a:srgbClr val="1F1F1E"/>
                </a:solidFill>
                <a:latin typeface="Times New Roman"/>
              </a:rPr>
              <a:t>leakage ≤ ε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58400" y="55412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F1F1E"/>
                </a:solidFill>
                <a:latin typeface="Times New Roman"/>
              </a:rPr>
              <a:t>Certificate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875520" y="589788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6B6A63"/>
                </a:solidFill>
                <a:latin typeface="Times New Roman"/>
              </a:rPr>
              <a:t>in → student · out → teacher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9509760" y="4956048"/>
            <a:ext cx="502920" cy="0"/>
          </a:xfrm>
          <a:prstGeom prst="line">
            <a:avLst/>
          </a:prstGeom>
          <a:ln w="30480">
            <a:solidFill>
              <a:srgbClr val="333333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