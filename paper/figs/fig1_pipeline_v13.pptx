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" y="91440"/>
            <a:ext cx="11969496" cy="665683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2860">
            <a:solidFill>
              <a:srgbClr val="77777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989320" y="201168"/>
            <a:ext cx="0" cy="6437376"/>
          </a:xfrm>
          <a:prstGeom prst="line">
            <a:avLst/>
          </a:prstGeom>
          <a:ln w="22860">
            <a:solidFill>
              <a:srgbClr val="8A8A8A"/>
            </a:solidFill>
            <a:prstDash val="dash"/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6089904" y="4041648"/>
            <a:ext cx="5888736" cy="0"/>
          </a:xfrm>
          <a:prstGeom prst="line">
            <a:avLst/>
          </a:prstGeom>
          <a:ln w="22860">
            <a:solidFill>
              <a:srgbClr val="8A8A8A"/>
            </a:solidFill>
            <a:prstDash val="dash"/>
          </a:ln>
          <a:effectLst/>
        </p:spPr>
      </p:cxnSp>
      <p:sp>
        <p:nvSpPr>
          <p:cNvPr id="5" name="Oval 4"/>
          <p:cNvSpPr/>
          <p:nvPr/>
        </p:nvSpPr>
        <p:spPr>
          <a:xfrm>
            <a:off x="292608" y="237744"/>
            <a:ext cx="365760" cy="36576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7432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11111"/>
                </a:solidFill>
                <a:latin typeface="Times New Roman"/>
              </a:rPr>
              <a:t>Reading the task as skill demand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841248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907084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6384" y="972921"/>
            <a:ext cx="914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225296"/>
            <a:ext cx="566928" cy="50292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426464"/>
            <a:ext cx="566928" cy="50292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627632"/>
            <a:ext cx="566928" cy="50292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103120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Support Set 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47088" y="1417320"/>
            <a:ext cx="48463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783080" y="100584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40" b="1" i="0">
                <a:solidFill>
                  <a:srgbClr val="111111"/>
                </a:solidFill>
                <a:latin typeface="Times New Roman"/>
              </a:rPr>
              <a:t>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0008" y="827532"/>
            <a:ext cx="1188720" cy="105156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33395" y="699516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8648" y="608076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89250" y="1207008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17189" y="1207008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77947" y="1479499"/>
            <a:ext cx="332841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8" y="1915667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0">
                <a:solidFill>
                  <a:srgbClr val="1F1F1E"/>
                </a:solidFill>
                <a:latin typeface="Times New Roman"/>
              </a:rPr>
              <a:t>Student Model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11880" y="1353312"/>
            <a:ext cx="48463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4178808" y="1792224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178808" y="1645920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6" name="Connector 25"/>
          <p:cNvCxnSpPr/>
          <p:nvPr/>
        </p:nvCxnSpPr>
        <p:spPr>
          <a:xfrm>
            <a:off x="4178808" y="1499616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4178808" y="1353312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4178808" y="1810512"/>
            <a:ext cx="864108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29" name="Rectangle 28"/>
          <p:cNvSpPr/>
          <p:nvPr/>
        </p:nvSpPr>
        <p:spPr>
          <a:xfrm>
            <a:off x="4224528" y="1243584"/>
            <a:ext cx="155448" cy="566928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0268" y="1536192"/>
            <a:ext cx="155448" cy="274320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36008" y="1353312"/>
            <a:ext cx="155448" cy="457200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41748" y="1609344"/>
            <a:ext cx="155448" cy="201168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2084831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Gradient Features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487168"/>
            <a:ext cx="3520440" cy="512064"/>
          </a:xfrm>
          <a:prstGeom prst="roundRect">
            <a:avLst>
              <a:gd name="adj" fmla="val 18000"/>
            </a:avLst>
          </a:prstGeom>
          <a:solidFill>
            <a:srgbClr val="F0F5FB"/>
          </a:solidFill>
          <a:ln w="20320">
            <a:solidFill>
              <a:srgbClr val="4C72B0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070" b="1" i="0">
                <a:solidFill>
                  <a:srgbClr val="111111"/>
                </a:solidFill>
                <a:latin typeface="Times New Roman"/>
              </a:rPr>
              <a:t>min‖X − CD‖²  +  λ‖C‖₁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25968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sparse dictionary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3017520"/>
            <a:ext cx="0" cy="22860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37" name="Rounded Rectangle 36"/>
          <p:cNvSpPr/>
          <p:nvPr/>
        </p:nvSpPr>
        <p:spPr>
          <a:xfrm>
            <a:off x="566928" y="3310128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4C72B0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" y="3840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80" b="1" i="1">
                <a:solidFill>
                  <a:srgbClr val="111111"/>
                </a:solidFill>
                <a:latin typeface="Times New Roman"/>
              </a:rPr>
              <a:t>JOIN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25295" y="3310128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5F9EA0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3" y="3840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80" b="1" i="1">
                <a:solidFill>
                  <a:srgbClr val="111111"/>
                </a:solidFill>
                <a:latin typeface="Times New Roman"/>
              </a:rPr>
              <a:t>AGG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83664" y="3310128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7BA7D7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673352" y="3840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80" b="1" i="1">
                <a:solidFill>
                  <a:srgbClr val="111111"/>
                </a:solidFill>
                <a:latin typeface="Times New Roman"/>
              </a:rPr>
              <a:t>LOOP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42032" y="3310128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F2B98F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31720" y="3840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80" b="1" i="1">
                <a:solidFill>
                  <a:srgbClr val="111111"/>
                </a:solidFill>
                <a:latin typeface="Times New Roman"/>
              </a:rPr>
              <a:t>PLOT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0" y="3310128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E29A9A"/>
          </a:solidFill>
          <a:ln w="1778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90088" y="3840480"/>
            <a:ext cx="914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80" b="1" i="1">
                <a:solidFill>
                  <a:srgbClr val="111111"/>
                </a:solidFill>
                <a:latin typeface="Times New Roman"/>
              </a:rPr>
              <a:t>REGEX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11480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1">
                <a:solidFill>
                  <a:srgbClr val="111111"/>
                </a:solidFill>
                <a:latin typeface="Times New Roman"/>
              </a:rPr>
              <a:t>Capability Atoms (dictionary D)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977639" y="3566160"/>
            <a:ext cx="338329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49" name="Connector 48"/>
          <p:cNvCxnSpPr/>
          <p:nvPr/>
        </p:nvCxnSpPr>
        <p:spPr>
          <a:xfrm>
            <a:off x="4398264" y="3895344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0" name="Connector 49"/>
          <p:cNvCxnSpPr/>
          <p:nvPr/>
        </p:nvCxnSpPr>
        <p:spPr>
          <a:xfrm>
            <a:off x="4398264" y="3749040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1" name="Connector 50"/>
          <p:cNvCxnSpPr/>
          <p:nvPr/>
        </p:nvCxnSpPr>
        <p:spPr>
          <a:xfrm>
            <a:off x="4398264" y="3602736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2" name="Connector 51"/>
          <p:cNvCxnSpPr/>
          <p:nvPr/>
        </p:nvCxnSpPr>
        <p:spPr>
          <a:xfrm>
            <a:off x="4398264" y="3456432"/>
            <a:ext cx="86410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53" name="Connector 52"/>
          <p:cNvCxnSpPr/>
          <p:nvPr/>
        </p:nvCxnSpPr>
        <p:spPr>
          <a:xfrm>
            <a:off x="4398264" y="3913632"/>
            <a:ext cx="864108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54" name="Rectangle 53"/>
          <p:cNvSpPr/>
          <p:nvPr/>
        </p:nvSpPr>
        <p:spPr>
          <a:xfrm>
            <a:off x="4443984" y="3310128"/>
            <a:ext cx="155448" cy="603504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49724" y="3511296"/>
            <a:ext cx="155448" cy="402336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55464" y="3657600"/>
            <a:ext cx="155448" cy="256032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1204" y="3822192"/>
            <a:ext cx="155448" cy="91440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60520" y="4160520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1">
                <a:solidFill>
                  <a:srgbClr val="111111"/>
                </a:solidFill>
                <a:latin typeface="Times New Roman"/>
              </a:rPr>
              <a:t>Task Demand 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5800" y="4553712"/>
            <a:ext cx="3931920" cy="475488"/>
          </a:xfrm>
          <a:prstGeom prst="roundRect">
            <a:avLst>
              <a:gd name="adj" fmla="val 18000"/>
            </a:avLst>
          </a:prstGeom>
          <a:solidFill>
            <a:srgbClr val="FFF6DE"/>
          </a:solidFill>
          <a:ln w="20320">
            <a:solidFill>
              <a:srgbClr val="B88A2E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111111"/>
                </a:solidFill>
                <a:latin typeface="Times New Roman"/>
              </a:rPr>
              <a:t>per-skill token quota  =  w · b</a:t>
            </a:r>
          </a:p>
        </p:txBody>
      </p:sp>
      <p:sp>
        <p:nvSpPr>
          <p:cNvPr id="60" name="Oval 59"/>
          <p:cNvSpPr/>
          <p:nvPr/>
        </p:nvSpPr>
        <p:spPr>
          <a:xfrm>
            <a:off x="4800600" y="4892040"/>
            <a:ext cx="384048" cy="96012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800600" y="4782312"/>
            <a:ext cx="384048" cy="96012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800600" y="4672583"/>
            <a:ext cx="384048" cy="96012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65760" y="5257800"/>
            <a:ext cx="5349240" cy="1325880"/>
          </a:xfrm>
          <a:prstGeom prst="roundRect">
            <a:avLst>
              <a:gd name="adj" fmla="val 10000"/>
            </a:avLst>
          </a:prstGeom>
          <a:solidFill>
            <a:srgbClr val="F7F6F2"/>
          </a:solidFill>
          <a:ln w="16510">
            <a:solidFill>
              <a:srgbClr val="9A9A9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532180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90" b="1" i="1">
                <a:solidFill>
                  <a:srgbClr val="111111"/>
                </a:solidFill>
                <a:latin typeface="Times New Roman"/>
              </a:rPr>
              <a:t>Cross-modal bridge  (fit on paid pairs)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77240" y="6355080"/>
            <a:ext cx="658368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66" name="Rectangle 65"/>
          <p:cNvSpPr/>
          <p:nvPr/>
        </p:nvSpPr>
        <p:spPr>
          <a:xfrm>
            <a:off x="822960" y="6080760"/>
            <a:ext cx="155448" cy="274320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28700" y="5916168"/>
            <a:ext cx="155448" cy="438912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34440" y="6153912"/>
            <a:ext cx="155448" cy="201168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4008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40" b="1" i="1">
                <a:solidFill>
                  <a:srgbClr val="111111"/>
                </a:solidFill>
                <a:latin typeface="Times New Roman"/>
              </a:rPr>
              <a:t>Prompt 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645920" y="6126480"/>
            <a:ext cx="50292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71" name="Rounded Rectangle 70"/>
          <p:cNvSpPr/>
          <p:nvPr/>
        </p:nvSpPr>
        <p:spPr>
          <a:xfrm>
            <a:off x="2240280" y="5742432"/>
            <a:ext cx="71323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032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313432" y="5815584"/>
            <a:ext cx="158496" cy="158496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11552" y="5815584"/>
            <a:ext cx="158496" cy="158496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09672" y="5815584"/>
            <a:ext cx="158496" cy="158496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313432" y="6013704"/>
            <a:ext cx="158496" cy="158496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511552" y="6013704"/>
            <a:ext cx="158496" cy="158496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709672" y="6013704"/>
            <a:ext cx="158496" cy="158496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313432" y="6211824"/>
            <a:ext cx="158496" cy="158496"/>
          </a:xfrm>
          <a:prstGeom prst="rect">
            <a:avLst/>
          </a:prstGeom>
          <a:solidFill>
            <a:srgbClr val="F2B98F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511552" y="6211824"/>
            <a:ext cx="158496" cy="158496"/>
          </a:xfrm>
          <a:prstGeom prst="rect">
            <a:avLst/>
          </a:prstGeom>
          <a:solidFill>
            <a:srgbClr val="4C72B0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09672" y="6211824"/>
            <a:ext cx="158496" cy="158496"/>
          </a:xfrm>
          <a:prstGeom prst="rect">
            <a:avLst/>
          </a:prstGeom>
          <a:solidFill>
            <a:srgbClr val="9EC99A"/>
          </a:solidFill>
          <a:ln w="762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011680" y="645566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40" b="1" i="1">
                <a:solidFill>
                  <a:srgbClr val="111111"/>
                </a:solidFill>
                <a:latin typeface="Times New Roman"/>
              </a:rPr>
              <a:t>Ridge Map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108960" y="6126480"/>
            <a:ext cx="50292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3749040" y="6355080"/>
            <a:ext cx="658368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84" name="Rectangle 83"/>
          <p:cNvSpPr/>
          <p:nvPr/>
        </p:nvSpPr>
        <p:spPr>
          <a:xfrm>
            <a:off x="3794760" y="5852160"/>
            <a:ext cx="155448" cy="50292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000500" y="6126480"/>
            <a:ext cx="155448" cy="22860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06240" y="5971032"/>
            <a:ext cx="155448" cy="384048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20440" y="6400800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40" b="1" i="1">
                <a:solidFill>
                  <a:srgbClr val="111111"/>
                </a:solidFill>
                <a:latin typeface="Times New Roman"/>
              </a:rPr>
              <a:t>Predicted Skills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92040" y="5806440"/>
            <a:ext cx="868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80" b="1" i="1">
                <a:solidFill>
                  <a:srgbClr val="111111"/>
                </a:solidFill>
                <a:latin typeface="Times New Roman"/>
              </a:rPr>
              <a:t>legal before</a:t>
            </a:r>
          </a:p>
          <a:p>
            <a:pPr algn="ctr"/>
            <a:r>
              <a:rPr sz="1280" b="1" i="1">
                <a:solidFill>
                  <a:srgbClr val="111111"/>
                </a:solidFill>
                <a:latin typeface="Times New Roman"/>
              </a:rPr>
              <a:t>paying</a:t>
            </a:r>
          </a:p>
        </p:txBody>
      </p:sp>
      <p:sp>
        <p:nvSpPr>
          <p:cNvPr id="89" name="Oval 88"/>
          <p:cNvSpPr/>
          <p:nvPr/>
        </p:nvSpPr>
        <p:spPr>
          <a:xfrm>
            <a:off x="6172200" y="237744"/>
            <a:ext cx="365760" cy="36576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29400" y="27432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11111"/>
                </a:solidFill>
                <a:latin typeface="Times New Roman"/>
              </a:rPr>
              <a:t>Spending the budget where demand is unmet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309359" y="772668"/>
            <a:ext cx="1188720" cy="1051560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8A5A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892747" y="644652"/>
            <a:ext cx="21945" cy="128016"/>
          </a:xfrm>
          <a:prstGeom prst="rect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858000" y="553212"/>
            <a:ext cx="91440" cy="91440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648602" y="1152144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076541" y="1152144"/>
            <a:ext cx="82296" cy="82296"/>
          </a:xfrm>
          <a:prstGeom prst="ellipse">
            <a:avLst/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6737299" y="1424635"/>
            <a:ext cx="332841" cy="27432"/>
          </a:xfrm>
          <a:prstGeom prst="roundRect">
            <a:avLst>
              <a:gd name="adj" fmla="val 50000"/>
            </a:avLst>
          </a:prstGeom>
          <a:solidFill>
            <a:srgbClr val="8A5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989320" y="186080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0">
                <a:solidFill>
                  <a:srgbClr val="1F1F1E"/>
                </a:solidFill>
                <a:latin typeface="Times New Roman"/>
              </a:rPr>
              <a:t>Teacher API</a:t>
            </a:r>
          </a:p>
        </p:txBody>
      </p:sp>
      <p:sp>
        <p:nvSpPr>
          <p:cNvPr id="98" name="Oval 97"/>
          <p:cNvSpPr/>
          <p:nvPr/>
        </p:nvSpPr>
        <p:spPr>
          <a:xfrm>
            <a:off x="7589520" y="1188720"/>
            <a:ext cx="384048" cy="96012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589520" y="1078992"/>
            <a:ext cx="384048" cy="96012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589520" y="969264"/>
            <a:ext cx="384048" cy="96012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589520" y="859536"/>
            <a:ext cx="384048" cy="96012"/>
          </a:xfrm>
          <a:prstGeom prst="ellipse">
            <a:avLst/>
          </a:prstGeom>
          <a:solidFill>
            <a:srgbClr val="E8C56A"/>
          </a:solidFill>
          <a:ln w="13970">
            <a:solidFill>
              <a:srgbClr val="9A7B2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71231" y="13533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30" b="1" i="1">
                <a:solidFill>
                  <a:srgbClr val="111111"/>
                </a:solidFill>
                <a:latin typeface="Times New Roman"/>
              </a:rPr>
              <a:t>b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092440" y="1298448"/>
            <a:ext cx="41148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04" name="Rounded Rectangle 103"/>
          <p:cNvSpPr/>
          <p:nvPr/>
        </p:nvSpPr>
        <p:spPr>
          <a:xfrm>
            <a:off x="8577072" y="932688"/>
            <a:ext cx="7132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686800" y="1115568"/>
            <a:ext cx="475488" cy="457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686800" y="1298448"/>
            <a:ext cx="475488" cy="457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686800" y="1481328"/>
            <a:ext cx="475488" cy="457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366760" y="182880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candidate x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345168" y="1298448"/>
            <a:ext cx="36576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10" name="Connector 109"/>
          <p:cNvCxnSpPr/>
          <p:nvPr/>
        </p:nvCxnSpPr>
        <p:spPr>
          <a:xfrm>
            <a:off x="9784080" y="1645920"/>
            <a:ext cx="658368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11" name="Rectangle 110"/>
          <p:cNvSpPr/>
          <p:nvPr/>
        </p:nvSpPr>
        <p:spPr>
          <a:xfrm>
            <a:off x="9829800" y="1261872"/>
            <a:ext cx="155448" cy="384048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035540" y="1463040"/>
            <a:ext cx="155448" cy="182880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241280" y="1335024"/>
            <a:ext cx="155448" cy="310896"/>
          </a:xfrm>
          <a:prstGeom prst="rect">
            <a:avLst/>
          </a:prstGeom>
          <a:solidFill>
            <a:srgbClr val="9EC99A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601200" y="182880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ŝ(x) predicted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10716768" y="1298448"/>
            <a:ext cx="34747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16" name="Connector 115"/>
          <p:cNvCxnSpPr/>
          <p:nvPr/>
        </p:nvCxnSpPr>
        <p:spPr>
          <a:xfrm>
            <a:off x="11036807" y="1645920"/>
            <a:ext cx="658369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17" name="Rectangle 116"/>
          <p:cNvSpPr/>
          <p:nvPr/>
        </p:nvSpPr>
        <p:spPr>
          <a:xfrm>
            <a:off x="11082528" y="1143000"/>
            <a:ext cx="155448" cy="502920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1288267" y="1508760"/>
            <a:ext cx="155448" cy="137160"/>
          </a:xfrm>
          <a:prstGeom prst="rect">
            <a:avLst/>
          </a:prstGeom>
          <a:solidFill>
            <a:srgbClr val="C9C9C9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1494007" y="1371600"/>
            <a:ext cx="155448" cy="274320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0835640" y="18288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Times New Roman"/>
              </a:rPr>
              <a:t>r remaining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675120" y="2240280"/>
            <a:ext cx="3931920" cy="566928"/>
          </a:xfrm>
          <a:prstGeom prst="roundRect">
            <a:avLst>
              <a:gd name="adj" fmla="val 18000"/>
            </a:avLst>
          </a:prstGeom>
          <a:solidFill>
            <a:srgbClr val="FFF6DE"/>
          </a:solidFill>
          <a:ln w="27940">
            <a:solidFill>
              <a:srgbClr val="B88A2E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111111"/>
                </a:solidFill>
                <a:latin typeface="Times New Roman"/>
              </a:rPr>
              <a:t>buy  argmax  u(x) = Σ min(r, ŝ(x)) ∕ t̂</a:t>
            </a:r>
          </a:p>
        </p:txBody>
      </p:sp>
      <p:cxnSp>
        <p:nvCxnSpPr>
          <p:cNvPr id="122" name="Connector 121"/>
          <p:cNvCxnSpPr/>
          <p:nvPr/>
        </p:nvCxnSpPr>
        <p:spPr>
          <a:xfrm flipH="1">
            <a:off x="6355080" y="2523744"/>
            <a:ext cx="320040" cy="0"/>
          </a:xfrm>
          <a:prstGeom prst="line">
            <a:avLst/>
          </a:prstGeom>
          <a:ln w="27940">
            <a:solidFill>
              <a:srgbClr val="111111"/>
            </a:solidFill>
          </a:ln>
          <a:effectLst/>
        </p:spPr>
      </p:cxnSp>
      <p:cxnSp>
        <p:nvCxnSpPr>
          <p:cNvPr id="123" name="Connector 122"/>
          <p:cNvCxnSpPr/>
          <p:nvPr/>
        </p:nvCxnSpPr>
        <p:spPr>
          <a:xfrm flipV="1">
            <a:off x="6355080" y="1600200"/>
            <a:ext cx="0" cy="923544"/>
          </a:xfrm>
          <a:prstGeom prst="line">
            <a:avLst/>
          </a:prstGeom>
          <a:ln w="27940">
            <a:solidFill>
              <a:srgbClr val="111111"/>
            </a:solidFill>
          </a:ln>
          <a:effectLst/>
        </p:spPr>
      </p:cxnSp>
      <p:cxnSp>
        <p:nvCxnSpPr>
          <p:cNvPr id="124" name="Connector 123"/>
          <p:cNvCxnSpPr/>
          <p:nvPr/>
        </p:nvCxnSpPr>
        <p:spPr>
          <a:xfrm flipV="1">
            <a:off x="6355080" y="1481328"/>
            <a:ext cx="91440" cy="118872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25" name="TextBox 124"/>
          <p:cNvSpPr txBox="1"/>
          <p:nvPr/>
        </p:nvSpPr>
        <p:spPr>
          <a:xfrm>
            <a:off x="10698480" y="2304288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each round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309360" y="2926080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11111"/>
                </a:solidFill>
                <a:latin typeface="Times New Roman"/>
              </a:rPr>
              <a:t>returns → exec ✓ + gate</a:t>
            </a:r>
          </a:p>
        </p:txBody>
      </p:sp>
      <p:sp>
        <p:nvSpPr>
          <p:cNvPr id="127" name="Oval 126"/>
          <p:cNvSpPr/>
          <p:nvPr/>
        </p:nvSpPr>
        <p:spPr>
          <a:xfrm>
            <a:off x="9464040" y="2871216"/>
            <a:ext cx="402336" cy="402336"/>
          </a:xfrm>
          <a:prstGeom prst="ellipse">
            <a:avLst/>
          </a:prstGeom>
          <a:solidFill>
            <a:srgbClr val="9EC99A"/>
          </a:solidFill>
          <a:ln w="1651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83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28" name="Oval 127"/>
          <p:cNvSpPr/>
          <p:nvPr/>
        </p:nvSpPr>
        <p:spPr>
          <a:xfrm>
            <a:off x="9966960" y="2871216"/>
            <a:ext cx="402336" cy="402336"/>
          </a:xfrm>
          <a:prstGeom prst="ellipse">
            <a:avLst/>
          </a:prstGeom>
          <a:solidFill>
            <a:srgbClr val="E29A9A"/>
          </a:solidFill>
          <a:ln w="1651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830" b="1" i="0">
                <a:solidFill>
                  <a:srgbClr val="FFFFFF"/>
                </a:solidFill>
                <a:latin typeface="Times New Roman"/>
              </a:rPr>
              <a:t>✗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469880" y="2907792"/>
            <a:ext cx="16459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90" b="1" i="0">
                <a:solidFill>
                  <a:srgbClr val="111111"/>
                </a:solidFill>
                <a:latin typeface="Times New Roman"/>
              </a:rPr>
              <a:t>wasted ≤ 3%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6903720" y="3822192"/>
            <a:ext cx="65836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1" name="Connector 130"/>
          <p:cNvCxnSpPr/>
          <p:nvPr/>
        </p:nvCxnSpPr>
        <p:spPr>
          <a:xfrm>
            <a:off x="6903720" y="3675888"/>
            <a:ext cx="65836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2" name="Connector 131"/>
          <p:cNvCxnSpPr/>
          <p:nvPr/>
        </p:nvCxnSpPr>
        <p:spPr>
          <a:xfrm>
            <a:off x="6903720" y="3529584"/>
            <a:ext cx="65836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3" name="Connector 132"/>
          <p:cNvCxnSpPr/>
          <p:nvPr/>
        </p:nvCxnSpPr>
        <p:spPr>
          <a:xfrm>
            <a:off x="6903720" y="3383280"/>
            <a:ext cx="658368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34" name="Connector 133"/>
          <p:cNvCxnSpPr/>
          <p:nvPr/>
        </p:nvCxnSpPr>
        <p:spPr>
          <a:xfrm>
            <a:off x="6903720" y="3840480"/>
            <a:ext cx="658368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35" name="Rectangle 134"/>
          <p:cNvSpPr/>
          <p:nvPr/>
        </p:nvSpPr>
        <p:spPr>
          <a:xfrm>
            <a:off x="6949440" y="3337560"/>
            <a:ext cx="155448" cy="502920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155179" y="3511296"/>
            <a:ext cx="155448" cy="329184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7360919" y="3639312"/>
            <a:ext cx="155448" cy="201168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7955279" y="3611880"/>
            <a:ext cx="548641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cxnSp>
        <p:nvCxnSpPr>
          <p:cNvPr id="139" name="Connector 138"/>
          <p:cNvCxnSpPr/>
          <p:nvPr/>
        </p:nvCxnSpPr>
        <p:spPr>
          <a:xfrm>
            <a:off x="8595359" y="3822192"/>
            <a:ext cx="65836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0" name="Connector 139"/>
          <p:cNvCxnSpPr/>
          <p:nvPr/>
        </p:nvCxnSpPr>
        <p:spPr>
          <a:xfrm>
            <a:off x="8595359" y="3675888"/>
            <a:ext cx="65836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1" name="Connector 140"/>
          <p:cNvCxnSpPr/>
          <p:nvPr/>
        </p:nvCxnSpPr>
        <p:spPr>
          <a:xfrm>
            <a:off x="8595359" y="3529584"/>
            <a:ext cx="65836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2" name="Connector 141"/>
          <p:cNvCxnSpPr/>
          <p:nvPr/>
        </p:nvCxnSpPr>
        <p:spPr>
          <a:xfrm>
            <a:off x="8595359" y="3383280"/>
            <a:ext cx="658369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43" name="Connector 142"/>
          <p:cNvCxnSpPr/>
          <p:nvPr/>
        </p:nvCxnSpPr>
        <p:spPr>
          <a:xfrm>
            <a:off x="8595359" y="3840480"/>
            <a:ext cx="658369" cy="0"/>
          </a:xfrm>
          <a:prstGeom prst="line">
            <a:avLst/>
          </a:prstGeom>
          <a:ln w="20320">
            <a:solidFill>
              <a:srgbClr val="111111"/>
            </a:solidFill>
          </a:ln>
          <a:effectLst/>
        </p:spPr>
      </p:cxnSp>
      <p:sp>
        <p:nvSpPr>
          <p:cNvPr id="144" name="Rectangle 143"/>
          <p:cNvSpPr/>
          <p:nvPr/>
        </p:nvSpPr>
        <p:spPr>
          <a:xfrm>
            <a:off x="8641080" y="3712464"/>
            <a:ext cx="155448" cy="128016"/>
          </a:xfrm>
          <a:prstGeom prst="rect">
            <a:avLst/>
          </a:prstGeom>
          <a:solidFill>
            <a:srgbClr val="4C72B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846819" y="3758184"/>
            <a:ext cx="155448" cy="82296"/>
          </a:xfrm>
          <a:prstGeom prst="rect">
            <a:avLst/>
          </a:prstGeom>
          <a:solidFill>
            <a:srgbClr val="5F9EA0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052559" y="3794760"/>
            <a:ext cx="155448" cy="45720"/>
          </a:xfrm>
          <a:prstGeom prst="rect">
            <a:avLst/>
          </a:prstGeom>
          <a:solidFill>
            <a:srgbClr val="7BA7D7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464040" y="352958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quota drains as verified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464040" y="3749039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1">
                <a:solidFill>
                  <a:srgbClr val="111111"/>
                </a:solidFill>
                <a:latin typeface="Times New Roman"/>
              </a:rPr>
              <a:t>supply arrives</a:t>
            </a:r>
          </a:p>
        </p:txBody>
      </p:sp>
      <p:sp>
        <p:nvSpPr>
          <p:cNvPr id="149" name="Oval 148"/>
          <p:cNvSpPr/>
          <p:nvPr/>
        </p:nvSpPr>
        <p:spPr>
          <a:xfrm>
            <a:off x="6172200" y="4169663"/>
            <a:ext cx="365760" cy="36576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601968" y="4224528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1">
                <a:solidFill>
                  <a:srgbClr val="111111"/>
                </a:solidFill>
                <a:latin typeface="Times New Roman"/>
              </a:rPr>
              <a:t>Weighted distillation</a:t>
            </a:r>
          </a:p>
        </p:txBody>
      </p:sp>
      <p:sp>
        <p:nvSpPr>
          <p:cNvPr id="151" name="Oval 150"/>
          <p:cNvSpPr/>
          <p:nvPr/>
        </p:nvSpPr>
        <p:spPr>
          <a:xfrm>
            <a:off x="9528048" y="4169663"/>
            <a:ext cx="365760" cy="36576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195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985248" y="422452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1">
                <a:solidFill>
                  <a:srgbClr val="111111"/>
                </a:solidFill>
                <a:latin typeface="Times New Roman"/>
              </a:rPr>
              <a:t>Certified deployment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355080" y="4709160"/>
            <a:ext cx="694944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428232" y="4809744"/>
            <a:ext cx="402336" cy="457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150608" y="4636008"/>
            <a:ext cx="164592" cy="402336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ounded Rectangle 155"/>
          <p:cNvSpPr/>
          <p:nvPr/>
        </p:nvSpPr>
        <p:spPr>
          <a:xfrm>
            <a:off x="6355080" y="5166360"/>
            <a:ext cx="694944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28232" y="5266944"/>
            <a:ext cx="402336" cy="457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150608" y="5294376"/>
            <a:ext cx="164592" cy="201168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ounded Rectangle 158"/>
          <p:cNvSpPr/>
          <p:nvPr/>
        </p:nvSpPr>
        <p:spPr>
          <a:xfrm>
            <a:off x="6355080" y="5623560"/>
            <a:ext cx="694944" cy="365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428232" y="5724144"/>
            <a:ext cx="402336" cy="45720"/>
          </a:xfrm>
          <a:prstGeom prst="rect">
            <a:avLst/>
          </a:prstGeom>
          <a:solidFill>
            <a:srgbClr val="C9C9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150608" y="5623560"/>
            <a:ext cx="164592" cy="329184"/>
          </a:xfrm>
          <a:prstGeom prst="rect">
            <a:avLst/>
          </a:prstGeom>
          <a:solidFill>
            <a:srgbClr val="F2B98F"/>
          </a:solidFill>
          <a:ln w="13970">
            <a:solidFill>
              <a:srgbClr val="44444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26480" y="614476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1">
                <a:solidFill>
                  <a:srgbClr val="111111"/>
                </a:solidFill>
                <a:latin typeface="Times New Roman"/>
              </a:rPr>
              <a:t>loss ∝ demand served</a:t>
            </a:r>
          </a:p>
        </p:txBody>
      </p:sp>
      <p:cxnSp>
        <p:nvCxnSpPr>
          <p:cNvPr id="163" name="Connector 162"/>
          <p:cNvCxnSpPr/>
          <p:nvPr/>
        </p:nvCxnSpPr>
        <p:spPr>
          <a:xfrm>
            <a:off x="7452360" y="5257800"/>
            <a:ext cx="411480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  <p:sp>
        <p:nvSpPr>
          <p:cNvPr id="164" name="Rounded Rectangle 163"/>
          <p:cNvSpPr/>
          <p:nvPr/>
        </p:nvSpPr>
        <p:spPr>
          <a:xfrm>
            <a:off x="7772400" y="4764024"/>
            <a:ext cx="1005840" cy="896112"/>
          </a:xfrm>
          <a:prstGeom prst="roundRect">
            <a:avLst>
              <a:gd name="adj" fmla="val 25000"/>
            </a:avLst>
          </a:prstGeom>
          <a:solidFill>
            <a:srgbClr val="EEF2F9"/>
          </a:solidFill>
          <a:ln w="20320">
            <a:solidFill>
              <a:srgbClr val="4C72B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264347" y="4636008"/>
            <a:ext cx="21945" cy="128016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229600" y="4544568"/>
            <a:ext cx="91440" cy="9144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8053120" y="5081320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8415223" y="5081320"/>
            <a:ext cx="82296" cy="82296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8134502" y="5319613"/>
            <a:ext cx="281635" cy="27432"/>
          </a:xfrm>
          <a:prstGeom prst="roundRect">
            <a:avLst>
              <a:gd name="adj" fmla="val 50000"/>
            </a:avLst>
          </a:prstGeom>
          <a:solidFill>
            <a:srgbClr val="4C72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452360" y="569671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60" b="1" i="0">
                <a:solidFill>
                  <a:srgbClr val="1F1F1E"/>
                </a:solidFill>
                <a:latin typeface="Times New Roman"/>
              </a:rPr>
              <a:t>Student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7818120" y="6419088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2" name="Connector 171"/>
          <p:cNvCxnSpPr/>
          <p:nvPr/>
        </p:nvCxnSpPr>
        <p:spPr>
          <a:xfrm>
            <a:off x="7818120" y="6272783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3" name="Connector 172"/>
          <p:cNvCxnSpPr/>
          <p:nvPr/>
        </p:nvCxnSpPr>
        <p:spPr>
          <a:xfrm>
            <a:off x="7818120" y="6126479"/>
            <a:ext cx="1417320" cy="0"/>
          </a:xfrm>
          <a:prstGeom prst="line">
            <a:avLst/>
          </a:prstGeom>
          <a:ln w="11430">
            <a:solidFill>
              <a:srgbClr val="E0E0E0"/>
            </a:solidFill>
          </a:ln>
          <a:effectLst/>
        </p:spPr>
      </p:cxnSp>
      <p:cxnSp>
        <p:nvCxnSpPr>
          <p:cNvPr id="174" name="Connector 173"/>
          <p:cNvCxnSpPr/>
          <p:nvPr/>
        </p:nvCxnSpPr>
        <p:spPr>
          <a:xfrm flipV="1">
            <a:off x="7845552" y="6126480"/>
            <a:ext cx="292608" cy="228600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5" name="Connector 174"/>
          <p:cNvCxnSpPr/>
          <p:nvPr/>
        </p:nvCxnSpPr>
        <p:spPr>
          <a:xfrm flipV="1">
            <a:off x="8138160" y="5925312"/>
            <a:ext cx="320040" cy="201168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6" name="Connector 175"/>
          <p:cNvCxnSpPr/>
          <p:nvPr/>
        </p:nvCxnSpPr>
        <p:spPr>
          <a:xfrm flipV="1">
            <a:off x="8458200" y="5870448"/>
            <a:ext cx="274320" cy="54864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cxnSp>
        <p:nvCxnSpPr>
          <p:cNvPr id="177" name="Connector 176"/>
          <p:cNvCxnSpPr/>
          <p:nvPr/>
        </p:nvCxnSpPr>
        <p:spPr>
          <a:xfrm>
            <a:off x="8732520" y="5870448"/>
            <a:ext cx="274320" cy="118872"/>
          </a:xfrm>
          <a:prstGeom prst="line">
            <a:avLst/>
          </a:prstGeom>
          <a:ln w="33020">
            <a:solidFill>
              <a:srgbClr val="4C72B0"/>
            </a:solidFill>
          </a:ln>
          <a:effectLst/>
        </p:spPr>
      </p:cxnSp>
      <p:sp>
        <p:nvSpPr>
          <p:cNvPr id="178" name="Oval 177"/>
          <p:cNvSpPr/>
          <p:nvPr/>
        </p:nvSpPr>
        <p:spPr>
          <a:xfrm>
            <a:off x="8659368" y="5797296"/>
            <a:ext cx="155448" cy="155448"/>
          </a:xfrm>
          <a:prstGeom prst="ellipse">
            <a:avLst/>
          </a:prstGeom>
          <a:solidFill>
            <a:srgbClr val="3E7A3A"/>
          </a:solidFill>
          <a:ln w="1524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6455664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40" b="1" i="1">
                <a:solidFill>
                  <a:srgbClr val="111111"/>
                </a:solidFill>
                <a:latin typeface="Times New Roman"/>
              </a:rPr>
              <a:t>probe keeps best step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9646920" y="4617720"/>
            <a:ext cx="2240280" cy="1005840"/>
          </a:xfrm>
          <a:prstGeom prst="roundRect">
            <a:avLst>
              <a:gd name="adj" fmla="val 10000"/>
            </a:avLst>
          </a:prstGeom>
          <a:solidFill>
            <a:srgbClr val="ECF6EB"/>
          </a:solidFill>
          <a:ln w="27940">
            <a:solidFill>
              <a:srgbClr val="3E7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9802368" y="4773168"/>
            <a:ext cx="603504" cy="603504"/>
          </a:xfrm>
          <a:prstGeom prst="ellipse">
            <a:avLst/>
          </a:prstGeom>
          <a:solidFill>
            <a:srgbClr val="3E7A3A"/>
          </a:solidFill>
          <a:ln w="20320">
            <a:solidFill>
              <a:srgbClr val="FFFFFF"/>
            </a:solidFill>
          </a:ln>
          <a:effectLst/>
        </p:spPr>
        <p:txBody>
          <a:bodyPr rtlCol="0" anchor="ctr" lIns="9000" rIns="9000" tIns="4500" bIns="4500" wrap="square"/>
          <a:lstStyle/>
          <a:p>
            <a:pPr algn="ctr"/>
            <a:r>
              <a:rPr sz="2200" b="1" i="0">
                <a:solidFill>
                  <a:srgbClr val="FFFFFF"/>
                </a:solidFill>
                <a:latin typeface="Times New Roman"/>
              </a:rPr>
              <a:t>✓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497312" y="4773168"/>
            <a:ext cx="13258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90" b="1" i="0">
                <a:solidFill>
                  <a:srgbClr val="111111"/>
                </a:solidFill>
                <a:latin typeface="Times New Roman"/>
              </a:rPr>
              <a:t>coverage ≥ 1−α</a:t>
            </a:r>
          </a:p>
          <a:p>
            <a:pPr algn="l"/>
            <a:r>
              <a:rPr sz="1590" b="1" i="0">
                <a:solidFill>
                  <a:srgbClr val="111111"/>
                </a:solidFill>
                <a:latin typeface="Times New Roman"/>
              </a:rPr>
              <a:t>leakage ≤ ε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9784080" y="5669280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90" b="1" i="1">
                <a:solidFill>
                  <a:srgbClr val="111111"/>
                </a:solidFill>
                <a:latin typeface="Times New Roman"/>
              </a:rPr>
              <a:t>Certificate</a:t>
            </a:r>
          </a:p>
        </p:txBody>
      </p:sp>
      <p:sp>
        <p:nvSpPr>
          <p:cNvPr id="184" name="Diamond 183"/>
          <p:cNvSpPr/>
          <p:nvPr/>
        </p:nvSpPr>
        <p:spPr>
          <a:xfrm>
            <a:off x="9829800" y="5989320"/>
            <a:ext cx="457200" cy="457200"/>
          </a:xfrm>
          <a:prstGeom prst="diamond">
            <a:avLst/>
          </a:prstGeom>
          <a:solidFill>
            <a:srgbClr val="DFE5EF"/>
          </a:solidFill>
          <a:ln w="17780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10378440" y="5961888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60" b="1" i="0">
                <a:solidFill>
                  <a:srgbClr val="3E7A3A"/>
                </a:solidFill>
                <a:latin typeface="Times New Roman"/>
              </a:rPr>
              <a:t>in → student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0378440" y="62179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60" b="1" i="0">
                <a:solidFill>
                  <a:srgbClr val="8A5AA8"/>
                </a:solidFill>
                <a:latin typeface="Times New Roman"/>
              </a:rPr>
              <a:t>out → teacher</a:t>
            </a:r>
          </a:p>
        </p:txBody>
      </p:sp>
      <p:cxnSp>
        <p:nvCxnSpPr>
          <p:cNvPr id="187" name="Connector 186"/>
          <p:cNvCxnSpPr/>
          <p:nvPr/>
        </p:nvCxnSpPr>
        <p:spPr>
          <a:xfrm>
            <a:off x="9326880" y="6217920"/>
            <a:ext cx="438912" cy="0"/>
          </a:xfrm>
          <a:prstGeom prst="line">
            <a:avLst/>
          </a:prstGeom>
          <a:ln w="33020">
            <a:solidFill>
              <a:srgbClr val="111111"/>
            </a:solidFill>
            <a:tailEnd type="triangle" w="med" len="med"/>
          </a:ln>
          <a:effectLst/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