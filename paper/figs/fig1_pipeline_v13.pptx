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9728" y="91440"/>
            <a:ext cx="11969496" cy="66568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2860">
            <a:solidFill>
              <a:srgbClr val="77777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989320" y="201168"/>
            <a:ext cx="0" cy="6437376"/>
          </a:xfrm>
          <a:prstGeom prst="line">
            <a:avLst/>
          </a:prstGeom>
          <a:ln w="22860">
            <a:solidFill>
              <a:srgbClr val="8A8A8A"/>
            </a:solidFill>
            <a:prstDash val="dash"/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6089904" y="4041648"/>
            <a:ext cx="5888736" cy="0"/>
          </a:xfrm>
          <a:prstGeom prst="line">
            <a:avLst/>
          </a:prstGeom>
          <a:ln w="22860">
            <a:solidFill>
              <a:srgbClr val="8A8A8A"/>
            </a:solidFill>
            <a:prstDash val="dash"/>
          </a:ln>
          <a:effectLst/>
        </p:spPr>
      </p:cxnSp>
      <p:sp>
        <p:nvSpPr>
          <p:cNvPr id="5" name="Oval 4"/>
          <p:cNvSpPr/>
          <p:nvPr/>
        </p:nvSpPr>
        <p:spPr>
          <a:xfrm>
            <a:off x="292608" y="237744"/>
            <a:ext cx="365760" cy="365760"/>
          </a:xfrm>
          <a:prstGeom prst="ellipse">
            <a:avLst/>
          </a:prstGeom>
          <a:solidFill>
            <a:srgbClr val="111111"/>
          </a:solidFill>
          <a:ln>
            <a:noFill/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74320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1">
                <a:solidFill>
                  <a:srgbClr val="111111"/>
                </a:solidFill>
                <a:latin typeface="Times New Roman"/>
              </a:rPr>
              <a:t>Reading the task as skill demand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841248"/>
            <a:ext cx="91440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" y="907084"/>
            <a:ext cx="91440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6384" y="972921"/>
            <a:ext cx="91440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1225296"/>
            <a:ext cx="566928" cy="50292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1426464"/>
            <a:ext cx="566928" cy="50292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1627632"/>
            <a:ext cx="566928" cy="50292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2084831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1">
                <a:solidFill>
                  <a:srgbClr val="111111"/>
                </a:solidFill>
                <a:latin typeface="Times New Roman"/>
              </a:rPr>
              <a:t>Support Set S (k queries)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847088" y="1417320"/>
            <a:ext cx="484632" cy="0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  <p:sp>
        <p:nvSpPr>
          <p:cNvPr id="15" name="TextBox 14"/>
          <p:cNvSpPr txBox="1"/>
          <p:nvPr/>
        </p:nvSpPr>
        <p:spPr>
          <a:xfrm>
            <a:off x="1783080" y="100584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111111"/>
                </a:solidFill>
                <a:latin typeface="Times New Roman"/>
              </a:rPr>
              <a:t>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50008" y="827532"/>
            <a:ext cx="1188720" cy="1051560"/>
          </a:xfrm>
          <a:prstGeom prst="roundRect">
            <a:avLst>
              <a:gd name="adj" fmla="val 25000"/>
            </a:avLst>
          </a:prstGeom>
          <a:solidFill>
            <a:srgbClr val="EEF2F9"/>
          </a:solidFill>
          <a:ln w="20320">
            <a:solidFill>
              <a:srgbClr val="4C72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33395" y="699516"/>
            <a:ext cx="21945" cy="12801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98648" y="608076"/>
            <a:ext cx="91440" cy="91440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689250" y="1207008"/>
            <a:ext cx="82296" cy="82296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117189" y="1207008"/>
            <a:ext cx="82296" cy="82296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777947" y="1479499"/>
            <a:ext cx="332841" cy="27432"/>
          </a:xfrm>
          <a:prstGeom prst="roundRect">
            <a:avLst>
              <a:gd name="adj" fmla="val 50000"/>
            </a:avLst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29968" y="1915667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F1F1E"/>
                </a:solidFill>
                <a:latin typeface="Times New Roman"/>
              </a:rPr>
              <a:t>Student Model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611880" y="1353312"/>
            <a:ext cx="484632" cy="0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4178808" y="1792224"/>
            <a:ext cx="864108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4178808" y="1645920"/>
            <a:ext cx="864108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4178808" y="1499616"/>
            <a:ext cx="864108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4178808" y="1353312"/>
            <a:ext cx="864108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4178808" y="1810512"/>
            <a:ext cx="864108" cy="0"/>
          </a:xfrm>
          <a:prstGeom prst="line">
            <a:avLst/>
          </a:prstGeom>
          <a:ln w="20320">
            <a:solidFill>
              <a:srgbClr val="111111"/>
            </a:solidFill>
          </a:ln>
          <a:effectLst/>
        </p:spPr>
      </p:cxnSp>
      <p:sp>
        <p:nvSpPr>
          <p:cNvPr id="29" name="Rectangle 28"/>
          <p:cNvSpPr/>
          <p:nvPr/>
        </p:nvSpPr>
        <p:spPr>
          <a:xfrm>
            <a:off x="4224528" y="1243584"/>
            <a:ext cx="155448" cy="566928"/>
          </a:xfrm>
          <a:prstGeom prst="rect">
            <a:avLst/>
          </a:prstGeom>
          <a:solidFill>
            <a:srgbClr val="F2B98F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30268" y="1536192"/>
            <a:ext cx="155448" cy="274320"/>
          </a:xfrm>
          <a:prstGeom prst="rect">
            <a:avLst/>
          </a:prstGeom>
          <a:solidFill>
            <a:srgbClr val="F2B98F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636008" y="1353312"/>
            <a:ext cx="155448" cy="457200"/>
          </a:xfrm>
          <a:prstGeom prst="rect">
            <a:avLst/>
          </a:prstGeom>
          <a:solidFill>
            <a:srgbClr val="F2B98F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841748" y="1609344"/>
            <a:ext cx="155448" cy="201168"/>
          </a:xfrm>
          <a:prstGeom prst="rect">
            <a:avLst/>
          </a:prstGeom>
          <a:solidFill>
            <a:srgbClr val="F2B98F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31920" y="2084831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1">
                <a:solidFill>
                  <a:srgbClr val="111111"/>
                </a:solidFill>
                <a:latin typeface="Times New Roman"/>
              </a:rPr>
              <a:t>Gradient Features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2487168"/>
            <a:ext cx="3520440" cy="512064"/>
          </a:xfrm>
          <a:prstGeom prst="roundRect">
            <a:avLst>
              <a:gd name="adj" fmla="val 18000"/>
            </a:avLst>
          </a:prstGeom>
          <a:solidFill>
            <a:srgbClr val="F0F5FB"/>
          </a:solidFill>
          <a:ln w="20320">
            <a:solidFill>
              <a:srgbClr val="4C72B0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700" b="1" i="0">
                <a:solidFill>
                  <a:srgbClr val="111111"/>
                </a:solidFill>
                <a:latin typeface="Times New Roman"/>
              </a:rPr>
              <a:t>min‖X − CD‖²  +  λ‖C‖₁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23360" y="2596896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1">
                <a:solidFill>
                  <a:srgbClr val="111111"/>
                </a:solidFill>
                <a:latin typeface="Times New Roman"/>
              </a:rPr>
              <a:t>sparse dictionary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2148840" y="3017520"/>
            <a:ext cx="0" cy="228600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  <p:sp>
        <p:nvSpPr>
          <p:cNvPr id="37" name="Rounded Rectangle 36"/>
          <p:cNvSpPr/>
          <p:nvPr/>
        </p:nvSpPr>
        <p:spPr>
          <a:xfrm>
            <a:off x="566928" y="3310128"/>
            <a:ext cx="493776" cy="493776"/>
          </a:xfrm>
          <a:prstGeom prst="roundRect">
            <a:avLst>
              <a:gd name="adj" fmla="val 18000"/>
            </a:avLst>
          </a:prstGeom>
          <a:solidFill>
            <a:srgbClr val="4C72B0"/>
          </a:solidFill>
          <a:ln w="1778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6616" y="3840480"/>
            <a:ext cx="914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1">
                <a:solidFill>
                  <a:srgbClr val="111111"/>
                </a:solidFill>
                <a:latin typeface="Times New Roman"/>
              </a:rPr>
              <a:t>JOIN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225295" y="3310128"/>
            <a:ext cx="493776" cy="493776"/>
          </a:xfrm>
          <a:prstGeom prst="roundRect">
            <a:avLst>
              <a:gd name="adj" fmla="val 18000"/>
            </a:avLst>
          </a:prstGeom>
          <a:solidFill>
            <a:srgbClr val="5F9EA0"/>
          </a:solidFill>
          <a:ln w="1778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4983" y="3840480"/>
            <a:ext cx="914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1">
                <a:solidFill>
                  <a:srgbClr val="111111"/>
                </a:solidFill>
                <a:latin typeface="Times New Roman"/>
              </a:rPr>
              <a:t>AGG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883664" y="3310128"/>
            <a:ext cx="493776" cy="493776"/>
          </a:xfrm>
          <a:prstGeom prst="roundRect">
            <a:avLst>
              <a:gd name="adj" fmla="val 18000"/>
            </a:avLst>
          </a:prstGeom>
          <a:solidFill>
            <a:srgbClr val="7BA7D7"/>
          </a:solidFill>
          <a:ln w="1778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73352" y="3840480"/>
            <a:ext cx="914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1">
                <a:solidFill>
                  <a:srgbClr val="111111"/>
                </a:solidFill>
                <a:latin typeface="Times New Roman"/>
              </a:rPr>
              <a:t>LOOP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542032" y="3310128"/>
            <a:ext cx="493776" cy="493776"/>
          </a:xfrm>
          <a:prstGeom prst="roundRect">
            <a:avLst>
              <a:gd name="adj" fmla="val 18000"/>
            </a:avLst>
          </a:prstGeom>
          <a:solidFill>
            <a:srgbClr val="F2B98F"/>
          </a:solidFill>
          <a:ln w="1778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331720" y="3840480"/>
            <a:ext cx="914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1">
                <a:solidFill>
                  <a:srgbClr val="111111"/>
                </a:solidFill>
                <a:latin typeface="Times New Roman"/>
              </a:rPr>
              <a:t>PLOT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00400" y="3310128"/>
            <a:ext cx="493776" cy="493776"/>
          </a:xfrm>
          <a:prstGeom prst="roundRect">
            <a:avLst>
              <a:gd name="adj" fmla="val 18000"/>
            </a:avLst>
          </a:prstGeom>
          <a:solidFill>
            <a:srgbClr val="E29A9A"/>
          </a:solidFill>
          <a:ln w="1778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990088" y="3840480"/>
            <a:ext cx="914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1">
                <a:solidFill>
                  <a:srgbClr val="111111"/>
                </a:solidFill>
                <a:latin typeface="Times New Roman"/>
              </a:rPr>
              <a:t>REGEX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411480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1">
                <a:solidFill>
                  <a:srgbClr val="111111"/>
                </a:solidFill>
                <a:latin typeface="Times New Roman"/>
              </a:rPr>
              <a:t>Capability Atoms (dictionary D)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977639" y="3566160"/>
            <a:ext cx="338329" cy="0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4398264" y="3895344"/>
            <a:ext cx="864108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>
            <a:off x="4398264" y="3749040"/>
            <a:ext cx="864108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51" name="Connector 50"/>
          <p:cNvCxnSpPr/>
          <p:nvPr/>
        </p:nvCxnSpPr>
        <p:spPr>
          <a:xfrm>
            <a:off x="4398264" y="3602736"/>
            <a:ext cx="864108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>
            <a:off x="4398264" y="3456432"/>
            <a:ext cx="864108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>
            <a:off x="4398264" y="3913632"/>
            <a:ext cx="864108" cy="0"/>
          </a:xfrm>
          <a:prstGeom prst="line">
            <a:avLst/>
          </a:prstGeom>
          <a:ln w="20320">
            <a:solidFill>
              <a:srgbClr val="111111"/>
            </a:solidFill>
          </a:ln>
          <a:effectLst/>
        </p:spPr>
      </p:cxnSp>
      <p:sp>
        <p:nvSpPr>
          <p:cNvPr id="54" name="Rectangle 53"/>
          <p:cNvSpPr/>
          <p:nvPr/>
        </p:nvSpPr>
        <p:spPr>
          <a:xfrm>
            <a:off x="4443984" y="3310128"/>
            <a:ext cx="155448" cy="603504"/>
          </a:xfrm>
          <a:prstGeom prst="rect">
            <a:avLst/>
          </a:prstGeom>
          <a:solidFill>
            <a:srgbClr val="4C72B0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649724" y="3511296"/>
            <a:ext cx="155448" cy="402336"/>
          </a:xfrm>
          <a:prstGeom prst="rect">
            <a:avLst/>
          </a:prstGeom>
          <a:solidFill>
            <a:srgbClr val="5F9EA0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855464" y="3657600"/>
            <a:ext cx="155448" cy="256032"/>
          </a:xfrm>
          <a:prstGeom prst="rect">
            <a:avLst/>
          </a:prstGeom>
          <a:solidFill>
            <a:srgbClr val="7BA7D7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61204" y="3822192"/>
            <a:ext cx="155448" cy="91440"/>
          </a:xfrm>
          <a:prstGeom prst="rect">
            <a:avLst/>
          </a:prstGeom>
          <a:solidFill>
            <a:srgbClr val="C9C9C9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60520" y="4160520"/>
            <a:ext cx="1920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1">
                <a:solidFill>
                  <a:srgbClr val="111111"/>
                </a:solidFill>
                <a:latin typeface="Times New Roman"/>
              </a:rPr>
              <a:t>Task Demand w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85800" y="4553712"/>
            <a:ext cx="3931920" cy="475488"/>
          </a:xfrm>
          <a:prstGeom prst="roundRect">
            <a:avLst>
              <a:gd name="adj" fmla="val 18000"/>
            </a:avLst>
          </a:prstGeom>
          <a:solidFill>
            <a:srgbClr val="FFF6DE"/>
          </a:solidFill>
          <a:ln w="20320">
            <a:solidFill>
              <a:srgbClr val="B88A2E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600" b="1" i="0">
                <a:solidFill>
                  <a:srgbClr val="111111"/>
                </a:solidFill>
                <a:latin typeface="Times New Roman"/>
              </a:rPr>
              <a:t>per-skill token quota  =  w · b</a:t>
            </a:r>
          </a:p>
        </p:txBody>
      </p:sp>
      <p:sp>
        <p:nvSpPr>
          <p:cNvPr id="60" name="Oval 59"/>
          <p:cNvSpPr/>
          <p:nvPr/>
        </p:nvSpPr>
        <p:spPr>
          <a:xfrm>
            <a:off x="4800600" y="4892040"/>
            <a:ext cx="384048" cy="96012"/>
          </a:xfrm>
          <a:prstGeom prst="ellipse">
            <a:avLst/>
          </a:prstGeom>
          <a:solidFill>
            <a:srgbClr val="E8C56A"/>
          </a:solidFill>
          <a:ln w="13970">
            <a:solidFill>
              <a:srgbClr val="9A7B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800600" y="4782312"/>
            <a:ext cx="384048" cy="96012"/>
          </a:xfrm>
          <a:prstGeom prst="ellipse">
            <a:avLst/>
          </a:prstGeom>
          <a:solidFill>
            <a:srgbClr val="E8C56A"/>
          </a:solidFill>
          <a:ln w="13970">
            <a:solidFill>
              <a:srgbClr val="9A7B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800600" y="4672583"/>
            <a:ext cx="384048" cy="96012"/>
          </a:xfrm>
          <a:prstGeom prst="ellipse">
            <a:avLst/>
          </a:prstGeom>
          <a:solidFill>
            <a:srgbClr val="E8C56A"/>
          </a:solidFill>
          <a:ln w="13970">
            <a:solidFill>
              <a:srgbClr val="9A7B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365760" y="5257800"/>
            <a:ext cx="5349240" cy="1325880"/>
          </a:xfrm>
          <a:prstGeom prst="roundRect">
            <a:avLst>
              <a:gd name="adj" fmla="val 10000"/>
            </a:avLst>
          </a:prstGeom>
          <a:solidFill>
            <a:srgbClr val="F7F6F2"/>
          </a:solidFill>
          <a:ln w="16510">
            <a:solidFill>
              <a:srgbClr val="9A9A9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" y="5321808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1">
                <a:solidFill>
                  <a:srgbClr val="111111"/>
                </a:solidFill>
                <a:latin typeface="Times New Roman"/>
              </a:rPr>
              <a:t>Cross-modal bridge  (fit on paid pairs)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777240" y="6355080"/>
            <a:ext cx="658368" cy="0"/>
          </a:xfrm>
          <a:prstGeom prst="line">
            <a:avLst/>
          </a:prstGeom>
          <a:ln w="20320">
            <a:solidFill>
              <a:srgbClr val="111111"/>
            </a:solidFill>
          </a:ln>
          <a:effectLst/>
        </p:spPr>
      </p:cxnSp>
      <p:sp>
        <p:nvSpPr>
          <p:cNvPr id="66" name="Rectangle 65"/>
          <p:cNvSpPr/>
          <p:nvPr/>
        </p:nvSpPr>
        <p:spPr>
          <a:xfrm>
            <a:off x="822960" y="6080760"/>
            <a:ext cx="155448" cy="274320"/>
          </a:xfrm>
          <a:prstGeom prst="rect">
            <a:avLst/>
          </a:prstGeom>
          <a:solidFill>
            <a:srgbClr val="C9C9C9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028700" y="5916168"/>
            <a:ext cx="155448" cy="438912"/>
          </a:xfrm>
          <a:prstGeom prst="rect">
            <a:avLst/>
          </a:prstGeom>
          <a:solidFill>
            <a:srgbClr val="C9C9C9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234440" y="6153912"/>
            <a:ext cx="155448" cy="201168"/>
          </a:xfrm>
          <a:prstGeom prst="rect">
            <a:avLst/>
          </a:prstGeom>
          <a:solidFill>
            <a:srgbClr val="C9C9C9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640080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1">
                <a:solidFill>
                  <a:srgbClr val="111111"/>
                </a:solidFill>
                <a:latin typeface="Times New Roman"/>
              </a:rPr>
              <a:t>Prompt g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1645920" y="6126480"/>
            <a:ext cx="502920" cy="0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  <p:sp>
        <p:nvSpPr>
          <p:cNvPr id="71" name="Rounded Rectangle 70"/>
          <p:cNvSpPr/>
          <p:nvPr/>
        </p:nvSpPr>
        <p:spPr>
          <a:xfrm>
            <a:off x="2240280" y="5742432"/>
            <a:ext cx="713232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0320">
            <a:solidFill>
              <a:srgbClr val="11111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313432" y="5815584"/>
            <a:ext cx="158496" cy="158496"/>
          </a:xfrm>
          <a:prstGeom prst="rect">
            <a:avLst/>
          </a:prstGeom>
          <a:solidFill>
            <a:srgbClr val="4C72B0"/>
          </a:solidFill>
          <a:ln w="762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511552" y="5815584"/>
            <a:ext cx="158496" cy="158496"/>
          </a:xfrm>
          <a:prstGeom prst="rect">
            <a:avLst/>
          </a:prstGeom>
          <a:solidFill>
            <a:srgbClr val="9EC99A"/>
          </a:solidFill>
          <a:ln w="762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709672" y="5815584"/>
            <a:ext cx="158496" cy="158496"/>
          </a:xfrm>
          <a:prstGeom prst="rect">
            <a:avLst/>
          </a:prstGeom>
          <a:solidFill>
            <a:srgbClr val="F2B98F"/>
          </a:solidFill>
          <a:ln w="762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313432" y="6013704"/>
            <a:ext cx="158496" cy="158496"/>
          </a:xfrm>
          <a:prstGeom prst="rect">
            <a:avLst/>
          </a:prstGeom>
          <a:solidFill>
            <a:srgbClr val="9EC99A"/>
          </a:solidFill>
          <a:ln w="762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511552" y="6013704"/>
            <a:ext cx="158496" cy="158496"/>
          </a:xfrm>
          <a:prstGeom prst="rect">
            <a:avLst/>
          </a:prstGeom>
          <a:solidFill>
            <a:srgbClr val="F2B98F"/>
          </a:solidFill>
          <a:ln w="762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709672" y="6013704"/>
            <a:ext cx="158496" cy="158496"/>
          </a:xfrm>
          <a:prstGeom prst="rect">
            <a:avLst/>
          </a:prstGeom>
          <a:solidFill>
            <a:srgbClr val="4C72B0"/>
          </a:solidFill>
          <a:ln w="762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313432" y="6211824"/>
            <a:ext cx="158496" cy="158496"/>
          </a:xfrm>
          <a:prstGeom prst="rect">
            <a:avLst/>
          </a:prstGeom>
          <a:solidFill>
            <a:srgbClr val="F2B98F"/>
          </a:solidFill>
          <a:ln w="762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511552" y="6211824"/>
            <a:ext cx="158496" cy="158496"/>
          </a:xfrm>
          <a:prstGeom prst="rect">
            <a:avLst/>
          </a:prstGeom>
          <a:solidFill>
            <a:srgbClr val="4C72B0"/>
          </a:solidFill>
          <a:ln w="762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709672" y="6211824"/>
            <a:ext cx="158496" cy="158496"/>
          </a:xfrm>
          <a:prstGeom prst="rect">
            <a:avLst/>
          </a:prstGeom>
          <a:solidFill>
            <a:srgbClr val="9EC99A"/>
          </a:solidFill>
          <a:ln w="762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011680" y="6455664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1">
                <a:solidFill>
                  <a:srgbClr val="111111"/>
                </a:solidFill>
                <a:latin typeface="Times New Roman"/>
              </a:rPr>
              <a:t>Ridge Map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3108960" y="6126480"/>
            <a:ext cx="502920" cy="0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  <p:cxnSp>
        <p:nvCxnSpPr>
          <p:cNvPr id="83" name="Connector 82"/>
          <p:cNvCxnSpPr/>
          <p:nvPr/>
        </p:nvCxnSpPr>
        <p:spPr>
          <a:xfrm>
            <a:off x="3749040" y="6355080"/>
            <a:ext cx="658368" cy="0"/>
          </a:xfrm>
          <a:prstGeom prst="line">
            <a:avLst/>
          </a:prstGeom>
          <a:ln w="20320">
            <a:solidFill>
              <a:srgbClr val="111111"/>
            </a:solidFill>
          </a:ln>
          <a:effectLst/>
        </p:spPr>
      </p:cxnSp>
      <p:sp>
        <p:nvSpPr>
          <p:cNvPr id="84" name="Rectangle 83"/>
          <p:cNvSpPr/>
          <p:nvPr/>
        </p:nvSpPr>
        <p:spPr>
          <a:xfrm>
            <a:off x="3794760" y="5852160"/>
            <a:ext cx="155448" cy="502920"/>
          </a:xfrm>
          <a:prstGeom prst="rect">
            <a:avLst/>
          </a:prstGeom>
          <a:solidFill>
            <a:srgbClr val="9EC99A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000500" y="6126480"/>
            <a:ext cx="155448" cy="228600"/>
          </a:xfrm>
          <a:prstGeom prst="rect">
            <a:avLst/>
          </a:prstGeom>
          <a:solidFill>
            <a:srgbClr val="9EC99A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206240" y="5971032"/>
            <a:ext cx="155448" cy="384048"/>
          </a:xfrm>
          <a:prstGeom prst="rect">
            <a:avLst/>
          </a:prstGeom>
          <a:solidFill>
            <a:srgbClr val="9EC99A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520440" y="640080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1">
                <a:solidFill>
                  <a:srgbClr val="111111"/>
                </a:solidFill>
                <a:latin typeface="Times New Roman"/>
              </a:rPr>
              <a:t>Predicted Skills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892040" y="5806440"/>
            <a:ext cx="868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1">
                <a:solidFill>
                  <a:srgbClr val="111111"/>
                </a:solidFill>
                <a:latin typeface="Times New Roman"/>
              </a:rPr>
              <a:t>legal before</a:t>
            </a:r>
          </a:p>
          <a:p>
            <a:pPr algn="ctr"/>
            <a:r>
              <a:rPr sz="1050" b="1" i="1">
                <a:solidFill>
                  <a:srgbClr val="111111"/>
                </a:solidFill>
                <a:latin typeface="Times New Roman"/>
              </a:rPr>
              <a:t>paying</a:t>
            </a:r>
          </a:p>
        </p:txBody>
      </p:sp>
      <p:sp>
        <p:nvSpPr>
          <p:cNvPr id="89" name="Oval 88"/>
          <p:cNvSpPr/>
          <p:nvPr/>
        </p:nvSpPr>
        <p:spPr>
          <a:xfrm>
            <a:off x="6172200" y="237744"/>
            <a:ext cx="365760" cy="365760"/>
          </a:xfrm>
          <a:prstGeom prst="ellipse">
            <a:avLst/>
          </a:prstGeom>
          <a:solidFill>
            <a:srgbClr val="111111"/>
          </a:solidFill>
          <a:ln>
            <a:noFill/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629400" y="274320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1">
                <a:solidFill>
                  <a:srgbClr val="111111"/>
                </a:solidFill>
                <a:latin typeface="Times New Roman"/>
              </a:rPr>
              <a:t>Spending the budget where demand is unmet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309359" y="772668"/>
            <a:ext cx="1188720" cy="1051560"/>
          </a:xfrm>
          <a:prstGeom prst="roundRect">
            <a:avLst>
              <a:gd name="adj" fmla="val 25000"/>
            </a:avLst>
          </a:prstGeom>
          <a:solidFill>
            <a:srgbClr val="EEF2F9"/>
          </a:solidFill>
          <a:ln w="20320">
            <a:solidFill>
              <a:srgbClr val="8A5AA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6892747" y="644652"/>
            <a:ext cx="21945" cy="128016"/>
          </a:xfrm>
          <a:prstGeom prst="rect">
            <a:avLst/>
          </a:prstGeom>
          <a:solidFill>
            <a:srgbClr val="8A5AA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858000" y="553212"/>
            <a:ext cx="91440" cy="91440"/>
          </a:xfrm>
          <a:prstGeom prst="ellipse">
            <a:avLst/>
          </a:prstGeom>
          <a:solidFill>
            <a:srgbClr val="8A5AA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648602" y="1152144"/>
            <a:ext cx="82296" cy="82296"/>
          </a:xfrm>
          <a:prstGeom prst="ellipse">
            <a:avLst/>
          </a:prstGeom>
          <a:solidFill>
            <a:srgbClr val="8A5AA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7076541" y="1152144"/>
            <a:ext cx="82296" cy="82296"/>
          </a:xfrm>
          <a:prstGeom prst="ellipse">
            <a:avLst/>
          </a:prstGeom>
          <a:solidFill>
            <a:srgbClr val="8A5AA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6737299" y="1424635"/>
            <a:ext cx="332841" cy="27432"/>
          </a:xfrm>
          <a:prstGeom prst="roundRect">
            <a:avLst>
              <a:gd name="adj" fmla="val 50000"/>
            </a:avLst>
          </a:prstGeom>
          <a:solidFill>
            <a:srgbClr val="8A5AA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989320" y="1860803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F1F1E"/>
                </a:solidFill>
                <a:latin typeface="Times New Roman"/>
              </a:rPr>
              <a:t>Teacher API</a:t>
            </a:r>
          </a:p>
        </p:txBody>
      </p:sp>
      <p:sp>
        <p:nvSpPr>
          <p:cNvPr id="98" name="Oval 97"/>
          <p:cNvSpPr/>
          <p:nvPr/>
        </p:nvSpPr>
        <p:spPr>
          <a:xfrm>
            <a:off x="7589520" y="1188720"/>
            <a:ext cx="384048" cy="96012"/>
          </a:xfrm>
          <a:prstGeom prst="ellipse">
            <a:avLst/>
          </a:prstGeom>
          <a:solidFill>
            <a:srgbClr val="E8C56A"/>
          </a:solidFill>
          <a:ln w="13970">
            <a:solidFill>
              <a:srgbClr val="9A7B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7589520" y="1078992"/>
            <a:ext cx="384048" cy="96012"/>
          </a:xfrm>
          <a:prstGeom prst="ellipse">
            <a:avLst/>
          </a:prstGeom>
          <a:solidFill>
            <a:srgbClr val="E8C56A"/>
          </a:solidFill>
          <a:ln w="13970">
            <a:solidFill>
              <a:srgbClr val="9A7B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7589520" y="969264"/>
            <a:ext cx="384048" cy="96012"/>
          </a:xfrm>
          <a:prstGeom prst="ellipse">
            <a:avLst/>
          </a:prstGeom>
          <a:solidFill>
            <a:srgbClr val="E8C56A"/>
          </a:solidFill>
          <a:ln w="13970">
            <a:solidFill>
              <a:srgbClr val="9A7B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7589520" y="859536"/>
            <a:ext cx="384048" cy="96012"/>
          </a:xfrm>
          <a:prstGeom prst="ellipse">
            <a:avLst/>
          </a:prstGeom>
          <a:solidFill>
            <a:srgbClr val="E8C56A"/>
          </a:solidFill>
          <a:ln w="13970">
            <a:solidFill>
              <a:srgbClr val="9A7B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571231" y="1353312"/>
            <a:ext cx="822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1">
                <a:solidFill>
                  <a:srgbClr val="111111"/>
                </a:solidFill>
                <a:latin typeface="Times New Roman"/>
              </a:rPr>
              <a:t>b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8092440" y="1298448"/>
            <a:ext cx="411480" cy="0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  <p:sp>
        <p:nvSpPr>
          <p:cNvPr id="104" name="Rounded Rectangle 103"/>
          <p:cNvSpPr/>
          <p:nvPr/>
        </p:nvSpPr>
        <p:spPr>
          <a:xfrm>
            <a:off x="8577072" y="932688"/>
            <a:ext cx="713232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686800" y="1115568"/>
            <a:ext cx="475488" cy="45720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8686800" y="1298448"/>
            <a:ext cx="475488" cy="45720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8686800" y="1481328"/>
            <a:ext cx="475488" cy="45720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366760" y="1828800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1">
                <a:solidFill>
                  <a:srgbClr val="111111"/>
                </a:solidFill>
                <a:latin typeface="Times New Roman"/>
              </a:rPr>
              <a:t>candidate x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9345168" y="1298448"/>
            <a:ext cx="365760" cy="0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  <p:cxnSp>
        <p:nvCxnSpPr>
          <p:cNvPr id="110" name="Connector 109"/>
          <p:cNvCxnSpPr/>
          <p:nvPr/>
        </p:nvCxnSpPr>
        <p:spPr>
          <a:xfrm>
            <a:off x="9784080" y="1645920"/>
            <a:ext cx="658368" cy="0"/>
          </a:xfrm>
          <a:prstGeom prst="line">
            <a:avLst/>
          </a:prstGeom>
          <a:ln w="20320">
            <a:solidFill>
              <a:srgbClr val="111111"/>
            </a:solidFill>
          </a:ln>
          <a:effectLst/>
        </p:spPr>
      </p:cxnSp>
      <p:sp>
        <p:nvSpPr>
          <p:cNvPr id="111" name="Rectangle 110"/>
          <p:cNvSpPr/>
          <p:nvPr/>
        </p:nvSpPr>
        <p:spPr>
          <a:xfrm>
            <a:off x="9829800" y="1261872"/>
            <a:ext cx="155448" cy="384048"/>
          </a:xfrm>
          <a:prstGeom prst="rect">
            <a:avLst/>
          </a:prstGeom>
          <a:solidFill>
            <a:srgbClr val="9EC99A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035540" y="1463040"/>
            <a:ext cx="155448" cy="182880"/>
          </a:xfrm>
          <a:prstGeom prst="rect">
            <a:avLst/>
          </a:prstGeom>
          <a:solidFill>
            <a:srgbClr val="9EC99A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0241280" y="1335024"/>
            <a:ext cx="155448" cy="310896"/>
          </a:xfrm>
          <a:prstGeom prst="rect">
            <a:avLst/>
          </a:prstGeom>
          <a:solidFill>
            <a:srgbClr val="9EC99A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601200" y="182880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1">
                <a:solidFill>
                  <a:srgbClr val="111111"/>
                </a:solidFill>
                <a:latin typeface="Times New Roman"/>
              </a:rPr>
              <a:t>ŝ(x) predicted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10716768" y="1298448"/>
            <a:ext cx="347472" cy="0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  <p:cxnSp>
        <p:nvCxnSpPr>
          <p:cNvPr id="116" name="Connector 115"/>
          <p:cNvCxnSpPr/>
          <p:nvPr/>
        </p:nvCxnSpPr>
        <p:spPr>
          <a:xfrm>
            <a:off x="11109959" y="1645920"/>
            <a:ext cx="658369" cy="0"/>
          </a:xfrm>
          <a:prstGeom prst="line">
            <a:avLst/>
          </a:prstGeom>
          <a:ln w="20320">
            <a:solidFill>
              <a:srgbClr val="111111"/>
            </a:solidFill>
          </a:ln>
          <a:effectLst/>
        </p:spPr>
      </p:cxnSp>
      <p:sp>
        <p:nvSpPr>
          <p:cNvPr id="117" name="Rectangle 116"/>
          <p:cNvSpPr/>
          <p:nvPr/>
        </p:nvSpPr>
        <p:spPr>
          <a:xfrm>
            <a:off x="11155680" y="1143000"/>
            <a:ext cx="155448" cy="502920"/>
          </a:xfrm>
          <a:prstGeom prst="rect">
            <a:avLst/>
          </a:prstGeom>
          <a:solidFill>
            <a:srgbClr val="4C72B0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1361419" y="1508760"/>
            <a:ext cx="155448" cy="137160"/>
          </a:xfrm>
          <a:prstGeom prst="rect">
            <a:avLst/>
          </a:prstGeom>
          <a:solidFill>
            <a:srgbClr val="C9C9C9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1567159" y="1371600"/>
            <a:ext cx="155448" cy="274320"/>
          </a:xfrm>
          <a:prstGeom prst="rect">
            <a:avLst/>
          </a:prstGeom>
          <a:solidFill>
            <a:srgbClr val="5F9EA0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0927080" y="182880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1">
                <a:solidFill>
                  <a:srgbClr val="111111"/>
                </a:solidFill>
                <a:latin typeface="Times New Roman"/>
              </a:rPr>
              <a:t>r remaining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6675120" y="2240280"/>
            <a:ext cx="3931920" cy="566928"/>
          </a:xfrm>
          <a:prstGeom prst="roundRect">
            <a:avLst>
              <a:gd name="adj" fmla="val 18000"/>
            </a:avLst>
          </a:prstGeom>
          <a:solidFill>
            <a:srgbClr val="FFF6DE"/>
          </a:solidFill>
          <a:ln w="27940">
            <a:solidFill>
              <a:srgbClr val="B88A2E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600" b="1" i="0">
                <a:solidFill>
                  <a:srgbClr val="111111"/>
                </a:solidFill>
                <a:latin typeface="Times New Roman"/>
              </a:rPr>
              <a:t>buy  argmax  u(x) = Σ min(r, ŝ(x)) ∕ t̂</a:t>
            </a:r>
          </a:p>
        </p:txBody>
      </p:sp>
      <p:cxnSp>
        <p:nvCxnSpPr>
          <p:cNvPr id="122" name="Connector 121"/>
          <p:cNvCxnSpPr/>
          <p:nvPr/>
        </p:nvCxnSpPr>
        <p:spPr>
          <a:xfrm flipH="1">
            <a:off x="6355080" y="2523744"/>
            <a:ext cx="320040" cy="0"/>
          </a:xfrm>
          <a:prstGeom prst="line">
            <a:avLst/>
          </a:prstGeom>
          <a:ln w="27940">
            <a:solidFill>
              <a:srgbClr val="111111"/>
            </a:solidFill>
          </a:ln>
          <a:effectLst/>
        </p:spPr>
      </p:cxnSp>
      <p:cxnSp>
        <p:nvCxnSpPr>
          <p:cNvPr id="123" name="Connector 122"/>
          <p:cNvCxnSpPr/>
          <p:nvPr/>
        </p:nvCxnSpPr>
        <p:spPr>
          <a:xfrm flipV="1">
            <a:off x="6355080" y="1600200"/>
            <a:ext cx="0" cy="923544"/>
          </a:xfrm>
          <a:prstGeom prst="line">
            <a:avLst/>
          </a:prstGeom>
          <a:ln w="27940">
            <a:solidFill>
              <a:srgbClr val="111111"/>
            </a:solidFill>
          </a:ln>
          <a:effectLst/>
        </p:spPr>
      </p:cxnSp>
      <p:cxnSp>
        <p:nvCxnSpPr>
          <p:cNvPr id="124" name="Connector 123"/>
          <p:cNvCxnSpPr/>
          <p:nvPr/>
        </p:nvCxnSpPr>
        <p:spPr>
          <a:xfrm flipV="1">
            <a:off x="6355080" y="1481328"/>
            <a:ext cx="91440" cy="118872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  <p:sp>
        <p:nvSpPr>
          <p:cNvPr id="125" name="TextBox 124"/>
          <p:cNvSpPr txBox="1"/>
          <p:nvPr/>
        </p:nvSpPr>
        <p:spPr>
          <a:xfrm>
            <a:off x="10698480" y="2304288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1">
                <a:solidFill>
                  <a:srgbClr val="111111"/>
                </a:solidFill>
                <a:latin typeface="Times New Roman"/>
              </a:rPr>
              <a:t>each round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309360" y="2926080"/>
            <a:ext cx="32004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11111"/>
                </a:solidFill>
                <a:latin typeface="Times New Roman"/>
              </a:rPr>
              <a:t>returns → execution ✓ + prompt gate</a:t>
            </a:r>
          </a:p>
        </p:txBody>
      </p:sp>
      <p:sp>
        <p:nvSpPr>
          <p:cNvPr id="127" name="Oval 126"/>
          <p:cNvSpPr/>
          <p:nvPr/>
        </p:nvSpPr>
        <p:spPr>
          <a:xfrm>
            <a:off x="9464040" y="2871216"/>
            <a:ext cx="402336" cy="402336"/>
          </a:xfrm>
          <a:prstGeom prst="ellipse">
            <a:avLst/>
          </a:prstGeom>
          <a:solidFill>
            <a:srgbClr val="9EC99A"/>
          </a:solidFill>
          <a:ln w="16510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Times New Roman"/>
              </a:rPr>
              <a:t>✓</a:t>
            </a:r>
          </a:p>
        </p:txBody>
      </p:sp>
      <p:sp>
        <p:nvSpPr>
          <p:cNvPr id="128" name="Oval 127"/>
          <p:cNvSpPr/>
          <p:nvPr/>
        </p:nvSpPr>
        <p:spPr>
          <a:xfrm>
            <a:off x="9966960" y="2871216"/>
            <a:ext cx="402336" cy="402336"/>
          </a:xfrm>
          <a:prstGeom prst="ellipse">
            <a:avLst/>
          </a:prstGeom>
          <a:solidFill>
            <a:srgbClr val="E29A9A"/>
          </a:solidFill>
          <a:ln w="16510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Times New Roman"/>
              </a:rPr>
              <a:t>✗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0469880" y="2907792"/>
            <a:ext cx="16459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11111"/>
                </a:solidFill>
                <a:latin typeface="Times New Roman"/>
              </a:rPr>
              <a:t>wasted ≤ 3%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6903720" y="3822192"/>
            <a:ext cx="658368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131" name="Connector 130"/>
          <p:cNvCxnSpPr/>
          <p:nvPr/>
        </p:nvCxnSpPr>
        <p:spPr>
          <a:xfrm>
            <a:off x="6903720" y="3675888"/>
            <a:ext cx="658368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132" name="Connector 131"/>
          <p:cNvCxnSpPr/>
          <p:nvPr/>
        </p:nvCxnSpPr>
        <p:spPr>
          <a:xfrm>
            <a:off x="6903720" y="3529584"/>
            <a:ext cx="658368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133" name="Connector 132"/>
          <p:cNvCxnSpPr/>
          <p:nvPr/>
        </p:nvCxnSpPr>
        <p:spPr>
          <a:xfrm>
            <a:off x="6903720" y="3383280"/>
            <a:ext cx="658368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134" name="Connector 133"/>
          <p:cNvCxnSpPr/>
          <p:nvPr/>
        </p:nvCxnSpPr>
        <p:spPr>
          <a:xfrm>
            <a:off x="6903720" y="3840480"/>
            <a:ext cx="658368" cy="0"/>
          </a:xfrm>
          <a:prstGeom prst="line">
            <a:avLst/>
          </a:prstGeom>
          <a:ln w="20320">
            <a:solidFill>
              <a:srgbClr val="111111"/>
            </a:solidFill>
          </a:ln>
          <a:effectLst/>
        </p:spPr>
      </p:cxnSp>
      <p:sp>
        <p:nvSpPr>
          <p:cNvPr id="135" name="Rectangle 134"/>
          <p:cNvSpPr/>
          <p:nvPr/>
        </p:nvSpPr>
        <p:spPr>
          <a:xfrm>
            <a:off x="6949440" y="3337560"/>
            <a:ext cx="155448" cy="502920"/>
          </a:xfrm>
          <a:prstGeom prst="rect">
            <a:avLst/>
          </a:prstGeom>
          <a:solidFill>
            <a:srgbClr val="4C72B0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155179" y="3511296"/>
            <a:ext cx="155448" cy="329184"/>
          </a:xfrm>
          <a:prstGeom prst="rect">
            <a:avLst/>
          </a:prstGeom>
          <a:solidFill>
            <a:srgbClr val="5F9EA0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7360919" y="3639312"/>
            <a:ext cx="155448" cy="201168"/>
          </a:xfrm>
          <a:prstGeom prst="rect">
            <a:avLst/>
          </a:prstGeom>
          <a:solidFill>
            <a:srgbClr val="7BA7D7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8" name="Connector 137"/>
          <p:cNvCxnSpPr/>
          <p:nvPr/>
        </p:nvCxnSpPr>
        <p:spPr>
          <a:xfrm>
            <a:off x="7955279" y="3611880"/>
            <a:ext cx="548641" cy="0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  <p:cxnSp>
        <p:nvCxnSpPr>
          <p:cNvPr id="139" name="Connector 138"/>
          <p:cNvCxnSpPr/>
          <p:nvPr/>
        </p:nvCxnSpPr>
        <p:spPr>
          <a:xfrm>
            <a:off x="8595359" y="3822192"/>
            <a:ext cx="658369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140" name="Connector 139"/>
          <p:cNvCxnSpPr/>
          <p:nvPr/>
        </p:nvCxnSpPr>
        <p:spPr>
          <a:xfrm>
            <a:off x="8595359" y="3675888"/>
            <a:ext cx="658369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141" name="Connector 140"/>
          <p:cNvCxnSpPr/>
          <p:nvPr/>
        </p:nvCxnSpPr>
        <p:spPr>
          <a:xfrm>
            <a:off x="8595359" y="3529584"/>
            <a:ext cx="658369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142" name="Connector 141"/>
          <p:cNvCxnSpPr/>
          <p:nvPr/>
        </p:nvCxnSpPr>
        <p:spPr>
          <a:xfrm>
            <a:off x="8595359" y="3383280"/>
            <a:ext cx="658369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143" name="Connector 142"/>
          <p:cNvCxnSpPr/>
          <p:nvPr/>
        </p:nvCxnSpPr>
        <p:spPr>
          <a:xfrm>
            <a:off x="8595359" y="3840480"/>
            <a:ext cx="658369" cy="0"/>
          </a:xfrm>
          <a:prstGeom prst="line">
            <a:avLst/>
          </a:prstGeom>
          <a:ln w="20320">
            <a:solidFill>
              <a:srgbClr val="111111"/>
            </a:solidFill>
          </a:ln>
          <a:effectLst/>
        </p:spPr>
      </p:cxnSp>
      <p:sp>
        <p:nvSpPr>
          <p:cNvPr id="144" name="Rectangle 143"/>
          <p:cNvSpPr/>
          <p:nvPr/>
        </p:nvSpPr>
        <p:spPr>
          <a:xfrm>
            <a:off x="8641080" y="3712464"/>
            <a:ext cx="155448" cy="128016"/>
          </a:xfrm>
          <a:prstGeom prst="rect">
            <a:avLst/>
          </a:prstGeom>
          <a:solidFill>
            <a:srgbClr val="4C72B0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8846819" y="3758184"/>
            <a:ext cx="155448" cy="82296"/>
          </a:xfrm>
          <a:prstGeom prst="rect">
            <a:avLst/>
          </a:prstGeom>
          <a:solidFill>
            <a:srgbClr val="5F9EA0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9052559" y="3794760"/>
            <a:ext cx="155448" cy="45720"/>
          </a:xfrm>
          <a:prstGeom prst="rect">
            <a:avLst/>
          </a:prstGeom>
          <a:solidFill>
            <a:srgbClr val="7BA7D7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9464040" y="3529584"/>
            <a:ext cx="2651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1">
                <a:solidFill>
                  <a:srgbClr val="111111"/>
                </a:solidFill>
                <a:latin typeface="Times New Roman"/>
              </a:rPr>
              <a:t>quota drains as verified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464040" y="3749039"/>
            <a:ext cx="2651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1">
                <a:solidFill>
                  <a:srgbClr val="111111"/>
                </a:solidFill>
                <a:latin typeface="Times New Roman"/>
              </a:rPr>
              <a:t>supply arrives</a:t>
            </a:r>
          </a:p>
        </p:txBody>
      </p:sp>
      <p:sp>
        <p:nvSpPr>
          <p:cNvPr id="149" name="Oval 148"/>
          <p:cNvSpPr/>
          <p:nvPr/>
        </p:nvSpPr>
        <p:spPr>
          <a:xfrm>
            <a:off x="6172200" y="4169663"/>
            <a:ext cx="365760" cy="365760"/>
          </a:xfrm>
          <a:prstGeom prst="ellipse">
            <a:avLst/>
          </a:prstGeom>
          <a:solidFill>
            <a:srgbClr val="111111"/>
          </a:solidFill>
          <a:ln>
            <a:noFill/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6629400" y="420624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1">
                <a:solidFill>
                  <a:srgbClr val="111111"/>
                </a:solidFill>
                <a:latin typeface="Times New Roman"/>
              </a:rPr>
              <a:t>Demand-weighted distillation</a:t>
            </a:r>
          </a:p>
        </p:txBody>
      </p:sp>
      <p:sp>
        <p:nvSpPr>
          <p:cNvPr id="151" name="Oval 150"/>
          <p:cNvSpPr/>
          <p:nvPr/>
        </p:nvSpPr>
        <p:spPr>
          <a:xfrm>
            <a:off x="9646920" y="4169663"/>
            <a:ext cx="365760" cy="365760"/>
          </a:xfrm>
          <a:prstGeom prst="ellipse">
            <a:avLst/>
          </a:prstGeom>
          <a:solidFill>
            <a:srgbClr val="111111"/>
          </a:solidFill>
          <a:ln>
            <a:noFill/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600" b="1" i="0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104120" y="4206240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1">
                <a:solidFill>
                  <a:srgbClr val="111111"/>
                </a:solidFill>
                <a:latin typeface="Times New Roman"/>
              </a:rPr>
              <a:t>Certified deployment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355080" y="4709160"/>
            <a:ext cx="694944" cy="365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6428232" y="4809744"/>
            <a:ext cx="402336" cy="45720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7150608" y="4636008"/>
            <a:ext cx="164592" cy="402336"/>
          </a:xfrm>
          <a:prstGeom prst="rect">
            <a:avLst/>
          </a:prstGeom>
          <a:solidFill>
            <a:srgbClr val="F2B98F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6355080" y="5166360"/>
            <a:ext cx="694944" cy="365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428232" y="5266944"/>
            <a:ext cx="402336" cy="45720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7150608" y="5294376"/>
            <a:ext cx="164592" cy="201168"/>
          </a:xfrm>
          <a:prstGeom prst="rect">
            <a:avLst/>
          </a:prstGeom>
          <a:solidFill>
            <a:srgbClr val="F2B98F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6355080" y="5623560"/>
            <a:ext cx="694944" cy="365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6428232" y="5724144"/>
            <a:ext cx="402336" cy="45720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7150608" y="5623560"/>
            <a:ext cx="164592" cy="329184"/>
          </a:xfrm>
          <a:prstGeom prst="rect">
            <a:avLst/>
          </a:prstGeom>
          <a:solidFill>
            <a:srgbClr val="F2B98F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6126480" y="6144768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1">
                <a:solidFill>
                  <a:srgbClr val="111111"/>
                </a:solidFill>
                <a:latin typeface="Times New Roman"/>
              </a:rPr>
              <a:t>loss ∝ demand served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7452360" y="5257800"/>
            <a:ext cx="411480" cy="0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  <p:sp>
        <p:nvSpPr>
          <p:cNvPr id="164" name="Rounded Rectangle 163"/>
          <p:cNvSpPr/>
          <p:nvPr/>
        </p:nvSpPr>
        <p:spPr>
          <a:xfrm>
            <a:off x="7772400" y="4764024"/>
            <a:ext cx="1005840" cy="896112"/>
          </a:xfrm>
          <a:prstGeom prst="roundRect">
            <a:avLst>
              <a:gd name="adj" fmla="val 25000"/>
            </a:avLst>
          </a:prstGeom>
          <a:solidFill>
            <a:srgbClr val="EEF2F9"/>
          </a:solidFill>
          <a:ln w="20320">
            <a:solidFill>
              <a:srgbClr val="4C72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8264347" y="4636008"/>
            <a:ext cx="21945" cy="12801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8229600" y="4544568"/>
            <a:ext cx="91440" cy="91440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8053120" y="5081320"/>
            <a:ext cx="82296" cy="82296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8415223" y="5081320"/>
            <a:ext cx="82296" cy="82296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9" name="Rounded Rectangle 168"/>
          <p:cNvSpPr/>
          <p:nvPr/>
        </p:nvSpPr>
        <p:spPr>
          <a:xfrm>
            <a:off x="8134502" y="5319613"/>
            <a:ext cx="281635" cy="27432"/>
          </a:xfrm>
          <a:prstGeom prst="roundRect">
            <a:avLst>
              <a:gd name="adj" fmla="val 50000"/>
            </a:avLst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7452360" y="5696712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F1F1E"/>
                </a:solidFill>
                <a:latin typeface="Times New Roman"/>
              </a:rPr>
              <a:t>Student</a:t>
            </a:r>
          </a:p>
        </p:txBody>
      </p:sp>
      <p:cxnSp>
        <p:nvCxnSpPr>
          <p:cNvPr id="171" name="Connector 170"/>
          <p:cNvCxnSpPr/>
          <p:nvPr/>
        </p:nvCxnSpPr>
        <p:spPr>
          <a:xfrm>
            <a:off x="7818120" y="6419088"/>
            <a:ext cx="1417320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172" name="Connector 171"/>
          <p:cNvCxnSpPr/>
          <p:nvPr/>
        </p:nvCxnSpPr>
        <p:spPr>
          <a:xfrm>
            <a:off x="7818120" y="6272783"/>
            <a:ext cx="1417320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173" name="Connector 172"/>
          <p:cNvCxnSpPr/>
          <p:nvPr/>
        </p:nvCxnSpPr>
        <p:spPr>
          <a:xfrm>
            <a:off x="7818120" y="6126479"/>
            <a:ext cx="1417320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174" name="Connector 173"/>
          <p:cNvCxnSpPr/>
          <p:nvPr/>
        </p:nvCxnSpPr>
        <p:spPr>
          <a:xfrm flipV="1">
            <a:off x="7845552" y="6126480"/>
            <a:ext cx="292608" cy="228600"/>
          </a:xfrm>
          <a:prstGeom prst="line">
            <a:avLst/>
          </a:prstGeom>
          <a:ln w="33020">
            <a:solidFill>
              <a:srgbClr val="4C72B0"/>
            </a:solidFill>
          </a:ln>
          <a:effectLst/>
        </p:spPr>
      </p:cxnSp>
      <p:cxnSp>
        <p:nvCxnSpPr>
          <p:cNvPr id="175" name="Connector 174"/>
          <p:cNvCxnSpPr/>
          <p:nvPr/>
        </p:nvCxnSpPr>
        <p:spPr>
          <a:xfrm flipV="1">
            <a:off x="8138160" y="5925312"/>
            <a:ext cx="320040" cy="201168"/>
          </a:xfrm>
          <a:prstGeom prst="line">
            <a:avLst/>
          </a:prstGeom>
          <a:ln w="33020">
            <a:solidFill>
              <a:srgbClr val="4C72B0"/>
            </a:solidFill>
          </a:ln>
          <a:effectLst/>
        </p:spPr>
      </p:cxnSp>
      <p:cxnSp>
        <p:nvCxnSpPr>
          <p:cNvPr id="176" name="Connector 175"/>
          <p:cNvCxnSpPr/>
          <p:nvPr/>
        </p:nvCxnSpPr>
        <p:spPr>
          <a:xfrm flipV="1">
            <a:off x="8458200" y="5870448"/>
            <a:ext cx="274320" cy="54864"/>
          </a:xfrm>
          <a:prstGeom prst="line">
            <a:avLst/>
          </a:prstGeom>
          <a:ln w="33020">
            <a:solidFill>
              <a:srgbClr val="4C72B0"/>
            </a:solidFill>
          </a:ln>
          <a:effectLst/>
        </p:spPr>
      </p:cxnSp>
      <p:cxnSp>
        <p:nvCxnSpPr>
          <p:cNvPr id="177" name="Connector 176"/>
          <p:cNvCxnSpPr/>
          <p:nvPr/>
        </p:nvCxnSpPr>
        <p:spPr>
          <a:xfrm>
            <a:off x="8732520" y="5870448"/>
            <a:ext cx="274320" cy="118872"/>
          </a:xfrm>
          <a:prstGeom prst="line">
            <a:avLst/>
          </a:prstGeom>
          <a:ln w="33020">
            <a:solidFill>
              <a:srgbClr val="4C72B0"/>
            </a:solidFill>
          </a:ln>
          <a:effectLst/>
        </p:spPr>
      </p:cxnSp>
      <p:sp>
        <p:nvSpPr>
          <p:cNvPr id="178" name="Oval 177"/>
          <p:cNvSpPr/>
          <p:nvPr/>
        </p:nvSpPr>
        <p:spPr>
          <a:xfrm>
            <a:off x="8659368" y="5797296"/>
            <a:ext cx="155448" cy="155448"/>
          </a:xfrm>
          <a:prstGeom prst="ellipse">
            <a:avLst/>
          </a:prstGeom>
          <a:solidFill>
            <a:srgbClr val="3E7A3A"/>
          </a:solidFill>
          <a:ln w="1524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589520" y="6455664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1">
                <a:solidFill>
                  <a:srgbClr val="111111"/>
                </a:solidFill>
                <a:latin typeface="Times New Roman"/>
              </a:rPr>
              <a:t>probe keeps best step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9646920" y="4617720"/>
            <a:ext cx="2240280" cy="1005840"/>
          </a:xfrm>
          <a:prstGeom prst="roundRect">
            <a:avLst>
              <a:gd name="adj" fmla="val 10000"/>
            </a:avLst>
          </a:prstGeom>
          <a:solidFill>
            <a:srgbClr val="ECF6EB"/>
          </a:solidFill>
          <a:ln w="27940">
            <a:solidFill>
              <a:srgbClr val="3E7A3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9802368" y="4773168"/>
            <a:ext cx="603504" cy="603504"/>
          </a:xfrm>
          <a:prstGeom prst="ellipse">
            <a:avLst/>
          </a:prstGeom>
          <a:solidFill>
            <a:srgbClr val="3E7A3A"/>
          </a:solidFill>
          <a:ln w="20320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Times New Roman"/>
              </a:rPr>
              <a:t>✓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497312" y="4773168"/>
            <a:ext cx="132588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11111"/>
                </a:solidFill>
                <a:latin typeface="Times New Roman"/>
              </a:rPr>
              <a:t>coverage ≥ 1−α</a:t>
            </a:r>
          </a:p>
          <a:p>
            <a:pPr algn="l"/>
            <a:r>
              <a:rPr sz="1300" b="1" i="0">
                <a:solidFill>
                  <a:srgbClr val="111111"/>
                </a:solidFill>
                <a:latin typeface="Times New Roman"/>
              </a:rPr>
              <a:t>leakage ≤ ε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9784080" y="5669280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1">
                <a:solidFill>
                  <a:srgbClr val="111111"/>
                </a:solidFill>
                <a:latin typeface="Times New Roman"/>
              </a:rPr>
              <a:t>Certificate</a:t>
            </a:r>
          </a:p>
        </p:txBody>
      </p:sp>
      <p:sp>
        <p:nvSpPr>
          <p:cNvPr id="184" name="Diamond 183"/>
          <p:cNvSpPr/>
          <p:nvPr/>
        </p:nvSpPr>
        <p:spPr>
          <a:xfrm>
            <a:off x="9829800" y="5989320"/>
            <a:ext cx="457200" cy="457200"/>
          </a:xfrm>
          <a:prstGeom prst="diamond">
            <a:avLst/>
          </a:prstGeom>
          <a:solidFill>
            <a:srgbClr val="DFE5EF"/>
          </a:solidFill>
          <a:ln w="17780">
            <a:solidFill>
              <a:srgbClr val="11111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378440" y="5961888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3E7A3A"/>
                </a:solidFill>
                <a:latin typeface="Times New Roman"/>
              </a:rPr>
              <a:t>in → student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378440" y="6217920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8A5AA8"/>
                </a:solidFill>
                <a:latin typeface="Times New Roman"/>
              </a:rPr>
              <a:t>out → teacher</a:t>
            </a:r>
          </a:p>
        </p:txBody>
      </p:sp>
      <p:cxnSp>
        <p:nvCxnSpPr>
          <p:cNvPr id="187" name="Connector 186"/>
          <p:cNvCxnSpPr/>
          <p:nvPr/>
        </p:nvCxnSpPr>
        <p:spPr>
          <a:xfrm>
            <a:off x="9326880" y="6217920"/>
            <a:ext cx="438912" cy="0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