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" y="91440"/>
            <a:ext cx="11969496" cy="66568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989320" y="201168"/>
            <a:ext cx="0" cy="6437376"/>
          </a:xfrm>
          <a:prstGeom prst="line">
            <a:avLst/>
          </a:prstGeom>
          <a:ln w="22860">
            <a:solidFill>
              <a:srgbClr val="8A8A8A"/>
            </a:solidFill>
            <a:prstDash val="dash"/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6089904" y="4041648"/>
            <a:ext cx="5888736" cy="0"/>
          </a:xfrm>
          <a:prstGeom prst="line">
            <a:avLst/>
          </a:prstGeom>
          <a:ln w="22860">
            <a:solidFill>
              <a:srgbClr val="8A8A8A"/>
            </a:solidFill>
            <a:prstDash val="dash"/>
          </a:ln>
          <a:effectLst/>
        </p:spPr>
      </p:cxnSp>
      <p:sp>
        <p:nvSpPr>
          <p:cNvPr id="5" name="Oval 4"/>
          <p:cNvSpPr/>
          <p:nvPr/>
        </p:nvSpPr>
        <p:spPr>
          <a:xfrm>
            <a:off x="292608" y="237744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"/>
            <a:ext cx="493776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1">
                <a:solidFill>
                  <a:srgbClr val="111111"/>
                </a:solidFill>
                <a:latin typeface="Times New Roman"/>
              </a:rPr>
              <a:t>Stage I — skill extraction &amp; budget allocation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841248"/>
            <a:ext cx="107899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907084"/>
            <a:ext cx="107899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" y="972921"/>
            <a:ext cx="107899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8" y="1261872"/>
            <a:ext cx="676656" cy="59436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1499616"/>
            <a:ext cx="676656" cy="59436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" y="1737360"/>
            <a:ext cx="676656" cy="59436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2304288"/>
            <a:ext cx="210312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460" b="1" i="1">
                <a:solidFill>
                  <a:srgbClr val="111111"/>
                </a:solidFill>
                <a:latin typeface="Times New Roman"/>
              </a:rPr>
              <a:t>Support Set 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75104" y="1481328"/>
            <a:ext cx="402336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2212848" y="896112"/>
            <a:ext cx="822960" cy="31089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11111"/>
                </a:solidFill>
                <a:latin typeface="Times New Roman"/>
              </a:rPr>
              <a:t>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08860" y="800100"/>
            <a:ext cx="1417320" cy="1234440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 w="20320">
            <a:solidFill>
              <a:srgbClr val="4C72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06547" y="672084"/>
            <a:ext cx="21945" cy="12801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71800" y="580644"/>
            <a:ext cx="91440" cy="9144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721254" y="1252728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31489" y="1252728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19095" y="1565452"/>
            <a:ext cx="396849" cy="27432"/>
          </a:xfrm>
          <a:prstGeom prst="roundRect">
            <a:avLst>
              <a:gd name="adj" fmla="val 50000"/>
            </a:avLst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88819" y="2071116"/>
            <a:ext cx="20574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1F1E"/>
                </a:solidFill>
                <a:latin typeface="Times New Roman"/>
              </a:rPr>
              <a:t>Student Model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67328" y="1417320"/>
            <a:ext cx="393192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4233672" y="1901952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4233672" y="1755648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4233672" y="1609344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4233672" y="1463040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4233672" y="1920240"/>
            <a:ext cx="1088135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4279392" y="1243584"/>
            <a:ext cx="201168" cy="676656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44568" y="1591056"/>
            <a:ext cx="201168" cy="329184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09744" y="1371600"/>
            <a:ext cx="201168" cy="548640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74920" y="1673352"/>
            <a:ext cx="201168" cy="246888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39" y="2212848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460" b="1" i="1">
                <a:solidFill>
                  <a:srgbClr val="111111"/>
                </a:solidFill>
                <a:latin typeface="Times New Roman"/>
              </a:rPr>
              <a:t>Gradient Features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2670048"/>
            <a:ext cx="3611880" cy="548640"/>
          </a:xfrm>
          <a:prstGeom prst="roundRect">
            <a:avLst>
              <a:gd name="adj" fmla="val 18000"/>
            </a:avLst>
          </a:prstGeom>
          <a:solidFill>
            <a:srgbClr val="F0F5FB"/>
          </a:solidFill>
          <a:ln w="20320">
            <a:solidFill>
              <a:srgbClr val="4C72B0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2070" b="1" i="0">
                <a:solidFill>
                  <a:srgbClr val="111111"/>
                </a:solidFill>
                <a:latin typeface="Times New Roman"/>
              </a:rPr>
              <a:t>min‖X − CD‖²  +  λ‖C‖₁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798064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460" b="1" i="1">
                <a:solidFill>
                  <a:srgbClr val="111111"/>
                </a:solidFill>
                <a:latin typeface="Times New Roman"/>
              </a:rPr>
              <a:t>sparse dictionary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94560" y="3236976"/>
            <a:ext cx="0" cy="201168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37" name="Rounded Rectangle 36"/>
          <p:cNvSpPr/>
          <p:nvPr/>
        </p:nvSpPr>
        <p:spPr>
          <a:xfrm>
            <a:off x="502920" y="351129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4C72B0"/>
          </a:solidFill>
          <a:ln w="177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151376"/>
            <a:ext cx="96012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a₁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9304" y="351129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5F9EA0"/>
          </a:solidFill>
          <a:ln w="177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6424" y="4151376"/>
            <a:ext cx="96012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a₂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75688" y="351129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7BA7D7"/>
          </a:solidFill>
          <a:ln w="177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92807" y="4151376"/>
            <a:ext cx="96012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a₃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62072" y="351129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F2B98F"/>
          </a:solidFill>
          <a:ln w="177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79191" y="4151376"/>
            <a:ext cx="96012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a₄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48456" y="351129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E29A9A"/>
          </a:solidFill>
          <a:ln w="177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65576" y="4151376"/>
            <a:ext cx="96012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a₅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462272"/>
            <a:ext cx="347472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590" b="1" i="1">
                <a:solidFill>
                  <a:srgbClr val="111111"/>
                </a:solidFill>
                <a:latin typeface="Times New Roman"/>
              </a:rPr>
              <a:t>Capability Atoms (dictionary D)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480560" y="3803904"/>
            <a:ext cx="256032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4782312" y="4142232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4782312" y="3995928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4782312" y="3849624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4782312" y="3703320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4782312" y="4160520"/>
            <a:ext cx="1088136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54" name="Rectangle 53"/>
          <p:cNvSpPr/>
          <p:nvPr/>
        </p:nvSpPr>
        <p:spPr>
          <a:xfrm>
            <a:off x="4828032" y="3447287"/>
            <a:ext cx="201168" cy="713232"/>
          </a:xfrm>
          <a:prstGeom prst="rect">
            <a:avLst/>
          </a:prstGeom>
          <a:solidFill>
            <a:srgbClr val="4C72B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93208" y="3685031"/>
            <a:ext cx="201168" cy="475488"/>
          </a:xfrm>
          <a:prstGeom prst="rect">
            <a:avLst/>
          </a:prstGeom>
          <a:solidFill>
            <a:srgbClr val="5F9EA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58384" y="3858768"/>
            <a:ext cx="201168" cy="301752"/>
          </a:xfrm>
          <a:prstGeom prst="rect">
            <a:avLst/>
          </a:prstGeom>
          <a:solidFill>
            <a:srgbClr val="7BA7D7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23560" y="4050791"/>
            <a:ext cx="201168" cy="109728"/>
          </a:xfrm>
          <a:prstGeom prst="rect">
            <a:avLst/>
          </a:prstGeom>
          <a:solidFill>
            <a:srgbClr val="C9C9C9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73168" y="4526280"/>
            <a:ext cx="118872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Task Demand 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4828032"/>
            <a:ext cx="4023360" cy="530352"/>
          </a:xfrm>
          <a:prstGeom prst="roundRect">
            <a:avLst>
              <a:gd name="adj" fmla="val 18000"/>
            </a:avLst>
          </a:prstGeom>
          <a:solidFill>
            <a:srgbClr val="FFF6DE"/>
          </a:solidFill>
          <a:ln w="20320">
            <a:solidFill>
              <a:srgbClr val="B88A2E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950" b="1" i="0">
                <a:solidFill>
                  <a:srgbClr val="111111"/>
                </a:solidFill>
                <a:latin typeface="Times New Roman"/>
              </a:rPr>
              <a:t>per-skill token budget  =  w · b</a:t>
            </a:r>
          </a:p>
        </p:txBody>
      </p:sp>
      <p:sp>
        <p:nvSpPr>
          <p:cNvPr id="60" name="Oval 59"/>
          <p:cNvSpPr/>
          <p:nvPr/>
        </p:nvSpPr>
        <p:spPr>
          <a:xfrm>
            <a:off x="4800600" y="5212080"/>
            <a:ext cx="475488" cy="114300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800600" y="5084064"/>
            <a:ext cx="475488" cy="114300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800600" y="4956048"/>
            <a:ext cx="475488" cy="114300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65760" y="5504688"/>
            <a:ext cx="5394960" cy="1188720"/>
          </a:xfrm>
          <a:prstGeom prst="roundRect">
            <a:avLst>
              <a:gd name="adj" fmla="val 10000"/>
            </a:avLst>
          </a:prstGeom>
          <a:solidFill>
            <a:srgbClr val="F7F6F2"/>
          </a:solidFill>
          <a:ln w="16510">
            <a:solidFill>
              <a:srgbClr val="9A9A9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541264"/>
            <a:ext cx="502920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1">
                <a:solidFill>
                  <a:srgbClr val="111111"/>
                </a:solidFill>
                <a:latin typeface="Times New Roman"/>
              </a:rPr>
              <a:t>Cross-modal bridge (fit on paid pairs)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31519" y="6419088"/>
            <a:ext cx="822961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66" name="Rectangle 65"/>
          <p:cNvSpPr/>
          <p:nvPr/>
        </p:nvSpPr>
        <p:spPr>
          <a:xfrm>
            <a:off x="777240" y="6144768"/>
            <a:ext cx="201168" cy="274320"/>
          </a:xfrm>
          <a:prstGeom prst="rect">
            <a:avLst/>
          </a:prstGeom>
          <a:solidFill>
            <a:srgbClr val="C9C9C9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42416" y="5980175"/>
            <a:ext cx="201168" cy="438912"/>
          </a:xfrm>
          <a:prstGeom prst="rect">
            <a:avLst/>
          </a:prstGeom>
          <a:solidFill>
            <a:srgbClr val="C9C9C9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07592" y="6217920"/>
            <a:ext cx="201168" cy="201168"/>
          </a:xfrm>
          <a:prstGeom prst="rect">
            <a:avLst/>
          </a:prstGeom>
          <a:solidFill>
            <a:srgbClr val="C9C9C9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455664"/>
            <a:ext cx="155448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1">
                <a:solidFill>
                  <a:srgbClr val="111111"/>
                </a:solidFill>
                <a:latin typeface="Times New Roman"/>
              </a:rPr>
              <a:t>Prompt g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783080" y="6172200"/>
            <a:ext cx="411480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71" name="Rounded Rectangle 70"/>
          <p:cNvSpPr/>
          <p:nvPr/>
        </p:nvSpPr>
        <p:spPr>
          <a:xfrm>
            <a:off x="2286000" y="5806440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359152" y="5879592"/>
            <a:ext cx="162560" cy="162560"/>
          </a:xfrm>
          <a:prstGeom prst="rect">
            <a:avLst/>
          </a:prstGeom>
          <a:solidFill>
            <a:srgbClr val="4C72B0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562352" y="5879592"/>
            <a:ext cx="162560" cy="162560"/>
          </a:xfrm>
          <a:prstGeom prst="rect">
            <a:avLst/>
          </a:prstGeom>
          <a:solidFill>
            <a:srgbClr val="9EC99A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65552" y="5879592"/>
            <a:ext cx="162560" cy="162560"/>
          </a:xfrm>
          <a:prstGeom prst="rect">
            <a:avLst/>
          </a:prstGeom>
          <a:solidFill>
            <a:srgbClr val="F2B98F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359152" y="6082792"/>
            <a:ext cx="162560" cy="162560"/>
          </a:xfrm>
          <a:prstGeom prst="rect">
            <a:avLst/>
          </a:prstGeom>
          <a:solidFill>
            <a:srgbClr val="9EC99A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562352" y="6082792"/>
            <a:ext cx="162560" cy="162560"/>
          </a:xfrm>
          <a:prstGeom prst="rect">
            <a:avLst/>
          </a:prstGeom>
          <a:solidFill>
            <a:srgbClr val="F2B98F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765552" y="6082792"/>
            <a:ext cx="162560" cy="162560"/>
          </a:xfrm>
          <a:prstGeom prst="rect">
            <a:avLst/>
          </a:prstGeom>
          <a:solidFill>
            <a:srgbClr val="4C72B0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359152" y="6285992"/>
            <a:ext cx="162560" cy="162560"/>
          </a:xfrm>
          <a:prstGeom prst="rect">
            <a:avLst/>
          </a:prstGeom>
          <a:solidFill>
            <a:srgbClr val="F2B98F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562352" y="6285992"/>
            <a:ext cx="162560" cy="162560"/>
          </a:xfrm>
          <a:prstGeom prst="rect">
            <a:avLst/>
          </a:prstGeom>
          <a:solidFill>
            <a:srgbClr val="4C72B0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65552" y="6285992"/>
            <a:ext cx="162560" cy="162560"/>
          </a:xfrm>
          <a:prstGeom prst="rect">
            <a:avLst/>
          </a:prstGeom>
          <a:solidFill>
            <a:srgbClr val="9EC99A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29968" y="6455664"/>
            <a:ext cx="128016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1">
                <a:solidFill>
                  <a:srgbClr val="111111"/>
                </a:solidFill>
                <a:latin typeface="Times New Roman"/>
              </a:rPr>
              <a:t>Ridge Map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200400" y="6172200"/>
            <a:ext cx="411480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3703320" y="6419088"/>
            <a:ext cx="822959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84" name="Rectangle 83"/>
          <p:cNvSpPr/>
          <p:nvPr/>
        </p:nvSpPr>
        <p:spPr>
          <a:xfrm>
            <a:off x="3749039" y="5916168"/>
            <a:ext cx="201168" cy="502920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014215" y="6190488"/>
            <a:ext cx="201168" cy="228600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279392" y="6035040"/>
            <a:ext cx="201168" cy="384048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66160" y="6455664"/>
            <a:ext cx="164592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1">
                <a:solidFill>
                  <a:srgbClr val="111111"/>
                </a:solidFill>
                <a:latin typeface="Times New Roman"/>
              </a:rPr>
              <a:t>Predicted Skills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56048" y="5925312"/>
            <a:ext cx="868680" cy="5486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1">
                <a:solidFill>
                  <a:srgbClr val="111111"/>
                </a:solidFill>
                <a:latin typeface="Times New Roman"/>
              </a:rPr>
              <a:t>legal before</a:t>
            </a:r>
          </a:p>
          <a:p>
            <a:pPr algn="ctr"/>
            <a:r>
              <a:rPr sz="1200" b="1" i="1">
                <a:solidFill>
                  <a:srgbClr val="111111"/>
                </a:solidFill>
                <a:latin typeface="Times New Roman"/>
              </a:rPr>
              <a:t>paying</a:t>
            </a:r>
          </a:p>
        </p:txBody>
      </p:sp>
      <p:sp>
        <p:nvSpPr>
          <p:cNvPr id="89" name="Oval 88"/>
          <p:cNvSpPr/>
          <p:nvPr/>
        </p:nvSpPr>
        <p:spPr>
          <a:xfrm>
            <a:off x="6172200" y="237744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66560" y="292608"/>
            <a:ext cx="539496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111111"/>
                </a:solidFill>
                <a:latin typeface="Times New Roman"/>
              </a:rPr>
              <a:t>Stage II — budgeted acquisition (×R rounds)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240779" y="754380"/>
            <a:ext cx="1417320" cy="1234440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 w="20320">
            <a:solidFill>
              <a:srgbClr val="8A5A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938467" y="626364"/>
            <a:ext cx="21945" cy="128016"/>
          </a:xfrm>
          <a:prstGeom prst="rect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903720" y="534924"/>
            <a:ext cx="91440" cy="91440"/>
          </a:xfrm>
          <a:prstGeom prst="ellipse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653174" y="1207008"/>
            <a:ext cx="82296" cy="82296"/>
          </a:xfrm>
          <a:prstGeom prst="ellipse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163409" y="1207008"/>
            <a:ext cx="82296" cy="82296"/>
          </a:xfrm>
          <a:prstGeom prst="ellipse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751015" y="1519732"/>
            <a:ext cx="396849" cy="27432"/>
          </a:xfrm>
          <a:prstGeom prst="roundRect">
            <a:avLst>
              <a:gd name="adj" fmla="val 50000"/>
            </a:avLst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20740" y="2025395"/>
            <a:ext cx="20574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1F1E"/>
                </a:solidFill>
                <a:latin typeface="Times New Roman"/>
              </a:rPr>
              <a:t>Teacher API</a:t>
            </a:r>
          </a:p>
        </p:txBody>
      </p:sp>
      <p:sp>
        <p:nvSpPr>
          <p:cNvPr id="98" name="Oval 97"/>
          <p:cNvSpPr/>
          <p:nvPr/>
        </p:nvSpPr>
        <p:spPr>
          <a:xfrm>
            <a:off x="7754112" y="1234440"/>
            <a:ext cx="475488" cy="114300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54112" y="1106424"/>
            <a:ext cx="475488" cy="114300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754112" y="978408"/>
            <a:ext cx="475488" cy="114300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754112" y="850392"/>
            <a:ext cx="475488" cy="114300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772400" y="1444752"/>
            <a:ext cx="82296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 i="1">
                <a:solidFill>
                  <a:srgbClr val="111111"/>
                </a:solidFill>
                <a:latin typeface="Times New Roman"/>
              </a:rPr>
              <a:t>b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8321040" y="1371600"/>
            <a:ext cx="292608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104" name="Rounded Rectangle 103"/>
          <p:cNvSpPr/>
          <p:nvPr/>
        </p:nvSpPr>
        <p:spPr>
          <a:xfrm>
            <a:off x="8686800" y="914400"/>
            <a:ext cx="84124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814816" y="1133856"/>
            <a:ext cx="566928" cy="5486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814816" y="1353312"/>
            <a:ext cx="566928" cy="5486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814816" y="1572768"/>
            <a:ext cx="566928" cy="5486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458200" y="1975104"/>
            <a:ext cx="128016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1">
                <a:solidFill>
                  <a:srgbClr val="111111"/>
                </a:solidFill>
                <a:latin typeface="Times New Roman"/>
              </a:rPr>
              <a:t>candidate x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9582912" y="1371600"/>
            <a:ext cx="274320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110" name="Connector 109"/>
          <p:cNvCxnSpPr/>
          <p:nvPr/>
        </p:nvCxnSpPr>
        <p:spPr>
          <a:xfrm>
            <a:off x="9902952" y="1783080"/>
            <a:ext cx="822960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111" name="Rectangle 110"/>
          <p:cNvSpPr/>
          <p:nvPr/>
        </p:nvSpPr>
        <p:spPr>
          <a:xfrm>
            <a:off x="9948672" y="1325880"/>
            <a:ext cx="201168" cy="457200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213848" y="1563624"/>
            <a:ext cx="201168" cy="219456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479024" y="1417319"/>
            <a:ext cx="201168" cy="365760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10928" y="1975104"/>
            <a:ext cx="155448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1">
                <a:solidFill>
                  <a:srgbClr val="111111"/>
                </a:solidFill>
                <a:latin typeface="Times New Roman"/>
              </a:rPr>
              <a:t>ŝ(x) predicted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0835640" y="1371600"/>
            <a:ext cx="228600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116" name="Connector 115"/>
          <p:cNvCxnSpPr/>
          <p:nvPr/>
        </p:nvCxnSpPr>
        <p:spPr>
          <a:xfrm>
            <a:off x="11091672" y="1783080"/>
            <a:ext cx="822960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117" name="Rectangle 116"/>
          <p:cNvSpPr/>
          <p:nvPr/>
        </p:nvSpPr>
        <p:spPr>
          <a:xfrm>
            <a:off x="11137392" y="1216152"/>
            <a:ext cx="201168" cy="566928"/>
          </a:xfrm>
          <a:prstGeom prst="rect">
            <a:avLst/>
          </a:prstGeom>
          <a:solidFill>
            <a:srgbClr val="4C72B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402567" y="1618488"/>
            <a:ext cx="201168" cy="164592"/>
          </a:xfrm>
          <a:prstGeom prst="rect">
            <a:avLst/>
          </a:prstGeom>
          <a:solidFill>
            <a:srgbClr val="C9C9C9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667744" y="1453895"/>
            <a:ext cx="201168" cy="329184"/>
          </a:xfrm>
          <a:prstGeom prst="rect">
            <a:avLst/>
          </a:prstGeom>
          <a:solidFill>
            <a:srgbClr val="5F9EA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927080" y="1975104"/>
            <a:ext cx="137160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r remaining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675120" y="2240280"/>
            <a:ext cx="3931920" cy="566928"/>
          </a:xfrm>
          <a:prstGeom prst="roundRect">
            <a:avLst>
              <a:gd name="adj" fmla="val 18000"/>
            </a:avLst>
          </a:prstGeom>
          <a:solidFill>
            <a:srgbClr val="FFF6DE"/>
          </a:solidFill>
          <a:ln w="27940">
            <a:solidFill>
              <a:srgbClr val="B88A2E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950" b="1" i="0">
                <a:solidFill>
                  <a:srgbClr val="111111"/>
                </a:solidFill>
                <a:latin typeface="Times New Roman"/>
              </a:rPr>
              <a:t>buy  argmax  u(x) = Σ min(r, ŝ(x)) ∕ t̂</a:t>
            </a:r>
          </a:p>
        </p:txBody>
      </p:sp>
      <p:cxnSp>
        <p:nvCxnSpPr>
          <p:cNvPr id="122" name="Connector 121"/>
          <p:cNvCxnSpPr/>
          <p:nvPr/>
        </p:nvCxnSpPr>
        <p:spPr>
          <a:xfrm flipH="1">
            <a:off x="6355080" y="2523744"/>
            <a:ext cx="320040" cy="0"/>
          </a:xfrm>
          <a:prstGeom prst="line">
            <a:avLst/>
          </a:prstGeom>
          <a:ln w="27940">
            <a:solidFill>
              <a:srgbClr val="111111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6355080" y="1600200"/>
            <a:ext cx="0" cy="923544"/>
          </a:xfrm>
          <a:prstGeom prst="line">
            <a:avLst/>
          </a:prstGeom>
          <a:ln w="27940">
            <a:solidFill>
              <a:srgbClr val="111111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6355080" y="1481328"/>
            <a:ext cx="91440" cy="118872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125" name="TextBox 124"/>
          <p:cNvSpPr txBox="1"/>
          <p:nvPr/>
        </p:nvSpPr>
        <p:spPr>
          <a:xfrm>
            <a:off x="10698480" y="2304288"/>
            <a:ext cx="146304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1">
                <a:solidFill>
                  <a:srgbClr val="111111"/>
                </a:solidFill>
                <a:latin typeface="Times New Roman"/>
              </a:rPr>
              <a:t>each round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309360" y="2926080"/>
            <a:ext cx="3200400" cy="31089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Times New Roman"/>
              </a:rPr>
              <a:t>returns → exec ✓ + gate</a:t>
            </a:r>
          </a:p>
        </p:txBody>
      </p:sp>
      <p:sp>
        <p:nvSpPr>
          <p:cNvPr id="127" name="Oval 126"/>
          <p:cNvSpPr/>
          <p:nvPr/>
        </p:nvSpPr>
        <p:spPr>
          <a:xfrm>
            <a:off x="9509760" y="2834640"/>
            <a:ext cx="493776" cy="493776"/>
          </a:xfrm>
          <a:prstGeom prst="ellipse">
            <a:avLst/>
          </a:prstGeom>
          <a:solidFill>
            <a:srgbClr val="9EC99A"/>
          </a:solidFill>
          <a:ln w="16510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83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128" name="Oval 127"/>
          <p:cNvSpPr/>
          <p:nvPr/>
        </p:nvSpPr>
        <p:spPr>
          <a:xfrm>
            <a:off x="10104120" y="2834640"/>
            <a:ext cx="493776" cy="493776"/>
          </a:xfrm>
          <a:prstGeom prst="ellipse">
            <a:avLst/>
          </a:prstGeom>
          <a:solidFill>
            <a:srgbClr val="E29A9A"/>
          </a:solidFill>
          <a:ln w="16510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830" b="1" i="0">
                <a:solidFill>
                  <a:srgbClr val="FFFFFF"/>
                </a:solidFill>
                <a:latin typeface="Times New Roman"/>
              </a:rPr>
              <a:t>✗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716768" y="2907792"/>
            <a:ext cx="1463040" cy="32918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11111"/>
                </a:solidFill>
                <a:latin typeface="Times New Roman"/>
              </a:rPr>
              <a:t>waste 2–4%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6903720" y="3867912"/>
            <a:ext cx="822959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6903720" y="3721608"/>
            <a:ext cx="822959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>
            <a:off x="6903720" y="3575304"/>
            <a:ext cx="822959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6903720" y="3429000"/>
            <a:ext cx="822959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>
            <a:off x="6903720" y="3886200"/>
            <a:ext cx="822960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135" name="Rectangle 134"/>
          <p:cNvSpPr/>
          <p:nvPr/>
        </p:nvSpPr>
        <p:spPr>
          <a:xfrm>
            <a:off x="6949440" y="3337560"/>
            <a:ext cx="201168" cy="548640"/>
          </a:xfrm>
          <a:prstGeom prst="rect">
            <a:avLst/>
          </a:prstGeom>
          <a:solidFill>
            <a:srgbClr val="4C72B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214616" y="3520440"/>
            <a:ext cx="201168" cy="365760"/>
          </a:xfrm>
          <a:prstGeom prst="rect">
            <a:avLst/>
          </a:prstGeom>
          <a:solidFill>
            <a:srgbClr val="5F9EA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479792" y="3657600"/>
            <a:ext cx="201168" cy="228600"/>
          </a:xfrm>
          <a:prstGeom prst="rect">
            <a:avLst/>
          </a:prstGeom>
          <a:solidFill>
            <a:srgbClr val="7BA7D7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8092440" y="3657600"/>
            <a:ext cx="457200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8641080" y="3867912"/>
            <a:ext cx="82296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8641080" y="3721608"/>
            <a:ext cx="82296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8641080" y="3575304"/>
            <a:ext cx="82296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8641080" y="3429000"/>
            <a:ext cx="82296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8641080" y="3886200"/>
            <a:ext cx="822960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144" name="Rectangle 143"/>
          <p:cNvSpPr/>
          <p:nvPr/>
        </p:nvSpPr>
        <p:spPr>
          <a:xfrm>
            <a:off x="8686800" y="3749039"/>
            <a:ext cx="201168" cy="137160"/>
          </a:xfrm>
          <a:prstGeom prst="rect">
            <a:avLst/>
          </a:prstGeom>
          <a:solidFill>
            <a:srgbClr val="4C72B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951976" y="3794760"/>
            <a:ext cx="201168" cy="91440"/>
          </a:xfrm>
          <a:prstGeom prst="rect">
            <a:avLst/>
          </a:prstGeom>
          <a:solidFill>
            <a:srgbClr val="5F9EA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217152" y="3831336"/>
            <a:ext cx="201168" cy="54864"/>
          </a:xfrm>
          <a:prstGeom prst="rect">
            <a:avLst/>
          </a:prstGeom>
          <a:solidFill>
            <a:srgbClr val="7BA7D7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464040" y="3273552"/>
            <a:ext cx="265176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1">
                <a:solidFill>
                  <a:srgbClr val="111111"/>
                </a:solidFill>
                <a:latin typeface="Times New Roman"/>
              </a:rPr>
              <a:t>student attempts shortlist first: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464040" y="3465576"/>
            <a:ext cx="265176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1">
                <a:solidFill>
                  <a:srgbClr val="111111"/>
                </a:solidFill>
                <a:latin typeface="Times New Roman"/>
              </a:rPr>
              <a:t>self-solved → keep, free;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464040" y="3657600"/>
            <a:ext cx="265176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1">
                <a:solidFill>
                  <a:srgbClr val="111111"/>
                </a:solidFill>
                <a:latin typeface="Times New Roman"/>
              </a:rPr>
              <a:t>failures → buy demo / correction;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464040" y="3849624"/>
            <a:ext cx="265176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1">
                <a:solidFill>
                  <a:srgbClr val="111111"/>
                </a:solidFill>
                <a:latin typeface="Times New Roman"/>
              </a:rPr>
              <a:t>deficit read → next round</a:t>
            </a:r>
          </a:p>
        </p:txBody>
      </p:sp>
      <p:sp>
        <p:nvSpPr>
          <p:cNvPr id="151" name="Oval 150"/>
          <p:cNvSpPr/>
          <p:nvPr/>
        </p:nvSpPr>
        <p:spPr>
          <a:xfrm>
            <a:off x="6172200" y="4169663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8272" y="4242816"/>
            <a:ext cx="310896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1">
                <a:solidFill>
                  <a:srgbClr val="111111"/>
                </a:solidFill>
                <a:latin typeface="Times New Roman"/>
              </a:rPr>
              <a:t>Stage III — SFT + pref + averaging</a:t>
            </a:r>
          </a:p>
        </p:txBody>
      </p:sp>
      <p:sp>
        <p:nvSpPr>
          <p:cNvPr id="153" name="Oval 152"/>
          <p:cNvSpPr/>
          <p:nvPr/>
        </p:nvSpPr>
        <p:spPr>
          <a:xfrm>
            <a:off x="9528048" y="4169663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058400" y="4242816"/>
            <a:ext cx="205740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1">
                <a:solidFill>
                  <a:srgbClr val="111111"/>
                </a:solidFill>
                <a:latin typeface="Times New Roman"/>
              </a:rPr>
              <a:t>Deploy (optional gate)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309360" y="4709160"/>
            <a:ext cx="82296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00800" y="4828032"/>
            <a:ext cx="493776" cy="5486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242048" y="4636008"/>
            <a:ext cx="201168" cy="457200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6309360" y="5212080"/>
            <a:ext cx="82296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00800" y="5330952"/>
            <a:ext cx="493776" cy="5486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242048" y="5358384"/>
            <a:ext cx="201168" cy="237744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6309360" y="5715000"/>
            <a:ext cx="82296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400800" y="5833872"/>
            <a:ext cx="493776" cy="5486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242048" y="5715000"/>
            <a:ext cx="201168" cy="384048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035040" y="6291072"/>
            <a:ext cx="265176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1">
                <a:solidFill>
                  <a:srgbClr val="111111"/>
                </a:solidFill>
                <a:latin typeface="Times New Roman"/>
              </a:rPr>
              <a:t>demos ∪ corrections ∪ self-solved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7589520" y="5349240"/>
            <a:ext cx="384048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166" name="Rounded Rectangle 165"/>
          <p:cNvSpPr/>
          <p:nvPr/>
        </p:nvSpPr>
        <p:spPr>
          <a:xfrm>
            <a:off x="8023859" y="4809744"/>
            <a:ext cx="1234440" cy="1078992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 w="20320">
            <a:solidFill>
              <a:srgbClr val="4C72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630107" y="4681728"/>
            <a:ext cx="21945" cy="12801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8595359" y="4590288"/>
            <a:ext cx="91440" cy="9144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8377732" y="5200192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8822131" y="5200192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8468258" y="5478719"/>
            <a:ext cx="345643" cy="27432"/>
          </a:xfrm>
          <a:prstGeom prst="roundRect">
            <a:avLst>
              <a:gd name="adj" fmla="val 50000"/>
            </a:avLst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703819" y="5925312"/>
            <a:ext cx="1874519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1F1E"/>
                </a:solidFill>
                <a:latin typeface="Times New Roman"/>
              </a:rPr>
              <a:t>Student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6720840" y="6492240"/>
            <a:ext cx="141732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>
            <a:off x="6720840" y="6345936"/>
            <a:ext cx="141732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6720840" y="6199631"/>
            <a:ext cx="141732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6748272" y="6236208"/>
            <a:ext cx="292608" cy="192024"/>
          </a:xfrm>
          <a:prstGeom prst="line">
            <a:avLst/>
          </a:prstGeom>
          <a:ln w="33020">
            <a:solidFill>
              <a:srgbClr val="4C72B0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 flipV="1">
            <a:off x="7040880" y="6053328"/>
            <a:ext cx="320040" cy="182880"/>
          </a:xfrm>
          <a:prstGeom prst="line">
            <a:avLst/>
          </a:prstGeom>
          <a:ln w="33020">
            <a:solidFill>
              <a:srgbClr val="4C72B0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7360920" y="5998464"/>
            <a:ext cx="274320" cy="54864"/>
          </a:xfrm>
          <a:prstGeom prst="line">
            <a:avLst/>
          </a:prstGeom>
          <a:ln w="33020">
            <a:solidFill>
              <a:srgbClr val="4C72B0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7635240" y="5998464"/>
            <a:ext cx="274320" cy="109728"/>
          </a:xfrm>
          <a:prstGeom prst="line">
            <a:avLst/>
          </a:prstGeom>
          <a:ln w="33020">
            <a:solidFill>
              <a:srgbClr val="4C72B0"/>
            </a:solidFill>
          </a:ln>
          <a:effectLst/>
        </p:spPr>
      </p:cxnSp>
      <p:sp>
        <p:nvSpPr>
          <p:cNvPr id="180" name="Oval 179"/>
          <p:cNvSpPr/>
          <p:nvPr/>
        </p:nvSpPr>
        <p:spPr>
          <a:xfrm>
            <a:off x="7562088" y="5925312"/>
            <a:ext cx="155448" cy="155448"/>
          </a:xfrm>
          <a:prstGeom prst="ellipse">
            <a:avLst/>
          </a:prstGeom>
          <a:solidFill>
            <a:srgbClr val="3E7A3A"/>
          </a:solidFill>
          <a:ln w="1524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035040" y="6492240"/>
            <a:ext cx="310896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1">
                <a:solidFill>
                  <a:srgbClr val="111111"/>
                </a:solidFill>
                <a:latin typeface="Times New Roman"/>
              </a:rPr>
              <a:t>masked pref (attempt, fix) · avg ckpts · 1-probe rollback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9646920" y="4617720"/>
            <a:ext cx="2240280" cy="1005840"/>
          </a:xfrm>
          <a:prstGeom prst="roundRect">
            <a:avLst>
              <a:gd name="adj" fmla="val 10000"/>
            </a:avLst>
          </a:prstGeom>
          <a:solidFill>
            <a:srgbClr val="ECF6EB"/>
          </a:solidFill>
          <a:ln w="27940">
            <a:solidFill>
              <a:srgbClr val="3E7A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9784080" y="4736592"/>
            <a:ext cx="713232" cy="713232"/>
          </a:xfrm>
          <a:prstGeom prst="ellipse">
            <a:avLst/>
          </a:prstGeom>
          <a:solidFill>
            <a:srgbClr val="3E7A3A"/>
          </a:solidFill>
          <a:ln w="20320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497312" y="4773168"/>
            <a:ext cx="1325880" cy="6583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/>
            <a:r>
              <a:rPr sz="1590" b="1" i="0">
                <a:solidFill>
                  <a:srgbClr val="111111"/>
                </a:solidFill>
                <a:latin typeface="Times New Roman"/>
              </a:rPr>
              <a:t>coverage ≥ 1−α</a:t>
            </a:r>
          </a:p>
          <a:p>
            <a:pPr algn="l"/>
            <a:r>
              <a:rPr sz="1590" b="1" i="0">
                <a:solidFill>
                  <a:srgbClr val="111111"/>
                </a:solidFill>
                <a:latin typeface="Times New Roman"/>
              </a:rPr>
              <a:t>leakage ≤ ε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784080" y="5669280"/>
            <a:ext cx="201168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1590" b="1" i="1">
                <a:solidFill>
                  <a:srgbClr val="111111"/>
                </a:solidFill>
                <a:latin typeface="Times New Roman"/>
              </a:rPr>
              <a:t>Certificate</a:t>
            </a:r>
          </a:p>
        </p:txBody>
      </p:sp>
      <p:sp>
        <p:nvSpPr>
          <p:cNvPr id="186" name="Diamond 185"/>
          <p:cNvSpPr/>
          <p:nvPr/>
        </p:nvSpPr>
        <p:spPr>
          <a:xfrm>
            <a:off x="9784080" y="5961888"/>
            <a:ext cx="548640" cy="548640"/>
          </a:xfrm>
          <a:prstGeom prst="diamond">
            <a:avLst/>
          </a:prstGeom>
          <a:solidFill>
            <a:srgbClr val="DFE5EF"/>
          </a:solidFill>
          <a:ln w="1778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0378440" y="5961888"/>
            <a:ext cx="160020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/>
            <a:r>
              <a:rPr sz="1460" b="1" i="0">
                <a:solidFill>
                  <a:srgbClr val="3E7A3A"/>
                </a:solidFill>
                <a:latin typeface="Times New Roman"/>
              </a:rPr>
              <a:t>in → student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378440" y="6217920"/>
            <a:ext cx="160020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/>
            <a:r>
              <a:rPr sz="1460" b="1" i="0">
                <a:solidFill>
                  <a:srgbClr val="8A5AA8"/>
                </a:solidFill>
                <a:latin typeface="Times New Roman"/>
              </a:rPr>
              <a:t>out → teacher</a:t>
            </a:r>
          </a:p>
        </p:txBody>
      </p:sp>
      <p:cxnSp>
        <p:nvCxnSpPr>
          <p:cNvPr id="189" name="Connector 188"/>
          <p:cNvCxnSpPr/>
          <p:nvPr/>
        </p:nvCxnSpPr>
        <p:spPr>
          <a:xfrm>
            <a:off x="9281160" y="6236208"/>
            <a:ext cx="429768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