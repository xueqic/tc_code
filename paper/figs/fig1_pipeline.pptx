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64592" y="365760"/>
            <a:ext cx="2212848" cy="1847088"/>
          </a:xfrm>
          <a:prstGeom prst="roundRect">
            <a:avLst>
              <a:gd name="adj" fmla="val 6000"/>
            </a:avLst>
          </a:prstGeom>
          <a:solidFill>
            <a:srgbClr val="EDECE7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3891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1F1E"/>
                </a:solidFill>
                <a:latin typeface="Times New Roman"/>
              </a:rPr>
              <a:t>TASK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731520"/>
            <a:ext cx="1956816" cy="438912"/>
          </a:xfrm>
          <a:prstGeom prst="roundRect">
            <a:avLst>
              <a:gd name="adj" fmla="val 15000"/>
            </a:avLst>
          </a:prstGeom>
          <a:solidFill>
            <a:srgbClr val="E3EFDA"/>
          </a:solidFill>
          <a:ln w="15240">
            <a:solidFill>
              <a:srgbClr val="779E6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k example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1225296"/>
            <a:ext cx="1956816" cy="438912"/>
          </a:xfrm>
          <a:prstGeom prst="roundRect">
            <a:avLst>
              <a:gd name="adj" fmla="val 15000"/>
            </a:avLst>
          </a:prstGeom>
          <a:solidFill>
            <a:srgbClr val="FFF0C2"/>
          </a:solidFill>
          <a:ln w="15240">
            <a:solidFill>
              <a:srgbClr val="C9A22A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calibration split: gate 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" y="1719072"/>
            <a:ext cx="1956816" cy="402336"/>
          </a:xfrm>
          <a:prstGeom prst="roundRect">
            <a:avLst>
              <a:gd name="adj" fmla="val 15000"/>
            </a:avLst>
          </a:prstGeom>
          <a:solidFill>
            <a:srgbClr val="EDECE7"/>
          </a:solidFill>
          <a:ln w="15240">
            <a:solidFill>
              <a:srgbClr val="8C8C8C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6B6A63"/>
                </a:solidFill>
                <a:latin typeface="Times New Roman"/>
              </a:rPr>
              <a:t>held-out eval 🔒 locked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" y="2770632"/>
            <a:ext cx="777240" cy="585216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DD84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6267" y="2642616"/>
            <a:ext cx="21945" cy="128016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19" y="2551176"/>
            <a:ext cx="91440" cy="91440"/>
          </a:xfrm>
          <a:prstGeom prst="ellipse">
            <a:avLst/>
          </a:prstGeom>
          <a:solidFill>
            <a:srgbClr val="DD84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6188" y="2963570"/>
            <a:ext cx="82296" cy="82296"/>
          </a:xfrm>
          <a:prstGeom prst="ellipse">
            <a:avLst/>
          </a:prstGeom>
          <a:solidFill>
            <a:srgbClr val="DD84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5995" y="2963570"/>
            <a:ext cx="82296" cy="82296"/>
          </a:xfrm>
          <a:prstGeom prst="ellipse">
            <a:avLst/>
          </a:prstGeom>
          <a:solidFill>
            <a:srgbClr val="DD84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8426" y="3133465"/>
            <a:ext cx="217627" cy="27432"/>
          </a:xfrm>
          <a:prstGeom prst="roundRect">
            <a:avLst>
              <a:gd name="adj" fmla="val 50000"/>
            </a:avLst>
          </a:prstGeom>
          <a:solidFill>
            <a:srgbClr val="DD84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" y="3392424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Frozen Teacher 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34440" y="3401568"/>
            <a:ext cx="338328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15" name="Folded Corner 14"/>
          <p:cNvSpPr/>
          <p:nvPr/>
        </p:nvSpPr>
        <p:spPr>
          <a:xfrm>
            <a:off x="1737360" y="3108960"/>
            <a:ext cx="960120" cy="777240"/>
          </a:xfrm>
          <a:prstGeom prst="foldedCorner">
            <a:avLst/>
          </a:prstGeom>
          <a:solidFill>
            <a:srgbClr val="F7F6F2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olded Corner 15"/>
          <p:cNvSpPr/>
          <p:nvPr/>
        </p:nvSpPr>
        <p:spPr>
          <a:xfrm>
            <a:off x="1691640" y="3063239"/>
            <a:ext cx="960120" cy="777240"/>
          </a:xfrm>
          <a:prstGeom prst="foldedCorner">
            <a:avLst/>
          </a:prstGeom>
          <a:solidFill>
            <a:srgbClr val="F7F6F2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olded Corner 16"/>
          <p:cNvSpPr/>
          <p:nvPr/>
        </p:nvSpPr>
        <p:spPr>
          <a:xfrm>
            <a:off x="1645920" y="3017520"/>
            <a:ext cx="960120" cy="777240"/>
          </a:xfrm>
          <a:prstGeom prst="foldedCorner">
            <a:avLst/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4208" y="3154679"/>
            <a:ext cx="9235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 i="0">
                <a:solidFill>
                  <a:srgbClr val="1F1F1E"/>
                </a:solidFill>
                <a:latin typeface="Times New Roman"/>
              </a:rPr>
              <a:t>trace pool</a:t>
            </a:r>
          </a:p>
          <a:p>
            <a:pPr algn="ctr"/>
            <a:r>
              <a:rPr sz="700" b="1" i="0">
                <a:solidFill>
                  <a:srgbClr val="1F1F1E"/>
                </a:solidFill>
                <a:latin typeface="Times New Roman"/>
              </a:rPr>
              <a:t>1080 exec-</a:t>
            </a:r>
          </a:p>
          <a:p>
            <a:pPr algn="ctr"/>
            <a:r>
              <a:rPr sz="700" b="1" i="0">
                <a:solidFill>
                  <a:srgbClr val="1F1F1E"/>
                </a:solidFill>
                <a:latin typeface="Times New Roman"/>
              </a:rPr>
              <a:t>verified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95728" y="950976"/>
            <a:ext cx="301752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2724912" y="621792"/>
            <a:ext cx="1298448" cy="713232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52344" y="667512"/>
            <a:ext cx="1243584" cy="392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backward pass</a:t>
            </a:r>
          </a:p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@ student init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1115568"/>
            <a:ext cx="1170431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LoRA-B sketch + JL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41648" y="950976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24" name="Folded Corner 23"/>
          <p:cNvSpPr/>
          <p:nvPr/>
        </p:nvSpPr>
        <p:spPr>
          <a:xfrm>
            <a:off x="4343400" y="603504"/>
            <a:ext cx="896112" cy="731520"/>
          </a:xfrm>
          <a:prstGeom prst="foldedCorner">
            <a:avLst/>
          </a:prstGeom>
          <a:solidFill>
            <a:srgbClr val="DDE9F7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717804"/>
            <a:ext cx="8595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gradient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fingerprints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57800" y="950976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27" name="Rounded Rectangle 26"/>
          <p:cNvSpPr/>
          <p:nvPr/>
        </p:nvSpPr>
        <p:spPr>
          <a:xfrm>
            <a:off x="5559552" y="621792"/>
            <a:ext cx="1188720" cy="713232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6984" y="667512"/>
            <a:ext cx="1133856" cy="392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sparse</a:t>
            </a:r>
          </a:p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dictionary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23560" y="1115568"/>
            <a:ext cx="1060704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128 atoms · lasso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66560" y="950976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7068312" y="603504"/>
            <a:ext cx="188366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159752" y="694944"/>
            <a:ext cx="566928" cy="219456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889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694944"/>
            <a:ext cx="786384" cy="219456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889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9752" y="1005840"/>
            <a:ext cx="658368" cy="219456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889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FILTER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1005840"/>
            <a:ext cx="530352" cy="219456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889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9692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A63"/>
                </a:solidFill>
                <a:latin typeface="Times New Roman"/>
              </a:rPr>
              <a:t>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347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named atom library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70264" y="950976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39" name="Folded Corner 38"/>
          <p:cNvSpPr/>
          <p:nvPr/>
        </p:nvSpPr>
        <p:spPr>
          <a:xfrm>
            <a:off x="9272016" y="548640"/>
            <a:ext cx="1188720" cy="841248"/>
          </a:xfrm>
          <a:prstGeom prst="foldedCorner">
            <a:avLst/>
          </a:prstGeom>
          <a:solidFill>
            <a:srgbClr val="DDE9F7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90304" y="717803"/>
            <a:ext cx="1152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TASK SPEC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atom support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+ threshold 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548640"/>
            <a:ext cx="1645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the specification:</a:t>
            </a:r>
          </a:p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what the task needs,</a:t>
            </a:r>
          </a:p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read before any</a:t>
            </a:r>
          </a:p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training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66376" y="1417320"/>
            <a:ext cx="0" cy="1453896"/>
          </a:xfrm>
          <a:prstGeom prst="line">
            <a:avLst/>
          </a:prstGeom>
          <a:ln w="22860">
            <a:solidFill>
              <a:srgbClr val="4C72B0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 flipH="1">
            <a:off x="4434840" y="1188720"/>
            <a:ext cx="4892040" cy="1600200"/>
          </a:xfrm>
          <a:prstGeom prst="line">
            <a:avLst/>
          </a:prstGeom>
          <a:ln w="22860">
            <a:solidFill>
              <a:srgbClr val="4C72B0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5760720" y="2084831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1">
                <a:solidFill>
                  <a:srgbClr val="4C72B0"/>
                </a:solidFill>
                <a:latin typeface="Times New Roman"/>
              </a:rPr>
              <a:t>gates the diet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2633472" y="2944368"/>
            <a:ext cx="365760" cy="457200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3035808" y="2724912"/>
            <a:ext cx="1371600" cy="475488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63239" y="2770632"/>
            <a:ext cx="1316736" cy="26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score trace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99815" y="2980944"/>
            <a:ext cx="1243584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in-spec − λ·out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33472" y="3401568"/>
            <a:ext cx="365760" cy="109728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50" name="Rounded Rectangle 49"/>
          <p:cNvSpPr/>
          <p:nvPr/>
        </p:nvSpPr>
        <p:spPr>
          <a:xfrm>
            <a:off x="3035808" y="3291840"/>
            <a:ext cx="1371600" cy="475488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63239" y="3337560"/>
            <a:ext cx="1316736" cy="26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score trace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99815" y="3547872"/>
            <a:ext cx="1243584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in-spec − λ·out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633472" y="3401568"/>
            <a:ext cx="365760" cy="676656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3035808" y="3858768"/>
            <a:ext cx="1371600" cy="475488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63239" y="3904487"/>
            <a:ext cx="1316736" cy="26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score trace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99815" y="4114800"/>
            <a:ext cx="1243584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in-spec − λ·out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4443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A63"/>
                </a:solidFill>
                <a:latin typeface="Times New Roman"/>
              </a:rPr>
              <a:t>⋮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25696" y="2962656"/>
            <a:ext cx="347472" cy="283464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4425696" y="3246120"/>
            <a:ext cx="347472" cy="283464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4425696" y="3246120"/>
            <a:ext cx="347472" cy="850391"/>
          </a:xfrm>
          <a:prstGeom prst="line">
            <a:avLst/>
          </a:prstGeom>
          <a:ln w="1778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61" name="Rounded Rectangle 60"/>
          <p:cNvSpPr/>
          <p:nvPr/>
        </p:nvSpPr>
        <p:spPr>
          <a:xfrm>
            <a:off x="4809744" y="3017520"/>
            <a:ext cx="1298448" cy="713232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37176" y="3063239"/>
            <a:ext cx="1243584" cy="392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rank · fill</a:t>
            </a:r>
          </a:p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token budget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73752" y="3511296"/>
            <a:ext cx="1170431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greedy prefix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126480" y="3364992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6428232" y="3017520"/>
            <a:ext cx="1335024" cy="713232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3063239"/>
            <a:ext cx="1280160" cy="392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SFT student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3511296"/>
            <a:ext cx="1207007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stop when absorbed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781544" y="3364992"/>
            <a:ext cx="274320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69" name="Folded Corner 68"/>
          <p:cNvSpPr/>
          <p:nvPr/>
        </p:nvSpPr>
        <p:spPr>
          <a:xfrm>
            <a:off x="8083296" y="3035808"/>
            <a:ext cx="877824" cy="676656"/>
          </a:xfrm>
          <a:prstGeom prst="foldedCorner">
            <a:avLst/>
          </a:prstGeom>
          <a:solidFill>
            <a:srgbClr val="DDE9F7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01583" y="3122676"/>
            <a:ext cx="84124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candidate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student S₁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979408" y="3364992"/>
            <a:ext cx="256032" cy="0"/>
          </a:xfrm>
          <a:prstGeom prst="line">
            <a:avLst/>
          </a:prstGeom>
          <a:ln w="2286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72" name="Diamond 71"/>
          <p:cNvSpPr/>
          <p:nvPr/>
        </p:nvSpPr>
        <p:spPr>
          <a:xfrm>
            <a:off x="9253728" y="2907792"/>
            <a:ext cx="1225296" cy="914400"/>
          </a:xfrm>
          <a:prstGeom prst="diamond">
            <a:avLst/>
          </a:prstGeom>
          <a:solidFill>
            <a:srgbClr val="FFF0C2"/>
          </a:solidFill>
          <a:ln w="17780">
            <a:solidFill>
              <a:srgbClr val="C9A22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90304" y="312724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certify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two-sided?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42448" y="3108960"/>
            <a:ext cx="457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 i="0">
                <a:solidFill>
                  <a:srgbClr val="779E62"/>
                </a:solidFill>
                <a:latin typeface="Times New Roman"/>
              </a:rPr>
              <a:t>accept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0497312" y="3364992"/>
            <a:ext cx="292608" cy="0"/>
          </a:xfrm>
          <a:prstGeom prst="line">
            <a:avLst/>
          </a:prstGeom>
          <a:ln w="25400">
            <a:solidFill>
              <a:srgbClr val="779E62"/>
            </a:solidFill>
            <a:tailEnd type="triangle" w="med" len="med"/>
          </a:ln>
          <a:effectLst/>
        </p:spPr>
      </p:cxnSp>
      <p:sp>
        <p:nvSpPr>
          <p:cNvPr id="76" name="Folded Corner 75"/>
          <p:cNvSpPr/>
          <p:nvPr/>
        </p:nvSpPr>
        <p:spPr>
          <a:xfrm>
            <a:off x="10817352" y="2962656"/>
            <a:ext cx="1188720" cy="804672"/>
          </a:xfrm>
          <a:prstGeom prst="foldedCorner">
            <a:avLst/>
          </a:prstGeom>
          <a:solidFill>
            <a:srgbClr val="DDE9F7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3113532"/>
            <a:ext cx="1152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deployed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student +</a:t>
            </a:r>
          </a:p>
          <a:p>
            <a:pPr algn="ctr"/>
            <a:r>
              <a:rPr sz="750" b="1" i="0">
                <a:solidFill>
                  <a:srgbClr val="1F1F1E"/>
                </a:solidFill>
                <a:latin typeface="Times New Roman"/>
              </a:rPr>
              <a:t>certificates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3877056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C0504D"/>
                </a:solidFill>
                <a:latin typeface="Times New Roman"/>
              </a:rPr>
              <a:t>reject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8321040" y="3840480"/>
            <a:ext cx="1325880" cy="530352"/>
          </a:xfrm>
          <a:prstGeom prst="line">
            <a:avLst/>
          </a:prstGeom>
          <a:ln w="20320">
            <a:solidFill>
              <a:srgbClr val="C0504D"/>
            </a:solidFill>
            <a:tailEnd type="triangle" w="med" len="med"/>
            <a:prstDash val="dash"/>
          </a:ln>
          <a:effectLst/>
        </p:spPr>
      </p:cxnSp>
      <p:sp>
        <p:nvSpPr>
          <p:cNvPr id="80" name="Rounded Rectangle 79"/>
          <p:cNvSpPr/>
          <p:nvPr/>
        </p:nvSpPr>
        <p:spPr>
          <a:xfrm>
            <a:off x="6903720" y="4224528"/>
            <a:ext cx="1417320" cy="402336"/>
          </a:xfrm>
          <a:prstGeom prst="roundRect">
            <a:avLst>
              <a:gd name="adj" fmla="val 15000"/>
            </a:avLst>
          </a:prstGeom>
          <a:solidFill>
            <a:srgbClr val="F9D6D2"/>
          </a:solidFill>
          <a:ln w="15240">
            <a:solidFill>
              <a:srgbClr val="C0504D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C0504D"/>
                </a:solidFill>
                <a:latin typeface="Times New Roman"/>
              </a:rPr>
              <a:t>tighten λ · re-select</a:t>
            </a:r>
          </a:p>
        </p:txBody>
      </p:sp>
      <p:cxnSp>
        <p:nvCxnSpPr>
          <p:cNvPr id="81" name="Connector 80"/>
          <p:cNvCxnSpPr/>
          <p:nvPr/>
        </p:nvCxnSpPr>
        <p:spPr>
          <a:xfrm flipH="1" flipV="1">
            <a:off x="3749039" y="3931920"/>
            <a:ext cx="3127249" cy="475488"/>
          </a:xfrm>
          <a:prstGeom prst="line">
            <a:avLst/>
          </a:prstGeom>
          <a:ln w="20320">
            <a:solidFill>
              <a:srgbClr val="C0504D"/>
            </a:solidFill>
            <a:tailEnd type="triangle" w="med" len="med"/>
            <a:prstDash val="dash"/>
          </a:ln>
          <a:effectLst/>
        </p:spPr>
      </p:cxnSp>
      <p:sp>
        <p:nvSpPr>
          <p:cNvPr id="82" name="TextBox 81"/>
          <p:cNvSpPr txBox="1"/>
          <p:nvPr/>
        </p:nvSpPr>
        <p:spPr>
          <a:xfrm>
            <a:off x="3931920" y="6144768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 i="0">
                <a:solidFill>
                  <a:srgbClr val="C9A22A"/>
                </a:solidFill>
                <a:latin typeface="Times New Roman"/>
              </a:rPr>
              <a:t>τ from calibration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4846320"/>
            <a:ext cx="11777472" cy="1572768"/>
          </a:xfrm>
          <a:prstGeom prst="roundRect">
            <a:avLst>
              <a:gd name="adj" fmla="val 5000"/>
            </a:avLst>
          </a:prstGeom>
          <a:solidFill>
            <a:srgbClr val="ECF6F5"/>
          </a:solidFill>
          <a:ln w="20320">
            <a:solidFill>
              <a:srgbClr val="2E9E97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4937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E9E97"/>
                </a:solidFill>
                <a:latin typeface="Times New Roman"/>
              </a:rPr>
              <a:t>DEPLOYMENT-TIME ROUTING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5349240"/>
            <a:ext cx="1188720" cy="502920"/>
          </a:xfrm>
          <a:prstGeom prst="roundRect">
            <a:avLst>
              <a:gd name="adj" fmla="val 25000"/>
            </a:avLst>
          </a:prstGeom>
          <a:solidFill>
            <a:srgbClr val="DDE9F7"/>
          </a:solidFill>
          <a:ln w="1397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53949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4C72B0"/>
                </a:solidFill>
                <a:latin typeface="Times New Roman"/>
              </a:rPr>
              <a:t>"Avg dues</a:t>
            </a:r>
          </a:p>
          <a:p>
            <a:pPr algn="l"/>
            <a:r>
              <a:rPr sz="700" b="0" i="0">
                <a:solidFill>
                  <a:srgbClr val="4C72B0"/>
                </a:solidFill>
                <a:latin typeface="Times New Roman"/>
              </a:rPr>
              <a:t>per club?"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02920" y="5925312"/>
            <a:ext cx="1188720" cy="438912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3970">
            <a:solidFill>
              <a:srgbClr val="DD84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596188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DD8452"/>
                </a:solidFill>
                <a:latin typeface="Times New Roman"/>
              </a:rPr>
              <a:t>"Plot a chart"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719072" y="5596128"/>
            <a:ext cx="384048" cy="0"/>
          </a:xfrm>
          <a:prstGeom prst="line">
            <a:avLst/>
          </a:prstGeom>
          <a:ln w="20320">
            <a:solidFill>
              <a:srgbClr val="8C8C8C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719072" y="6126480"/>
            <a:ext cx="384048" cy="0"/>
          </a:xfrm>
          <a:prstGeom prst="line">
            <a:avLst/>
          </a:prstGeom>
          <a:ln w="2032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2139696" y="5440680"/>
            <a:ext cx="1463040" cy="621792"/>
          </a:xfrm>
          <a:prstGeom prst="roundRect">
            <a:avLst>
              <a:gd name="adj" fmla="val 12000"/>
            </a:avLst>
          </a:prstGeom>
          <a:solidFill>
            <a:srgbClr val="E6DCEF"/>
          </a:solidFill>
          <a:ln w="16510">
            <a:solidFill>
              <a:srgbClr val="8E6B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167127" y="5486400"/>
            <a:ext cx="1408176" cy="3419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conformal score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203703" y="5843016"/>
            <a:ext cx="1335024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8E6BA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0" i="0">
                <a:solidFill>
                  <a:srgbClr val="6B6A63"/>
                </a:solidFill>
                <a:latin typeface="Times New Roman"/>
              </a:rPr>
              <a:t>one backward pass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621024" y="5742432"/>
            <a:ext cx="356615" cy="0"/>
          </a:xfrm>
          <a:prstGeom prst="line">
            <a:avLst/>
          </a:prstGeom>
          <a:ln w="20320">
            <a:solidFill>
              <a:srgbClr val="8C8C8C"/>
            </a:solidFill>
            <a:tailEnd type="triangle" w="med" len="med"/>
          </a:ln>
          <a:effectLst/>
        </p:spPr>
      </p:cxnSp>
      <p:sp>
        <p:nvSpPr>
          <p:cNvPr id="95" name="Diamond 94"/>
          <p:cNvSpPr/>
          <p:nvPr/>
        </p:nvSpPr>
        <p:spPr>
          <a:xfrm>
            <a:off x="4005072" y="5413248"/>
            <a:ext cx="1051560" cy="713232"/>
          </a:xfrm>
          <a:prstGeom prst="diamond">
            <a:avLst/>
          </a:prstGeom>
          <a:solidFill>
            <a:srgbClr val="FFF0C2"/>
          </a:solidFill>
          <a:ln w="16510">
            <a:solidFill>
              <a:srgbClr val="C9A22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23360" y="56327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≤ τ 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535838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779E62"/>
                </a:solidFill>
                <a:latin typeface="Times New Roman"/>
              </a:rPr>
              <a:t>yes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074920" y="5596128"/>
            <a:ext cx="365760" cy="0"/>
          </a:xfrm>
          <a:prstGeom prst="line">
            <a:avLst/>
          </a:prstGeom>
          <a:ln w="25400">
            <a:solidFill>
              <a:srgbClr val="779E62"/>
            </a:solidFill>
            <a:tailEnd type="triangle" w="med" len="med"/>
          </a:ln>
          <a:effectLst/>
        </p:spPr>
      </p:cxnSp>
      <p:sp>
        <p:nvSpPr>
          <p:cNvPr id="99" name="Rounded Rectangle 98"/>
          <p:cNvSpPr/>
          <p:nvPr/>
        </p:nvSpPr>
        <p:spPr>
          <a:xfrm>
            <a:off x="5468112" y="5349240"/>
            <a:ext cx="1417320" cy="502920"/>
          </a:xfrm>
          <a:prstGeom prst="roundRect">
            <a:avLst>
              <a:gd name="adj" fmla="val 15000"/>
            </a:avLst>
          </a:prstGeom>
          <a:solidFill>
            <a:srgbClr val="E3EFDA"/>
          </a:solidFill>
          <a:ln w="16510">
            <a:solidFill>
              <a:srgbClr val="779E6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1F1F1E"/>
                </a:solidFill>
                <a:latin typeface="Times New Roman"/>
              </a:rPr>
              <a:t>→ student agent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10912" y="616305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C0504D"/>
                </a:solidFill>
                <a:latin typeface="Times New Roman"/>
              </a:rPr>
              <a:t>no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5074920" y="5989320"/>
            <a:ext cx="365760" cy="118872"/>
          </a:xfrm>
          <a:prstGeom prst="line">
            <a:avLst/>
          </a:prstGeom>
          <a:ln w="25400">
            <a:solidFill>
              <a:srgbClr val="C0504D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5468112" y="5907024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F9D6D2"/>
          </a:solidFill>
          <a:ln w="16510">
            <a:solidFill>
              <a:srgbClr val="C0504D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C0504D"/>
                </a:solidFill>
                <a:latin typeface="Times New Roman"/>
              </a:rPr>
              <a:t>refuse · escalate to teacher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9520" y="5349240"/>
            <a:ext cx="2011680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coverage LB 0.93 (in-task)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589520" y="5888736"/>
            <a:ext cx="2011680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1F1F1E"/>
                </a:solidFill>
                <a:latin typeface="Times New Roman"/>
              </a:rPr>
              <a:t>leakage UB 0.25 (off-task)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92640" y="539496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Clopper-Pearson bounds from</a:t>
            </a:r>
          </a:p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behavioral evaluation only —</a:t>
            </a:r>
          </a:p>
          <a:p>
            <a:pPr algn="l"/>
            <a:r>
              <a:rPr sz="800" b="0" i="0">
                <a:solidFill>
                  <a:srgbClr val="6B6A63"/>
                </a:solidFill>
                <a:latin typeface="Times New Roman"/>
              </a:rPr>
              <a:t>no benchmark-specific tuning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1292840" y="3785615"/>
            <a:ext cx="64008" cy="1042417"/>
          </a:xfrm>
          <a:prstGeom prst="line">
            <a:avLst/>
          </a:prstGeom>
          <a:ln w="20320">
            <a:solidFill>
              <a:srgbClr val="8C8C8C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