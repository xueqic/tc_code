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384048"/>
            <a:ext cx="2423160" cy="60350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65176" y="512064"/>
            <a:ext cx="2167128" cy="512064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Gradient Fingerprints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61488" y="384048"/>
            <a:ext cx="2423160" cy="60350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9504" y="512064"/>
            <a:ext cx="2167128" cy="512064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Capability Atoms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85816" y="384048"/>
            <a:ext cx="3840480" cy="60350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13831" y="512064"/>
            <a:ext cx="3584448" cy="512064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Market-Clearing 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7464" y="384048"/>
            <a:ext cx="2651760" cy="60350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55480" y="512064"/>
            <a:ext cx="2395728" cy="512064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Certified Agent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32888" y="3063240"/>
            <a:ext cx="329184" cy="56692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157216" y="3063240"/>
            <a:ext cx="329184" cy="56692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9198864" y="3063240"/>
            <a:ext cx="329184" cy="56692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63040"/>
            <a:ext cx="1691640" cy="118872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1F1E"/>
                </a:solidFill>
                <a:latin typeface="Times New Roman"/>
              </a:rPr>
              <a:t>"How many members</a:t>
            </a:r>
          </a:p>
          <a:p>
            <a:pPr algn="l"/>
            <a:r>
              <a:rPr sz="1000" b="0" i="0">
                <a:solidFill>
                  <a:srgbClr val="1F1F1E"/>
                </a:solidFill>
                <a:latin typeface="Times New Roman"/>
              </a:rPr>
              <a:t>does each club</a:t>
            </a:r>
          </a:p>
          <a:p>
            <a:pPr algn="l"/>
            <a:r>
              <a:rPr sz="1000" b="0" i="0">
                <a:solidFill>
                  <a:srgbClr val="1F1F1E"/>
                </a:solidFill>
                <a:latin typeface="Times New Roman"/>
              </a:rPr>
              <a:t>have?"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261872" y="2834640"/>
            <a:ext cx="164592" cy="502920"/>
          </a:xfrm>
          <a:prstGeom prst="downArrow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4015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C72B0"/>
                </a:solidFill>
                <a:latin typeface="Times New Roman"/>
              </a:rPr>
              <a:t>one backward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1268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33856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66444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99031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31619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64207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796795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9384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061972" y="3977639"/>
            <a:ext cx="100584" cy="100584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3858768"/>
            <a:ext cx="1755648" cy="1261872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53035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6A63"/>
                </a:solidFill>
                <a:latin typeface="Times New Roman"/>
              </a:rPr>
              <a:t>what must be learned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71216" y="11704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6A63"/>
                </a:solidFill>
                <a:latin typeface="Times New Roman"/>
              </a:rPr>
              <a:t>recurring skills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4368" y="1572768"/>
            <a:ext cx="1078992" cy="420624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33087" y="162763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160520" y="1655064"/>
            <a:ext cx="790773" cy="256032"/>
          </a:xfrm>
          <a:prstGeom prst="roundRect">
            <a:avLst>
              <a:gd name="adj" fmla="val 2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44368" y="2532888"/>
            <a:ext cx="1078992" cy="420624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33087" y="258775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60520" y="2615184"/>
            <a:ext cx="515721" cy="256032"/>
          </a:xfrm>
          <a:prstGeom prst="roundRect">
            <a:avLst>
              <a:gd name="adj" fmla="val 20000"/>
            </a:avLst>
          </a:prstGeom>
          <a:solidFill>
            <a:srgbClr val="7BA7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944368" y="3493008"/>
            <a:ext cx="1078992" cy="420624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33087" y="354787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60520" y="3575304"/>
            <a:ext cx="300837" cy="256032"/>
          </a:xfrm>
          <a:prstGeom prst="roundRect">
            <a:avLst>
              <a:gd name="adj" fmla="val 20000"/>
            </a:avLst>
          </a:prstGeom>
          <a:solidFill>
            <a:srgbClr val="5F9E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944368" y="4453128"/>
            <a:ext cx="1078992" cy="420624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33087" y="450799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33087" y="4507992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A63"/>
                </a:solidFill>
                <a:latin typeface="Times New Roman"/>
              </a:rPr>
              <a:t>not needed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48640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C72B0"/>
                </a:solidFill>
                <a:latin typeface="Times New Roman"/>
              </a:rPr>
              <a:t>demand ledger</a:t>
            </a:r>
          </a:p>
          <a:p>
            <a:pPr algn="ctr"/>
            <a:r>
              <a:rPr sz="1100" b="1" i="0">
                <a:solidFill>
                  <a:srgbClr val="4C72B0"/>
                </a:solidFill>
                <a:latin typeface="Times New Roman"/>
              </a:rPr>
              <a:t>(read from the k queries)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1152144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1F1E"/>
                </a:solidFill>
                <a:latin typeface="Times New Roman"/>
              </a:rPr>
              <a:t>each pick satisfies the most remaining demand per token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77840" y="1627632"/>
            <a:ext cx="1463040" cy="74980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170078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F1F1E"/>
                </a:solidFill>
                <a:latin typeface="Times New Roman"/>
              </a:rPr>
              <a:t>SELECT … JOIN 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0" y="2029968"/>
            <a:ext cx="804672" cy="256032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77456" y="1993392"/>
            <a:ext cx="493775" cy="384048"/>
          </a:xfrm>
          <a:prstGeom prst="line">
            <a:avLst/>
          </a:prstGeom>
          <a:ln w="33020">
            <a:solidFill>
              <a:srgbClr val="4C72B0"/>
            </a:solidFill>
            <a:tailEnd type="triangle" w="med" len="med"/>
          </a:ln>
          <a:effectLst/>
        </p:spPr>
      </p:cxnSp>
      <p:sp>
        <p:nvSpPr>
          <p:cNvPr id="50" name="Rounded Rectangle 49"/>
          <p:cNvSpPr/>
          <p:nvPr/>
        </p:nvSpPr>
        <p:spPr>
          <a:xfrm>
            <a:off x="5577840" y="2560320"/>
            <a:ext cx="1463040" cy="74980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0" y="26334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F1F1E"/>
                </a:solidFill>
                <a:latin typeface="Times New Roman"/>
              </a:rPr>
              <a:t>df.groupby(…)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0" y="2962656"/>
            <a:ext cx="804672" cy="256032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7077456" y="2697480"/>
            <a:ext cx="493775" cy="228599"/>
          </a:xfrm>
          <a:prstGeom prst="line">
            <a:avLst/>
          </a:prstGeom>
          <a:ln w="33020">
            <a:solidFill>
              <a:srgbClr val="4C72B0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5577840" y="3493008"/>
            <a:ext cx="1463040" cy="749808"/>
          </a:xfrm>
          <a:prstGeom prst="roundRect">
            <a:avLst>
              <a:gd name="adj" fmla="val 25000"/>
            </a:avLst>
          </a:prstGeom>
          <a:solidFill>
            <a:srgbClr val="E8E6E1"/>
          </a:solidFill>
          <a:ln w="1651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3566160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F1F1E"/>
                </a:solidFill>
                <a:latin typeface="Times New Roman"/>
              </a:rPr>
              <a:t>plt.plot(…)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0" y="3895344"/>
            <a:ext cx="804672" cy="256032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1270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5522976" y="3447288"/>
            <a:ext cx="1591056" cy="850392"/>
          </a:xfrm>
          <a:prstGeom prst="line">
            <a:avLst/>
          </a:prstGeom>
          <a:ln w="30480">
            <a:solidFill>
              <a:srgbClr val="C44E52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5577840" y="448056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C44E52"/>
                </a:solidFill>
                <a:latin typeface="Times New Roman"/>
              </a:rPr>
              <a:t>zero remaining demand</a:t>
            </a:r>
          </a:p>
          <a:p>
            <a:pPr algn="ctr"/>
            <a:r>
              <a:rPr sz="900" b="1" i="0">
                <a:solidFill>
                  <a:srgbClr val="C44E52"/>
                </a:solidFill>
                <a:latin typeface="Times New Roman"/>
              </a:rPr>
              <a:t>= zero value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14813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C72B0"/>
                </a:solidFill>
                <a:latin typeface="Times New Roman"/>
              </a:rPr>
              <a:t>ledger drains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35240" y="182880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62672" y="1856231"/>
            <a:ext cx="1169334" cy="219456"/>
          </a:xfrm>
          <a:prstGeom prst="roundRect">
            <a:avLst>
              <a:gd name="adj" fmla="val 2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635240" y="2212848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662672" y="2240280"/>
            <a:ext cx="190652" cy="219456"/>
          </a:xfrm>
          <a:prstGeom prst="roundRect">
            <a:avLst>
              <a:gd name="adj" fmla="val 2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635240" y="272491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662672" y="2752344"/>
            <a:ext cx="762609" cy="219456"/>
          </a:xfrm>
          <a:prstGeom prst="roundRect">
            <a:avLst>
              <a:gd name="adj" fmla="val 20000"/>
            </a:avLst>
          </a:prstGeom>
          <a:solidFill>
            <a:srgbClr val="7BA7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635240" y="310896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62672" y="3136392"/>
            <a:ext cx="127101" cy="219456"/>
          </a:xfrm>
          <a:prstGeom prst="roundRect">
            <a:avLst>
              <a:gd name="adj" fmla="val 20000"/>
            </a:avLst>
          </a:prstGeom>
          <a:solidFill>
            <a:srgbClr val="7BA7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35240" y="3621024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662672" y="3648456"/>
            <a:ext cx="444855" cy="219456"/>
          </a:xfrm>
          <a:prstGeom prst="roundRect">
            <a:avLst>
              <a:gd name="adj" fmla="val 20000"/>
            </a:avLst>
          </a:prstGeom>
          <a:solidFill>
            <a:srgbClr val="5F9E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635240" y="400507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62672" y="4032504"/>
            <a:ext cx="63550" cy="219456"/>
          </a:xfrm>
          <a:prstGeom prst="roundRect">
            <a:avLst>
              <a:gd name="adj" fmla="val 20000"/>
            </a:avLst>
          </a:prstGeom>
          <a:solidFill>
            <a:srgbClr val="5F9E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35240" y="4480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before / after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5074920"/>
            <a:ext cx="3337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660136" y="512064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23560" y="55412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C72B0"/>
                </a:solidFill>
                <a:latin typeface="Times New Roman"/>
              </a:rPr>
              <a:t>budget spent only inside the ledger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60" y="1691640"/>
            <a:ext cx="1188720" cy="91440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50347" y="1563624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515600" y="1472184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306202" y="201625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734141" y="201625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394899" y="2258568"/>
            <a:ext cx="332841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646920" y="264261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1F1E"/>
                </a:solidFill>
                <a:latin typeface="Times New Roman"/>
              </a:rPr>
              <a:t>Student Agent</a:t>
            </a:r>
          </a:p>
        </p:txBody>
      </p:sp>
      <p:sp>
        <p:nvSpPr>
          <p:cNvPr id="83" name="Oval 82"/>
          <p:cNvSpPr/>
          <p:nvPr/>
        </p:nvSpPr>
        <p:spPr>
          <a:xfrm>
            <a:off x="10058400" y="3429000"/>
            <a:ext cx="1234440" cy="1234440"/>
          </a:xfrm>
          <a:prstGeom prst="ellipse">
            <a:avLst/>
          </a:prstGeom>
          <a:solidFill>
            <a:srgbClr val="55A868"/>
          </a:solidFill>
          <a:ln w="279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058400" y="3749039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</a:rPr>
              <a:t>CERTIFIED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404164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20"/>
            <a:ext cx="24688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1F1E"/>
                </a:solidFill>
                <a:latin typeface="Times New Roman"/>
              </a:rPr>
              <a:t>in-task ≥ 0.93</a:t>
            </a:r>
          </a:p>
          <a:p>
            <a:pPr algn="ctr"/>
            <a:r>
              <a:rPr sz="1250" b="1" i="0">
                <a:solidFill>
                  <a:srgbClr val="1F1F1E"/>
                </a:solidFill>
                <a:latin typeface="Times New Roman"/>
              </a:rPr>
              <a:t>off-task ≤ 0.25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28048" y="559612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conformal gate routes live requests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