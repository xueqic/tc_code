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8600" y="201168"/>
            <a:ext cx="310896" cy="310896"/>
          </a:xfrm>
          <a:prstGeom prst="ellipse">
            <a:avLst/>
          </a:prstGeom>
          <a:solidFill>
            <a:srgbClr val="1F1F1E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7" y="219456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1F1E"/>
                </a:solidFill>
                <a:latin typeface="Times New Roman"/>
              </a:rPr>
              <a:t>What must a student learn?</a:t>
            </a:r>
          </a:p>
        </p:txBody>
      </p:sp>
      <p:sp>
        <p:nvSpPr>
          <p:cNvPr id="4" name="Oval 3"/>
          <p:cNvSpPr/>
          <p:nvPr/>
        </p:nvSpPr>
        <p:spPr>
          <a:xfrm>
            <a:off x="3291840" y="201168"/>
            <a:ext cx="310896" cy="310896"/>
          </a:xfrm>
          <a:prstGeom prst="ellipse">
            <a:avLst/>
          </a:prstGeom>
          <a:solidFill>
            <a:srgbClr val="1F1F1E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5888" y="219456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1F1E"/>
                </a:solidFill>
                <a:latin typeface="Times New Roman"/>
              </a:rPr>
              <a:t>A library of skill atoms</a:t>
            </a:r>
          </a:p>
        </p:txBody>
      </p:sp>
      <p:sp>
        <p:nvSpPr>
          <p:cNvPr id="6" name="Oval 5"/>
          <p:cNvSpPr/>
          <p:nvPr/>
        </p:nvSpPr>
        <p:spPr>
          <a:xfrm>
            <a:off x="6309360" y="201168"/>
            <a:ext cx="310896" cy="310896"/>
          </a:xfrm>
          <a:prstGeom prst="ellipse">
            <a:avLst/>
          </a:prstGeom>
          <a:solidFill>
            <a:srgbClr val="1F1F1E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93408" y="219456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1F1E"/>
                </a:solidFill>
                <a:latin typeface="Times New Roman"/>
              </a:rPr>
              <a:t>Distill exactly to spec</a:t>
            </a:r>
          </a:p>
        </p:txBody>
      </p:sp>
      <p:sp>
        <p:nvSpPr>
          <p:cNvPr id="8" name="Oval 7"/>
          <p:cNvSpPr/>
          <p:nvPr/>
        </p:nvSpPr>
        <p:spPr>
          <a:xfrm>
            <a:off x="9281160" y="201168"/>
            <a:ext cx="310896" cy="310896"/>
          </a:xfrm>
          <a:prstGeom prst="ellipse">
            <a:avLst/>
          </a:prstGeom>
          <a:solidFill>
            <a:srgbClr val="1F1F1E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65208" y="219456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1F1E"/>
                </a:solidFill>
                <a:latin typeface="Times New Roman"/>
              </a:rPr>
              <a:t>Certified deployment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" y="2487168"/>
            <a:ext cx="1298448" cy="877824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270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0896" y="2569464"/>
            <a:ext cx="1298448" cy="877824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270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3192" y="2651760"/>
            <a:ext cx="1298448" cy="877824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270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2194560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6B6A63"/>
                </a:solidFill>
                <a:latin typeface="Times New Roman"/>
              </a:rPr>
              <a:t>k example queries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" y="2761488"/>
            <a:ext cx="117043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1F1F1E"/>
                </a:solidFill>
                <a:latin typeface="Times New Roman"/>
              </a:rPr>
              <a:t>"How many members</a:t>
            </a:r>
          </a:p>
          <a:p>
            <a:pPr algn="l"/>
            <a:r>
              <a:rPr sz="750" b="0" i="0">
                <a:solidFill>
                  <a:srgbClr val="1F1F1E"/>
                </a:solidFill>
                <a:latin typeface="Times New Roman"/>
              </a:rPr>
              <a:t>per club?"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21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6B6A63"/>
                </a:solidFill>
                <a:latin typeface="Times New Roman"/>
              </a:rPr>
              <a:t>×k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719072" y="2734056"/>
            <a:ext cx="786384" cy="566928"/>
          </a:xfrm>
          <a:prstGeom prst="rightArrow">
            <a:avLst>
              <a:gd name="adj1" fmla="val 62000"/>
              <a:gd name="adj2" fmla="val 42000"/>
            </a:avLst>
          </a:prstGeom>
          <a:solidFill>
            <a:srgbClr val="8C8C8C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750" b="1" i="0">
                <a:solidFill>
                  <a:srgbClr val="FFFFFF"/>
                </a:solidFill>
                <a:latin typeface="Times New Roman"/>
              </a:rPr>
              <a:t>backward</a:t>
            </a:r>
          </a:p>
          <a:p>
            <a:pPr algn="ctr"/>
            <a:r>
              <a:rPr sz="750" b="1" i="0">
                <a:solidFill>
                  <a:srgbClr val="FFFFFF"/>
                </a:solidFill>
                <a:latin typeface="Times New Roman"/>
              </a:rPr>
              <a:t>pass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60320" y="2212848"/>
            <a:ext cx="1444752" cy="162763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397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670048" y="2395728"/>
            <a:ext cx="237744" cy="310896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016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999232" y="2441448"/>
            <a:ext cx="219456" cy="219456"/>
          </a:xfrm>
          <a:prstGeom prst="roundRect">
            <a:avLst>
              <a:gd name="adj" fmla="val 30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246120" y="2441448"/>
            <a:ext cx="219456" cy="219456"/>
          </a:xfrm>
          <a:prstGeom prst="roundRect">
            <a:avLst>
              <a:gd name="adj" fmla="val 30000"/>
            </a:avLst>
          </a:prstGeom>
          <a:solidFill>
            <a:srgbClr val="5F9EA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93008" y="2441448"/>
            <a:ext cx="219456" cy="219456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739896" y="2441448"/>
            <a:ext cx="219456" cy="219456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670048" y="2852928"/>
            <a:ext cx="237744" cy="310896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016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999232" y="2898648"/>
            <a:ext cx="219456" cy="219456"/>
          </a:xfrm>
          <a:prstGeom prst="roundRect">
            <a:avLst>
              <a:gd name="adj" fmla="val 30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246120" y="2898648"/>
            <a:ext cx="219456" cy="219456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493008" y="2898648"/>
            <a:ext cx="219456" cy="219456"/>
          </a:xfrm>
          <a:prstGeom prst="roundRect">
            <a:avLst>
              <a:gd name="adj" fmla="val 30000"/>
            </a:avLst>
          </a:prstGeom>
          <a:solidFill>
            <a:srgbClr val="7BA7D7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739896" y="2898648"/>
            <a:ext cx="219456" cy="219456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670048" y="3310128"/>
            <a:ext cx="237744" cy="310896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016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999232" y="3355848"/>
            <a:ext cx="219456" cy="219456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46120" y="3355848"/>
            <a:ext cx="219456" cy="219456"/>
          </a:xfrm>
          <a:prstGeom prst="roundRect">
            <a:avLst>
              <a:gd name="adj" fmla="val 30000"/>
            </a:avLst>
          </a:prstGeom>
          <a:solidFill>
            <a:srgbClr val="5F9EA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493008" y="3355848"/>
            <a:ext cx="219456" cy="219456"/>
          </a:xfrm>
          <a:prstGeom prst="roundRect">
            <a:avLst>
              <a:gd name="adj" fmla="val 30000"/>
            </a:avLst>
          </a:prstGeom>
          <a:solidFill>
            <a:srgbClr val="7BA7D7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739896" y="3355848"/>
            <a:ext cx="219456" cy="219456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87168" y="3913632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4C72B0"/>
                </a:solidFill>
                <a:latin typeface="Times New Roman"/>
              </a:rPr>
              <a:t>needed skills light up (blue)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4059936" y="2734056"/>
            <a:ext cx="731520" cy="566928"/>
          </a:xfrm>
          <a:prstGeom prst="rightArrow">
            <a:avLst>
              <a:gd name="adj1" fmla="val 62000"/>
              <a:gd name="adj2" fmla="val 42000"/>
            </a:avLst>
          </a:prstGeom>
          <a:solidFill>
            <a:srgbClr val="8C8C8C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750" b="1" i="0">
                <a:solidFill>
                  <a:srgbClr val="FFFFFF"/>
                </a:solidFill>
                <a:latin typeface="Times New Roman"/>
              </a:rPr>
              <a:t>sparse</a:t>
            </a:r>
          </a:p>
          <a:p>
            <a:pPr algn="ctr"/>
            <a:r>
              <a:rPr sz="750" b="1" i="0">
                <a:solidFill>
                  <a:srgbClr val="FFFFFF"/>
                </a:solidFill>
                <a:latin typeface="Times New Roman"/>
              </a:rPr>
              <a:t>dictionary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846320" y="1901952"/>
            <a:ext cx="1719072" cy="20482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397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01768" y="208483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960620" y="2043684"/>
            <a:ext cx="320040" cy="320040"/>
          </a:xfrm>
          <a:prstGeom prst="roundRect">
            <a:avLst>
              <a:gd name="adj" fmla="val 25000"/>
            </a:avLst>
          </a:prstGeom>
          <a:noFill/>
          <a:ln w="15240">
            <a:solidFill>
              <a:srgbClr val="4C72B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294376" y="208483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586983" y="208483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DD8452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879592" y="208483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172200" y="208483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5F9EA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31052" y="2043684"/>
            <a:ext cx="320040" cy="320040"/>
          </a:xfrm>
          <a:prstGeom prst="roundRect">
            <a:avLst>
              <a:gd name="adj" fmla="val 25000"/>
            </a:avLst>
          </a:prstGeom>
          <a:noFill/>
          <a:ln w="15240">
            <a:solidFill>
              <a:srgbClr val="4C72B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01768" y="2633472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294376" y="2633472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7BA7D7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253228" y="2592324"/>
            <a:ext cx="320040" cy="320040"/>
          </a:xfrm>
          <a:prstGeom prst="roundRect">
            <a:avLst>
              <a:gd name="adj" fmla="val 25000"/>
            </a:avLst>
          </a:prstGeom>
          <a:noFill/>
          <a:ln w="15240">
            <a:solidFill>
              <a:srgbClr val="4C72B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586983" y="2633472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879592" y="2633472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C44E52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72200" y="2633472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001768" y="318211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DD8452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294376" y="318211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586983" y="318211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545836" y="3140963"/>
            <a:ext cx="320040" cy="320040"/>
          </a:xfrm>
          <a:prstGeom prst="roundRect">
            <a:avLst>
              <a:gd name="adj" fmla="val 25000"/>
            </a:avLst>
          </a:prstGeom>
          <a:noFill/>
          <a:ln w="15240">
            <a:solidFill>
              <a:srgbClr val="4C72B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879592" y="318211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172200" y="318211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5F9EA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131052" y="3140963"/>
            <a:ext cx="320040" cy="320040"/>
          </a:xfrm>
          <a:prstGeom prst="roundRect">
            <a:avLst>
              <a:gd name="adj" fmla="val 25000"/>
            </a:avLst>
          </a:prstGeom>
          <a:noFill/>
          <a:ln w="15240">
            <a:solidFill>
              <a:srgbClr val="4C72B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46320" y="164592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A63"/>
                </a:solidFill>
                <a:latin typeface="Times New Roman"/>
              </a:rPr>
              <a:t>skill atom library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44768" y="181051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1F1F1E"/>
                </a:solidFill>
                <a:latin typeface="Times New Roman"/>
              </a:rPr>
              <a:t>▸ fires on JOIN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81728" y="4059936"/>
            <a:ext cx="2048256" cy="475488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16510">
            <a:solidFill>
              <a:srgbClr val="4C72B0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50" b="1" i="0">
                <a:solidFill>
                  <a:srgbClr val="4C72B0"/>
                </a:solidFill>
                <a:latin typeface="Times New Roman"/>
              </a:rPr>
              <a:t>specification = the atoms</a:t>
            </a:r>
          </a:p>
          <a:p>
            <a:pPr algn="ctr"/>
            <a:r>
              <a:rPr sz="850" b="1" i="0">
                <a:solidFill>
                  <a:srgbClr val="4C72B0"/>
                </a:solidFill>
                <a:latin typeface="Times New Roman"/>
              </a:rPr>
              <a:t>your k queries need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6620256" y="2734056"/>
            <a:ext cx="713232" cy="566928"/>
          </a:xfrm>
          <a:prstGeom prst="rightArrow">
            <a:avLst>
              <a:gd name="adj1" fmla="val 62000"/>
              <a:gd name="adj2" fmla="val 42000"/>
            </a:avLst>
          </a:prstGeom>
          <a:solidFill>
            <a:srgbClr val="8C8C8C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750" b="1" i="0">
                <a:solidFill>
                  <a:srgbClr val="FFFFFF"/>
                </a:solidFill>
                <a:latin typeface="Times New Roman"/>
              </a:rPr>
              <a:t>score by</a:t>
            </a:r>
          </a:p>
          <a:p>
            <a:pPr algn="ctr"/>
            <a:r>
              <a:rPr sz="750" b="1" i="0">
                <a:solidFill>
                  <a:srgbClr val="FFFFFF"/>
                </a:solidFill>
                <a:latin typeface="Times New Roman"/>
              </a:rPr>
              <a:t>supply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562088" y="987551"/>
            <a:ext cx="822960" cy="621792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962595" y="859535"/>
            <a:ext cx="2194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927848" y="768095"/>
            <a:ext cx="91440" cy="91440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784287" y="1195120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080552" y="1195120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858353" y="1373063"/>
            <a:ext cx="230428" cy="27432"/>
          </a:xfrm>
          <a:prstGeom prst="roundRect">
            <a:avLst>
              <a:gd name="adj" fmla="val 5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242048" y="16459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1F1F1E"/>
                </a:solidFill>
                <a:latin typeface="Times New Roman"/>
              </a:rPr>
              <a:t>Teacher LLM</a:t>
            </a:r>
          </a:p>
        </p:txBody>
      </p:sp>
      <p:sp>
        <p:nvSpPr>
          <p:cNvPr id="67" name="Down Arrow 66"/>
          <p:cNvSpPr/>
          <p:nvPr/>
        </p:nvSpPr>
        <p:spPr>
          <a:xfrm>
            <a:off x="7909560" y="1810512"/>
            <a:ext cx="128016" cy="384048"/>
          </a:xfrm>
          <a:prstGeom prst="downArrow">
            <a:avLst/>
          </a:prstGeom>
          <a:solidFill>
            <a:srgbClr val="8C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83296" y="187451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B6A63"/>
                </a:solidFill>
                <a:latin typeface="Times New Roman"/>
              </a:rPr>
              <a:t>traces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388352" y="2267712"/>
            <a:ext cx="1152144" cy="438912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524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488936" y="2377440"/>
            <a:ext cx="219456" cy="219456"/>
          </a:xfrm>
          <a:prstGeom prst="roundRect">
            <a:avLst>
              <a:gd name="adj" fmla="val 30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744967" y="2377440"/>
            <a:ext cx="219456" cy="219456"/>
          </a:xfrm>
          <a:prstGeom prst="roundRect">
            <a:avLst>
              <a:gd name="adj" fmla="val 30000"/>
            </a:avLst>
          </a:prstGeom>
          <a:solidFill>
            <a:srgbClr val="5F9EA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8001000" y="2377440"/>
            <a:ext cx="219456" cy="219456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388352" y="2816352"/>
            <a:ext cx="1152144" cy="438912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524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488936" y="2926080"/>
            <a:ext cx="219456" cy="219456"/>
          </a:xfrm>
          <a:prstGeom prst="roundRect">
            <a:avLst>
              <a:gd name="adj" fmla="val 30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744967" y="2926080"/>
            <a:ext cx="219456" cy="219456"/>
          </a:xfrm>
          <a:prstGeom prst="roundRect">
            <a:avLst>
              <a:gd name="adj" fmla="val 30000"/>
            </a:avLst>
          </a:prstGeom>
          <a:solidFill>
            <a:srgbClr val="7BA7D7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8001000" y="2926080"/>
            <a:ext cx="219456" cy="219456"/>
          </a:xfrm>
          <a:prstGeom prst="roundRect">
            <a:avLst>
              <a:gd name="adj" fmla="val 30000"/>
            </a:avLst>
          </a:prstGeom>
          <a:solidFill>
            <a:srgbClr val="5F9EA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388352" y="3364991"/>
            <a:ext cx="1152144" cy="438912"/>
          </a:xfrm>
          <a:prstGeom prst="roundRect">
            <a:avLst>
              <a:gd name="adj" fmla="val 25000"/>
            </a:avLst>
          </a:prstGeom>
          <a:solidFill>
            <a:srgbClr val="E8E6E1"/>
          </a:solidFill>
          <a:ln w="1524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7488936" y="3474720"/>
            <a:ext cx="219456" cy="219456"/>
          </a:xfrm>
          <a:prstGeom prst="roundRect">
            <a:avLst>
              <a:gd name="adj" fmla="val 30000"/>
            </a:avLst>
          </a:prstGeom>
          <a:solidFill>
            <a:srgbClr val="DD8452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7744967" y="3474720"/>
            <a:ext cx="219456" cy="219456"/>
          </a:xfrm>
          <a:prstGeom prst="roundRect">
            <a:avLst>
              <a:gd name="adj" fmla="val 30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8001000" y="3474720"/>
            <a:ext cx="219456" cy="219456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 flipV="1">
            <a:off x="7315200" y="3328415"/>
            <a:ext cx="1298448" cy="512064"/>
          </a:xfrm>
          <a:prstGeom prst="line">
            <a:avLst/>
          </a:prstGeom>
          <a:ln w="25400">
            <a:solidFill>
              <a:srgbClr val="C44E52"/>
            </a:solidFill>
          </a:ln>
          <a:effectLst/>
        </p:spPr>
      </p:cxnSp>
      <p:sp>
        <p:nvSpPr>
          <p:cNvPr id="82" name="TextBox 81"/>
          <p:cNvSpPr txBox="1"/>
          <p:nvPr/>
        </p:nvSpPr>
        <p:spPr>
          <a:xfrm>
            <a:off x="7114032" y="3950208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C44E52"/>
                </a:solidFill>
                <a:latin typeface="Times New Roman"/>
              </a:rPr>
              <a:t>rejected: carries orange</a:t>
            </a:r>
          </a:p>
          <a:p>
            <a:pPr algn="ctr"/>
            <a:r>
              <a:rPr sz="800" b="1" i="0">
                <a:solidFill>
                  <a:srgbClr val="C44E52"/>
                </a:solidFill>
                <a:latin typeface="Times New Roman"/>
              </a:rPr>
              <a:t>(λ penalizes off-scope)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8631936" y="2734056"/>
            <a:ext cx="676656" cy="566928"/>
          </a:xfrm>
          <a:prstGeom prst="rightArrow">
            <a:avLst>
              <a:gd name="adj1" fmla="val 62000"/>
              <a:gd name="adj2" fmla="val 42000"/>
            </a:avLst>
          </a:prstGeom>
          <a:solidFill>
            <a:srgbClr val="8C8C8C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750" b="1" i="0">
                <a:solidFill>
                  <a:srgbClr val="FFFFFF"/>
                </a:solidFill>
                <a:latin typeface="Times New Roman"/>
              </a:rPr>
              <a:t>train,</a:t>
            </a:r>
          </a:p>
          <a:p>
            <a:pPr algn="ctr"/>
            <a:r>
              <a:rPr sz="750" b="1" i="0">
                <a:solidFill>
                  <a:srgbClr val="FFFFFF"/>
                </a:solidFill>
                <a:latin typeface="Times New Roman"/>
              </a:rPr>
              <a:t>stop early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290303" y="2551176"/>
            <a:ext cx="841248" cy="658368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699955" y="2423160"/>
            <a:ext cx="2194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665207" y="2331720"/>
            <a:ext cx="91440" cy="91440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518355" y="2773375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821204" y="2773375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9593153" y="2959364"/>
            <a:ext cx="235549" cy="27432"/>
          </a:xfrm>
          <a:prstGeom prst="roundRect">
            <a:avLst>
              <a:gd name="adj" fmla="val 5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70263" y="3246120"/>
            <a:ext cx="14813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1F1F1E"/>
                </a:solidFill>
                <a:latin typeface="Times New Roman"/>
              </a:rPr>
              <a:t>Student LLM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272016" y="3749039"/>
            <a:ext cx="868680" cy="1828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9299448" y="3776472"/>
            <a:ext cx="731520" cy="128016"/>
          </a:xfrm>
          <a:prstGeom prst="roundRect">
            <a:avLst>
              <a:gd name="adj" fmla="val 3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0158984" y="3712463"/>
            <a:ext cx="237744" cy="237744"/>
          </a:xfrm>
          <a:prstGeom prst="ellipse">
            <a:avLst/>
          </a:prstGeom>
          <a:solidFill>
            <a:srgbClr val="55A868"/>
          </a:solidFill>
          <a:ln w="1524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✓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052560" y="400507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6B6A63"/>
                </a:solidFill>
                <a:latin typeface="Times New Roman"/>
              </a:rPr>
              <a:t>demand absorbed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10277856" y="2734056"/>
            <a:ext cx="566928" cy="566928"/>
          </a:xfrm>
          <a:prstGeom prst="rightArrow">
            <a:avLst>
              <a:gd name="adj1" fmla="val 62000"/>
              <a:gd name="adj2" fmla="val 42000"/>
            </a:avLst>
          </a:prstGeom>
          <a:solidFill>
            <a:srgbClr val="8C8C8C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750" b="1" i="0">
                <a:solidFill>
                  <a:srgbClr val="FFFFFF"/>
                </a:solidFill>
                <a:latin typeface="Times New Roman"/>
              </a:rPr>
              <a:t>deploy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917936" y="2212848"/>
            <a:ext cx="182880" cy="1609344"/>
          </a:xfrm>
          <a:prstGeom prst="roundRect">
            <a:avLst>
              <a:gd name="adj" fmla="val 25000"/>
            </a:avLst>
          </a:prstGeom>
          <a:solidFill>
            <a:srgbClr val="DFE5EF"/>
          </a:solidFill>
          <a:ln w="1397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11576304" y="2212848"/>
            <a:ext cx="182880" cy="1609344"/>
          </a:xfrm>
          <a:prstGeom prst="roundRect">
            <a:avLst>
              <a:gd name="adj" fmla="val 25000"/>
            </a:avLst>
          </a:prstGeom>
          <a:solidFill>
            <a:srgbClr val="DFE5EF"/>
          </a:solidFill>
          <a:ln w="1397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10853928" y="1993392"/>
            <a:ext cx="969264" cy="256032"/>
          </a:xfrm>
          <a:prstGeom prst="roundRect">
            <a:avLst>
              <a:gd name="adj" fmla="val 25000"/>
            </a:avLst>
          </a:prstGeom>
          <a:solidFill>
            <a:srgbClr val="DFE5EF"/>
          </a:solidFill>
          <a:ln w="1397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991088" y="1828800"/>
            <a:ext cx="384048" cy="384048"/>
          </a:xfrm>
          <a:prstGeom prst="ellipse">
            <a:avLst/>
          </a:prstGeom>
          <a:solidFill>
            <a:srgbClr val="55A868"/>
          </a:solidFill>
          <a:ln w="1778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</a:rPr>
              <a:t>90%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442448" y="1335024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6B6A63"/>
                </a:solidFill>
                <a:latin typeface="Times New Roman"/>
              </a:rPr>
              <a:t>conformal gate: coverage</a:t>
            </a:r>
          </a:p>
          <a:p>
            <a:pPr algn="ctr"/>
            <a:r>
              <a:rPr sz="800" b="0" i="0">
                <a:solidFill>
                  <a:srgbClr val="6B6A63"/>
                </a:solidFill>
                <a:latin typeface="Times New Roman"/>
              </a:rPr>
              <a:t>guaranteed, not tuned</a:t>
            </a:r>
          </a:p>
        </p:txBody>
      </p:sp>
      <p:cxnSp>
        <p:nvCxnSpPr>
          <p:cNvPr id="101" name="Connector 100"/>
          <p:cNvCxnSpPr/>
          <p:nvPr/>
        </p:nvCxnSpPr>
        <p:spPr>
          <a:xfrm flipV="1">
            <a:off x="11247120" y="2359152"/>
            <a:ext cx="384048" cy="429768"/>
          </a:xfrm>
          <a:prstGeom prst="line">
            <a:avLst/>
          </a:prstGeom>
          <a:ln w="33020">
            <a:solidFill>
              <a:srgbClr val="4C72B0"/>
            </a:solidFill>
            <a:tailEnd type="triangle" w="med" len="med"/>
          </a:ln>
          <a:effectLst/>
        </p:spPr>
      </p:cxnSp>
      <p:cxnSp>
        <p:nvCxnSpPr>
          <p:cNvPr id="102" name="Connector 101"/>
          <p:cNvCxnSpPr/>
          <p:nvPr/>
        </p:nvCxnSpPr>
        <p:spPr>
          <a:xfrm>
            <a:off x="11247120" y="3429000"/>
            <a:ext cx="384048" cy="484632"/>
          </a:xfrm>
          <a:prstGeom prst="line">
            <a:avLst/>
          </a:prstGeom>
          <a:ln w="33020">
            <a:solidFill>
              <a:srgbClr val="DD8452"/>
            </a:solidFill>
            <a:tailEnd type="triangle" w="med" len="med"/>
          </a:ln>
          <a:effectLst/>
        </p:spPr>
      </p:cxnSp>
      <p:sp>
        <p:nvSpPr>
          <p:cNvPr id="103" name="Rounded Rectangle 102"/>
          <p:cNvSpPr/>
          <p:nvPr/>
        </p:nvSpPr>
        <p:spPr>
          <a:xfrm>
            <a:off x="11521440" y="1810512"/>
            <a:ext cx="640080" cy="530352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17780">
            <a:solidFill>
              <a:srgbClr val="4C72B0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4C72B0"/>
                </a:solidFill>
                <a:latin typeface="Times New Roman"/>
              </a:rPr>
              <a:t>in-spec →</a:t>
            </a:r>
          </a:p>
          <a:p>
            <a:pPr algn="ctr"/>
            <a:r>
              <a:rPr sz="800" b="1" i="0">
                <a:solidFill>
                  <a:srgbClr val="4C72B0"/>
                </a:solidFill>
                <a:latin typeface="Times New Roman"/>
              </a:rPr>
              <a:t>Student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1521440" y="3858768"/>
            <a:ext cx="640080" cy="530352"/>
          </a:xfrm>
          <a:prstGeom prst="roundRect">
            <a:avLst>
              <a:gd name="adj" fmla="val 25000"/>
            </a:avLst>
          </a:prstGeom>
          <a:solidFill>
            <a:srgbClr val="FDF0E7"/>
          </a:solidFill>
          <a:ln w="17780">
            <a:solidFill>
              <a:srgbClr val="DD8452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DD8452"/>
                </a:solidFill>
                <a:latin typeface="Times New Roman"/>
              </a:rPr>
              <a:t>refuse /</a:t>
            </a:r>
          </a:p>
          <a:p>
            <a:pPr algn="ctr"/>
            <a:r>
              <a:rPr sz="800" b="1" i="0">
                <a:solidFill>
                  <a:srgbClr val="DD8452"/>
                </a:solidFill>
                <a:latin typeface="Times New Roman"/>
              </a:rPr>
              <a:t>escalate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0332720" y="4553712"/>
            <a:ext cx="1828800" cy="60350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55A868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0" i="0">
                <a:solidFill>
                  <a:srgbClr val="1F1F1E"/>
                </a:solidFill>
                <a:latin typeface="Times New Roman"/>
              </a:rPr>
              <a:t>Certified, both sides:</a:t>
            </a:r>
          </a:p>
          <a:p>
            <a:pPr algn="ctr"/>
            <a:r>
              <a:rPr sz="800" b="0" i="0">
                <a:solidFill>
                  <a:srgbClr val="1F1F1E"/>
                </a:solidFill>
                <a:latin typeface="Times New Roman"/>
              </a:rPr>
              <a:t>in-task ≥ 0.93, off-task ≤ 0.25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52144" y="5166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6B6A63"/>
                </a:solidFill>
                <a:latin typeface="Times New Roman"/>
              </a:rPr>
              <a:t>one backward pass at the student's</a:t>
            </a:r>
          </a:p>
          <a:p>
            <a:pPr algn="ctr"/>
            <a:r>
              <a:rPr sz="800" b="0" i="0">
                <a:solidFill>
                  <a:srgbClr val="6B6A63"/>
                </a:solidFill>
                <a:latin typeface="Times New Roman"/>
              </a:rPr>
              <a:t>init reads each query's missing skills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465576" y="5166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6B6A63"/>
                </a:solidFill>
                <a:latin typeface="Times New Roman"/>
              </a:rPr>
              <a:t>a sparse dictionary over many teacher</a:t>
            </a:r>
          </a:p>
          <a:p>
            <a:pPr algn="ctr"/>
            <a:r>
              <a:rPr sz="800" b="0" i="0">
                <a:solidFill>
                  <a:srgbClr val="6B6A63"/>
                </a:solidFill>
                <a:latin typeface="Times New Roman"/>
              </a:rPr>
              <a:t>traces factors gradients into atoms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016752" y="5166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6B6A63"/>
                </a:solidFill>
                <a:latin typeface="Times New Roman"/>
              </a:rPr>
              <a:t>traces are scored by the atoms they</a:t>
            </a:r>
          </a:p>
          <a:p>
            <a:pPr algn="ctr"/>
            <a:r>
              <a:rPr sz="800" b="0" i="0">
                <a:solidFill>
                  <a:srgbClr val="6B6A63"/>
                </a:solidFill>
                <a:latin typeface="Times New Roman"/>
              </a:rPr>
              <a:t>supply; the budget is filled from the top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010144" y="5166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6B6A63"/>
                </a:solidFill>
                <a:latin typeface="Times New Roman"/>
              </a:rPr>
              <a:t>training stops once the remaining</a:t>
            </a:r>
          </a:p>
          <a:p>
            <a:pPr algn="ctr"/>
            <a:r>
              <a:rPr sz="800" b="0" i="0">
                <a:solidFill>
                  <a:srgbClr val="6B6A63"/>
                </a:solidFill>
                <a:latin typeface="Times New Roman"/>
              </a:rPr>
              <a:t>in-spec demand is absorbed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01200" y="5166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6B6A63"/>
                </a:solidFill>
                <a:latin typeface="Times New Roman"/>
              </a:rPr>
              <a:t>a calibrated gate routes requests;</a:t>
            </a:r>
          </a:p>
          <a:p>
            <a:pPr algn="ctr"/>
            <a:r>
              <a:rPr sz="800" b="0" i="0">
                <a:solidFill>
                  <a:srgbClr val="6B6A63"/>
                </a:solidFill>
                <a:latin typeface="Times New Roman"/>
              </a:rPr>
              <a:t>both sides carry certificates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11480" y="6291072"/>
            <a:ext cx="219456" cy="219456"/>
          </a:xfrm>
          <a:prstGeom prst="roundRect">
            <a:avLst>
              <a:gd name="adj" fmla="val 30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04088" y="6281928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F1F1E"/>
                </a:solidFill>
                <a:latin typeface="Times New Roman"/>
              </a:rPr>
              <a:t>skill the task needs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221992" y="6291072"/>
            <a:ext cx="219456" cy="219456"/>
          </a:xfrm>
          <a:prstGeom prst="roundRect">
            <a:avLst>
              <a:gd name="adj" fmla="val 30000"/>
            </a:avLst>
          </a:prstGeom>
          <a:solidFill>
            <a:srgbClr val="DD8452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514600" y="6281928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F1F1E"/>
                </a:solidFill>
                <a:latin typeface="Times New Roman"/>
              </a:rPr>
              <a:t>out-of-scope skill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959352" y="6291072"/>
            <a:ext cx="219456" cy="219456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251960" y="62819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F1F1E"/>
                </a:solidFill>
                <a:latin typeface="Times New Roman"/>
              </a:rPr>
              <a:t>inactive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