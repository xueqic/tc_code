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777240"/>
            <a:ext cx="8138160" cy="5486400"/>
          </a:xfrm>
          <a:prstGeom prst="ellipse">
            <a:avLst/>
          </a:prstGeom>
          <a:solidFill>
            <a:srgbClr val="FDF0E7">
              <a:alpha val="4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6696" y="1280160"/>
            <a:ext cx="841248" cy="640080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DD84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06347" y="1152143"/>
            <a:ext cx="21945" cy="128016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060704"/>
            <a:ext cx="91440" cy="91440"/>
          </a:xfrm>
          <a:prstGeom prst="ellipse">
            <a:avLst/>
          </a:prstGeom>
          <a:solidFill>
            <a:srgbClr val="DD84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4747" y="1495044"/>
            <a:ext cx="82296" cy="82296"/>
          </a:xfrm>
          <a:prstGeom prst="ellipse">
            <a:avLst/>
          </a:prstGeom>
          <a:solidFill>
            <a:srgbClr val="DD84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27596" y="1495044"/>
            <a:ext cx="82296" cy="82296"/>
          </a:xfrm>
          <a:prstGeom prst="ellipse">
            <a:avLst/>
          </a:prstGeom>
          <a:solidFill>
            <a:srgbClr val="DD84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99545" y="1677009"/>
            <a:ext cx="235549" cy="27432"/>
          </a:xfrm>
          <a:prstGeom prst="roundRect">
            <a:avLst>
              <a:gd name="adj" fmla="val 50000"/>
            </a:avLst>
          </a:prstGeom>
          <a:solidFill>
            <a:srgbClr val="DD84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56816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F1F1E"/>
                </a:solidFill>
                <a:latin typeface="Times New Roman"/>
              </a:rPr>
              <a:t>Teacher LLM  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69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D8452"/>
                </a:solidFill>
                <a:latin typeface="Times New Roman"/>
              </a:rPr>
              <a:t>teacher capability (frozen, expensive)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54480"/>
            <a:ext cx="566928" cy="256032"/>
          </a:xfrm>
          <a:prstGeom prst="roundRect">
            <a:avLst>
              <a:gd name="adj" fmla="val 45000"/>
            </a:avLst>
          </a:prstGeom>
          <a:solidFill>
            <a:srgbClr val="DD8452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PLOT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377440"/>
            <a:ext cx="566928" cy="256032"/>
          </a:xfrm>
          <a:prstGeom prst="roundRect">
            <a:avLst>
              <a:gd name="adj" fmla="val 45000"/>
            </a:avLst>
          </a:prstGeom>
          <a:solidFill>
            <a:srgbClr val="DD8452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REGEX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66160"/>
            <a:ext cx="822960" cy="256032"/>
          </a:xfrm>
          <a:prstGeom prst="roundRect">
            <a:avLst>
              <a:gd name="adj" fmla="val 45000"/>
            </a:avLst>
          </a:prstGeom>
          <a:solidFill>
            <a:srgbClr val="C44E52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RECURSION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572000"/>
            <a:ext cx="566928" cy="256032"/>
          </a:xfrm>
          <a:prstGeom prst="roundRect">
            <a:avLst>
              <a:gd name="adj" fmla="val 45000"/>
            </a:avLst>
          </a:prstGeom>
          <a:solidFill>
            <a:srgbClr val="E8E6E1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6B6A63"/>
                </a:solidFill>
                <a:latin typeface="Times New Roman"/>
              </a:rPr>
              <a:t>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5120640"/>
            <a:ext cx="566928" cy="256032"/>
          </a:xfrm>
          <a:prstGeom prst="roundRect">
            <a:avLst>
              <a:gd name="adj" fmla="val 45000"/>
            </a:avLst>
          </a:prstGeom>
          <a:solidFill>
            <a:srgbClr val="E8E6E1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6B6A63"/>
                </a:solidFill>
                <a:latin typeface="Times New Roman"/>
              </a:rPr>
              <a:t>…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2148840"/>
            <a:ext cx="3977639" cy="3429000"/>
          </a:xfrm>
          <a:prstGeom prst="ellipse">
            <a:avLst/>
          </a:prstGeom>
          <a:noFill/>
          <a:ln w="38100">
            <a:solidFill>
              <a:srgbClr val="4C72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17320" y="2331720"/>
            <a:ext cx="3611880" cy="3063240"/>
          </a:xfrm>
          <a:prstGeom prst="ellipse">
            <a:avLst/>
          </a:prstGeom>
          <a:solidFill>
            <a:srgbClr val="EEF2F9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11680" y="2834640"/>
            <a:ext cx="603504" cy="256032"/>
          </a:xfrm>
          <a:prstGeom prst="roundRect">
            <a:avLst>
              <a:gd name="adj" fmla="val 45000"/>
            </a:avLst>
          </a:prstGeom>
          <a:solidFill>
            <a:srgbClr val="4C72B0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JOIN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2651760"/>
            <a:ext cx="841248" cy="256032"/>
          </a:xfrm>
          <a:prstGeom prst="roundRect">
            <a:avLst>
              <a:gd name="adj" fmla="val 45000"/>
            </a:avLst>
          </a:prstGeom>
          <a:solidFill>
            <a:srgbClr val="7BA7D7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GROUP BY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749039"/>
            <a:ext cx="603504" cy="256032"/>
          </a:xfrm>
          <a:prstGeom prst="roundRect">
            <a:avLst>
              <a:gd name="adj" fmla="val 45000"/>
            </a:avLst>
          </a:prstGeom>
          <a:solidFill>
            <a:srgbClr val="5F9EA0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FILTER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566160"/>
            <a:ext cx="603504" cy="256032"/>
          </a:xfrm>
          <a:prstGeom prst="roundRect">
            <a:avLst>
              <a:gd name="adj" fmla="val 45000"/>
            </a:avLst>
          </a:prstGeom>
          <a:solidFill>
            <a:srgbClr val="5F9EA0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4480560"/>
            <a:ext cx="603504" cy="256032"/>
          </a:xfrm>
          <a:prstGeom prst="roundRect">
            <a:avLst>
              <a:gd name="adj" fmla="val 45000"/>
            </a:avLst>
          </a:prstGeom>
          <a:solidFill>
            <a:srgbClr val="7BA7D7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SORT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9020" y="4361688"/>
            <a:ext cx="777240" cy="603504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4C72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6667" y="4233672"/>
            <a:ext cx="2194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31920" y="4142231"/>
            <a:ext cx="91440" cy="9144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96588" y="4561941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76395" y="4561941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68826" y="4735860"/>
            <a:ext cx="217627" cy="27432"/>
          </a:xfrm>
          <a:prstGeom prst="roundRect">
            <a:avLst>
              <a:gd name="adj" fmla="val 50000"/>
            </a:avLst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8979" y="5001768"/>
            <a:ext cx="141731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F1F1E"/>
                </a:solidFill>
                <a:latin typeface="Times New Roman"/>
              </a:rPr>
              <a:t>Student  🔥</a:t>
            </a:r>
          </a:p>
        </p:txBody>
      </p:sp>
      <p:sp>
        <p:nvSpPr>
          <p:cNvPr id="30" name="Oval 29"/>
          <p:cNvSpPr/>
          <p:nvPr/>
        </p:nvSpPr>
        <p:spPr>
          <a:xfrm>
            <a:off x="3017520" y="1234440"/>
            <a:ext cx="4846320" cy="3017520"/>
          </a:xfrm>
          <a:prstGeom prst="ellipse">
            <a:avLst/>
          </a:prstGeom>
          <a:solidFill>
            <a:srgbClr val="E8E6E1">
              <a:alpha val="30000"/>
            </a:srgbClr>
          </a:solidFill>
          <a:ln w="25400">
            <a:solidFill>
              <a:srgbClr val="8C8C8C"/>
            </a:solidFill>
            <a:prstDash val="sys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598932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900" b="1" i="0">
                <a:solidFill>
                  <a:srgbClr val="4C72B0"/>
                </a:solidFill>
                <a:latin typeface="Times New Roman"/>
              </a:rPr>
              <a:t>our student: capability ends at the boundary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377440" y="5440680"/>
            <a:ext cx="457200" cy="521208"/>
          </a:xfrm>
          <a:prstGeom prst="line">
            <a:avLst/>
          </a:prstGeom>
          <a:ln w="20320">
            <a:solidFill>
              <a:srgbClr val="4C72B0"/>
            </a:solidFill>
            <a:tailEnd type="triangle" w="med" len="med"/>
          </a:ln>
          <a:effectLst/>
        </p:spPr>
      </p:cxnSp>
      <p:sp>
        <p:nvSpPr>
          <p:cNvPr id="33" name="Rounded Rectangle 32"/>
          <p:cNvSpPr/>
          <p:nvPr/>
        </p:nvSpPr>
        <p:spPr>
          <a:xfrm>
            <a:off x="4709160" y="566928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900" b="1" i="0">
                <a:solidFill>
                  <a:srgbClr val="C44E52"/>
                </a:solidFill>
                <a:latin typeface="Times New Roman"/>
              </a:rPr>
              <a:t>budget-matched baseline: leaks out of scope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035040" y="905256"/>
            <a:ext cx="274320" cy="512064"/>
          </a:xfrm>
          <a:prstGeom prst="line">
            <a:avLst/>
          </a:prstGeom>
          <a:ln w="20320">
            <a:solidFill>
              <a:srgbClr val="C44E52"/>
            </a:solidFill>
            <a:tailEnd type="triangle" w="med" len="med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4617720" y="239572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1">
                <a:solidFill>
                  <a:srgbClr val="C44E52"/>
                </a:solidFill>
                <a:latin typeface="Times New Roman"/>
              </a:rPr>
              <a:t>leakage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20640" y="2514600"/>
            <a:ext cx="685800" cy="0"/>
          </a:xfrm>
          <a:prstGeom prst="line">
            <a:avLst/>
          </a:prstGeom>
          <a:ln w="25400">
            <a:solidFill>
              <a:srgbClr val="C44E52"/>
            </a:solidFill>
            <a:tailEnd type="triangle" w="med" len="med"/>
          </a:ln>
          <a:effectLst/>
        </p:spPr>
      </p:cxnSp>
      <p:sp>
        <p:nvSpPr>
          <p:cNvPr id="37" name="Rounded Rectangle 36"/>
          <p:cNvSpPr/>
          <p:nvPr/>
        </p:nvSpPr>
        <p:spPr>
          <a:xfrm>
            <a:off x="713232" y="3776472"/>
            <a:ext cx="960120" cy="713232"/>
          </a:xfrm>
          <a:prstGeom prst="roundRect">
            <a:avLst>
              <a:gd name="adj" fmla="val 25000"/>
            </a:avLst>
          </a:prstGeom>
          <a:solidFill>
            <a:srgbClr val="F7F6F2"/>
          </a:solidFill>
          <a:ln w="12700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936" y="3694176"/>
            <a:ext cx="960120" cy="713232"/>
          </a:xfrm>
          <a:prstGeom prst="roundRect">
            <a:avLst>
              <a:gd name="adj" fmla="val 25000"/>
            </a:avLst>
          </a:prstGeom>
          <a:solidFill>
            <a:srgbClr val="F7F6F2"/>
          </a:solidFill>
          <a:ln w="12700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3611880"/>
            <a:ext cx="960120" cy="713232"/>
          </a:xfrm>
          <a:prstGeom prst="roundRect">
            <a:avLst>
              <a:gd name="adj" fmla="val 25000"/>
            </a:avLst>
          </a:prstGeom>
          <a:solidFill>
            <a:srgbClr val="F7F6F2"/>
          </a:solidFill>
          <a:ln w="12700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3712463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1F1F1E"/>
                </a:solidFill>
                <a:latin typeface="Times New Roman"/>
              </a:rPr>
              <a:t>"members</a:t>
            </a:r>
          </a:p>
          <a:p>
            <a:pPr algn="l"/>
            <a:r>
              <a:rPr sz="700" b="0" i="0">
                <a:solidFill>
                  <a:srgbClr val="1F1F1E"/>
                </a:solidFill>
                <a:latin typeface="Times New Roman"/>
              </a:rPr>
              <a:t>per club?"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3291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6A63"/>
                </a:solidFill>
                <a:latin typeface="Times New Roman"/>
              </a:rPr>
              <a:t>k queries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34440" y="3977639"/>
            <a:ext cx="457200" cy="0"/>
          </a:xfrm>
          <a:prstGeom prst="line">
            <a:avLst/>
          </a:prstGeom>
          <a:ln w="25400">
            <a:solidFill>
              <a:srgbClr val="4C72B0"/>
            </a:solidFill>
            <a:tailEnd type="triangle" w="med" len="med"/>
          </a:ln>
          <a:effectLst/>
        </p:spPr>
      </p:cxnSp>
      <p:sp>
        <p:nvSpPr>
          <p:cNvPr id="43" name="Rounded Rectangle 42"/>
          <p:cNvSpPr/>
          <p:nvPr/>
        </p:nvSpPr>
        <p:spPr>
          <a:xfrm>
            <a:off x="502920" y="5138928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9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50" b="1" i="0">
                <a:solidFill>
                  <a:srgbClr val="4C72B0"/>
                </a:solidFill>
                <a:latin typeface="Times New Roman"/>
              </a:rPr>
              <a:t>boundary read from gradients, k≈5</a:t>
            </a:r>
          </a:p>
        </p:txBody>
      </p:sp>
      <p:sp>
        <p:nvSpPr>
          <p:cNvPr id="44" name="Oval 43"/>
          <p:cNvSpPr/>
          <p:nvPr/>
        </p:nvSpPr>
        <p:spPr>
          <a:xfrm>
            <a:off x="4828032" y="3611880"/>
            <a:ext cx="402336" cy="402336"/>
          </a:xfrm>
          <a:prstGeom prst="ellipse">
            <a:avLst/>
          </a:prstGeom>
          <a:solidFill>
            <a:srgbClr val="55A868"/>
          </a:solidFill>
          <a:ln w="1905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Times New Roman"/>
              </a:rPr>
              <a:t>90%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5232" y="363931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55A868"/>
                </a:solidFill>
                <a:latin typeface="Times New Roman"/>
              </a:rPr>
              <a:t>conformal gate</a:t>
            </a:r>
          </a:p>
          <a:p>
            <a:pPr algn="l"/>
            <a:r>
              <a:rPr sz="800" b="1" i="0">
                <a:solidFill>
                  <a:srgbClr val="55A868"/>
                </a:solidFill>
                <a:latin typeface="Times New Roman"/>
              </a:rPr>
              <a:t>on the boundary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6A63"/>
                </a:solidFill>
                <a:latin typeface="Times New Roman"/>
              </a:rPr>
              <a:t>distill: select only traces whose atoms lie inside the boundary (λ rejects the rest) · train until absorbed, then stop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15400" y="566928"/>
            <a:ext cx="3063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43416" y="694944"/>
            <a:ext cx="749808" cy="566928"/>
          </a:xfrm>
          <a:prstGeom prst="roundRect">
            <a:avLst>
              <a:gd name="adj" fmla="val 25000"/>
            </a:avLst>
          </a:prstGeom>
          <a:solidFill>
            <a:srgbClr val="F7F6F2"/>
          </a:solidFill>
          <a:ln w="12700">
            <a:solidFill>
              <a:srgbClr val="8C8C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9992" y="768096"/>
            <a:ext cx="713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1F1F1E"/>
                </a:solidFill>
                <a:latin typeface="Times New Roman"/>
              </a:rPr>
              <a:t>"query"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848088" y="978408"/>
            <a:ext cx="329184" cy="0"/>
          </a:xfrm>
          <a:prstGeom prst="line">
            <a:avLst/>
          </a:prstGeom>
          <a:ln w="22860">
            <a:solidFill>
              <a:srgbClr val="4C72B0"/>
            </a:solidFill>
            <a:tailEnd type="triangle" w="med" len="med"/>
          </a:ln>
          <a:effectLst/>
        </p:spPr>
      </p:cxnSp>
      <p:sp>
        <p:nvSpPr>
          <p:cNvPr id="51" name="Rounded Rectangle 50"/>
          <p:cNvSpPr/>
          <p:nvPr/>
        </p:nvSpPr>
        <p:spPr>
          <a:xfrm>
            <a:off x="10232136" y="713232"/>
            <a:ext cx="548640" cy="237744"/>
          </a:xfrm>
          <a:prstGeom prst="roundRect">
            <a:avLst>
              <a:gd name="adj" fmla="val 45000"/>
            </a:avLst>
          </a:prstGeom>
          <a:solidFill>
            <a:srgbClr val="4C72B0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Times New Roman"/>
              </a:rPr>
              <a:t>JOIN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835640" y="713232"/>
            <a:ext cx="658368" cy="237744"/>
          </a:xfrm>
          <a:prstGeom prst="roundRect">
            <a:avLst>
              <a:gd name="adj" fmla="val 45000"/>
            </a:avLst>
          </a:prstGeom>
          <a:solidFill>
            <a:srgbClr val="5F9EA0"/>
          </a:solidFill>
          <a:ln w="9525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Times New Roman"/>
              </a:rPr>
              <a:t>COUNT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5560" y="102412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4C72B0"/>
                </a:solidFill>
                <a:latin typeface="Times New Roman"/>
              </a:rPr>
              <a:t>one backward pass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3416" y="148132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A63"/>
                </a:solidFill>
                <a:latin typeface="Times New Roman"/>
              </a:rPr>
              <a:t>the gradient names the skills a query</a:t>
            </a:r>
          </a:p>
          <a:p>
            <a:pPr algn="l"/>
            <a:r>
              <a:rPr sz="850" b="0" i="0">
                <a:solidFill>
                  <a:srgbClr val="6B6A63"/>
                </a:solidFill>
                <a:latin typeface="Times New Roman"/>
              </a:rPr>
              <a:t>needs — before any training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15400" y="2212848"/>
            <a:ext cx="3063240" cy="2606040"/>
          </a:xfrm>
          <a:prstGeom prst="roundRect">
            <a:avLst>
              <a:gd name="adj" fmla="val 6000"/>
            </a:avLst>
          </a:prstGeom>
          <a:solidFill>
            <a:srgbClr val="F2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0" y="2340864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1F1E"/>
                </a:solidFill>
                <a:latin typeface="Times New Roman"/>
              </a:rPr>
              <a:t>Capability-matching, one representation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0" y="269748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1F1E"/>
                </a:solidFill>
                <a:latin typeface="Times New Roman"/>
              </a:rPr>
              <a:t>task boundary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22408" y="269748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A63"/>
                </a:solidFill>
                <a:latin typeface="Times New Roman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78440" y="269748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A63"/>
                </a:solidFill>
                <a:latin typeface="Times New Roman"/>
              </a:rPr>
              <a:t>atom support of k queries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309981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1F1E"/>
                </a:solidFill>
                <a:latin typeface="Times New Roman"/>
              </a:rPr>
              <a:t>capability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22408" y="3099816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A63"/>
                </a:solidFill>
                <a:latin typeface="Times New Roman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78440" y="3099816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A63"/>
                </a:solidFill>
                <a:latin typeface="Times New Roman"/>
              </a:rPr>
              <a:t>atom supply of the diet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0" y="350215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1F1E"/>
                </a:solidFill>
                <a:latin typeface="Times New Roman"/>
              </a:rPr>
              <a:t>selection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22408" y="3502152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A63"/>
                </a:solidFill>
                <a:latin typeface="Times New Roman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8440" y="3502152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A63"/>
                </a:solidFill>
                <a:latin typeface="Times New Roman"/>
              </a:rPr>
              <a:t>budgeted coverage, λ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390448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1F1E"/>
                </a:solidFill>
                <a:latin typeface="Times New Roman"/>
              </a:rPr>
              <a:t>stopping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22408" y="390448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A63"/>
                </a:solidFill>
                <a:latin typeface="Times New Roman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3904488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A63"/>
                </a:solidFill>
                <a:latin typeface="Times New Roman"/>
              </a:rPr>
              <a:t>demand absorbed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430682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1F1E"/>
                </a:solidFill>
                <a:latin typeface="Times New Roman"/>
              </a:rPr>
              <a:t>guarantee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22408" y="430682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A63"/>
                </a:solidFill>
                <a:latin typeface="Times New Roman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78440" y="4306824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A63"/>
                </a:solidFill>
                <a:latin typeface="Times New Roman"/>
              </a:rPr>
              <a:t>conformal + binomial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61120" y="5074920"/>
            <a:ext cx="685800" cy="77724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7780">
            <a:solidFill>
              <a:srgbClr val="4C72B0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600" b="0" i="0">
                <a:solidFill>
                  <a:srgbClr val="1F1F1E"/>
                </a:solidFill>
                <a:latin typeface="Times New Roman"/>
              </a:rPr>
              <a:t>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29800" y="501091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DCE5EF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50" b="1" i="0">
                <a:solidFill>
                  <a:srgbClr val="1F1F1E"/>
                </a:solidFill>
                <a:latin typeface="Times New Roman"/>
              </a:rPr>
              <a:t>exact in-task ability, tied to spec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9665208" y="5175504"/>
            <a:ext cx="146304" cy="265176"/>
          </a:xfrm>
          <a:prstGeom prst="line">
            <a:avLst/>
          </a:prstGeom>
          <a:ln w="15240">
            <a:solidFill>
              <a:srgbClr val="8C8C8C"/>
            </a:solidFill>
          </a:ln>
          <a:effectLst/>
        </p:spPr>
      </p:cxnSp>
      <p:sp>
        <p:nvSpPr>
          <p:cNvPr id="75" name="Rounded Rectangle 74"/>
          <p:cNvSpPr/>
          <p:nvPr/>
        </p:nvSpPr>
        <p:spPr>
          <a:xfrm>
            <a:off x="9829800" y="5449824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DCE5EF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50" b="1" i="0">
                <a:solidFill>
                  <a:srgbClr val="1F1F1E"/>
                </a:solidFill>
                <a:latin typeface="Times New Roman"/>
              </a:rPr>
              <a:t>certified leakage ≤ 0.25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665208" y="5440680"/>
            <a:ext cx="146304" cy="173736"/>
          </a:xfrm>
          <a:prstGeom prst="line">
            <a:avLst/>
          </a:prstGeom>
          <a:ln w="15240">
            <a:solidFill>
              <a:srgbClr val="8C8C8C"/>
            </a:solidFill>
          </a:ln>
          <a:effectLst/>
        </p:spPr>
      </p:cxnSp>
      <p:sp>
        <p:nvSpPr>
          <p:cNvPr id="77" name="Rounded Rectangle 76"/>
          <p:cNvSpPr/>
          <p:nvPr/>
        </p:nvSpPr>
        <p:spPr>
          <a:xfrm>
            <a:off x="9829800" y="5888736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DCE5EF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850" b="1" i="0">
                <a:solidFill>
                  <a:srgbClr val="1F1F1E"/>
                </a:solidFill>
                <a:latin typeface="Times New Roman"/>
              </a:rPr>
              <a:t>same performance at ¼ budget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665208" y="5440680"/>
            <a:ext cx="146304" cy="612648"/>
          </a:xfrm>
          <a:prstGeom prst="line">
            <a:avLst/>
          </a:prstGeom>
          <a:ln w="15240">
            <a:solidFill>
              <a:srgbClr val="8C8C8C"/>
            </a:solidFill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