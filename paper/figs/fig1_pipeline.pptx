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182880"/>
            <a:ext cx="365760" cy="365760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7" y="201168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1F1E"/>
                </a:solidFill>
                <a:latin typeface="Times New Roman"/>
              </a:rPr>
              <a:t>What must a student learn?</a:t>
            </a:r>
          </a:p>
        </p:txBody>
      </p:sp>
      <p:sp>
        <p:nvSpPr>
          <p:cNvPr id="4" name="Oval 3"/>
          <p:cNvSpPr/>
          <p:nvPr/>
        </p:nvSpPr>
        <p:spPr>
          <a:xfrm>
            <a:off x="3291840" y="182880"/>
            <a:ext cx="365760" cy="365760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5888" y="201168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1F1E"/>
                </a:solidFill>
                <a:latin typeface="Times New Roman"/>
              </a:rPr>
              <a:t>A library of skill atoms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182880"/>
            <a:ext cx="365760" cy="365760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3408" y="201168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1F1E"/>
                </a:solidFill>
                <a:latin typeface="Times New Roman"/>
              </a:rPr>
              <a:t>Distill exactly to spec</a:t>
            </a:r>
          </a:p>
        </p:txBody>
      </p:sp>
      <p:sp>
        <p:nvSpPr>
          <p:cNvPr id="8" name="Oval 7"/>
          <p:cNvSpPr/>
          <p:nvPr/>
        </p:nvSpPr>
        <p:spPr>
          <a:xfrm>
            <a:off x="9281160" y="182880"/>
            <a:ext cx="365760" cy="365760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65208" y="201168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1F1E"/>
                </a:solidFill>
                <a:latin typeface="Times New Roman"/>
              </a:rPr>
              <a:t>Certified deployment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103120"/>
            <a:ext cx="1481328" cy="1234440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4904" y="2203703"/>
            <a:ext cx="1481328" cy="1234440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2304288"/>
            <a:ext cx="1481328" cy="1234440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7556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6A63"/>
                </a:solidFill>
                <a:latin typeface="Times New Roman"/>
              </a:rPr>
              <a:t>k example queries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487168"/>
            <a:ext cx="1371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F1F1E"/>
                </a:solidFill>
                <a:latin typeface="Times New Roman"/>
              </a:rPr>
              <a:t>"How many members</a:t>
            </a:r>
          </a:p>
          <a:p>
            <a:pPr algn="l"/>
            <a:r>
              <a:rPr sz="900" b="0" i="0">
                <a:solidFill>
                  <a:srgbClr val="1F1F1E"/>
                </a:solidFill>
                <a:latin typeface="Times New Roman"/>
              </a:rPr>
              <a:t>per club?"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127248"/>
            <a:ext cx="457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6B6A63"/>
                </a:solidFill>
                <a:latin typeface="Times New Roman"/>
              </a:rPr>
              <a:t>×k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956816" y="2596896"/>
            <a:ext cx="713232" cy="65836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backward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24912" y="1691640"/>
            <a:ext cx="1517904" cy="2331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34640" y="1920240"/>
            <a:ext cx="274320" cy="402336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143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1984248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56432" y="1984248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12464" y="1984248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68496" y="1984248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34640" y="2578608"/>
            <a:ext cx="274320" cy="402336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143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200400" y="2642616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56432" y="2642616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12464" y="2642616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968496" y="2642616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834640" y="3236976"/>
            <a:ext cx="274320" cy="402336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143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3300984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456432" y="3300984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12464" y="3300984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968496" y="3300984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472" y="411480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C72B0"/>
                </a:solidFill>
                <a:latin typeface="Times New Roman"/>
              </a:rPr>
              <a:t>needed skills light up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297680" y="2596896"/>
            <a:ext cx="658368" cy="65836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sparse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coding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10912" y="1463040"/>
            <a:ext cx="1810512" cy="26974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66360" y="170078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120640" y="1655064"/>
            <a:ext cx="365760" cy="365760"/>
          </a:xfrm>
          <a:prstGeom prst="roundRect">
            <a:avLst>
              <a:gd name="adj" fmla="val 25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77256" y="170078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88152" y="170078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099048" y="170078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9944" y="170078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64224" y="1655064"/>
            <a:ext cx="365760" cy="365760"/>
          </a:xfrm>
          <a:prstGeom prst="roundRect">
            <a:avLst>
              <a:gd name="adj" fmla="val 25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66360" y="247802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77256" y="247802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31536" y="2432304"/>
            <a:ext cx="365760" cy="365760"/>
          </a:xfrm>
          <a:prstGeom prst="roundRect">
            <a:avLst>
              <a:gd name="adj" fmla="val 25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788152" y="247802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099048" y="247802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C44E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09944" y="247802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166360" y="325526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77256" y="325526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88152" y="325526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742432" y="3209544"/>
            <a:ext cx="365760" cy="365760"/>
          </a:xfrm>
          <a:prstGeom prst="roundRect">
            <a:avLst>
              <a:gd name="adj" fmla="val 25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099048" y="325526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9944" y="325526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64224" y="3209544"/>
            <a:ext cx="365760" cy="365760"/>
          </a:xfrm>
          <a:prstGeom prst="roundRect">
            <a:avLst>
              <a:gd name="adj" fmla="val 25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10912" y="111556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A63"/>
                </a:solidFill>
                <a:latin typeface="Times New Roman"/>
              </a:rPr>
              <a:t>skill atom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148132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1F1E"/>
                </a:solidFill>
                <a:latin typeface="Times New Roman"/>
              </a:rPr>
              <a:t>▸ fires on JOIN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46320" y="4279392"/>
            <a:ext cx="2139696" cy="566928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1778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000" b="1" i="0">
                <a:solidFill>
                  <a:srgbClr val="4C72B0"/>
                </a:solidFill>
                <a:latin typeface="Times New Roman"/>
              </a:rPr>
              <a:t>specification = the atoms</a:t>
            </a:r>
          </a:p>
          <a:p>
            <a:pPr algn="ctr"/>
            <a:r>
              <a:rPr sz="1000" b="1" i="0">
                <a:solidFill>
                  <a:srgbClr val="4C72B0"/>
                </a:solidFill>
                <a:latin typeface="Times New Roman"/>
              </a:rPr>
              <a:t>your k queries need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6876288" y="2596896"/>
            <a:ext cx="640080" cy="65836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score by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supply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31252" y="822960"/>
            <a:ext cx="960120" cy="73152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200339" y="694944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165592" y="603504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97342" y="10744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342985" y="10744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076895" y="1276502"/>
            <a:ext cx="268833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11212" y="1591056"/>
            <a:ext cx="1600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1F1E"/>
                </a:solidFill>
                <a:latin typeface="Times New Roman"/>
              </a:rPr>
              <a:t>Teacher LLM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8147304" y="1810512"/>
            <a:ext cx="146304" cy="365760"/>
          </a:xfrm>
          <a:prstGeom prst="downArrow">
            <a:avLst/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39327" y="186537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A63"/>
                </a:solidFill>
                <a:latin typeface="Times New Roman"/>
              </a:rPr>
              <a:t>traces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571231" y="2286000"/>
            <a:ext cx="1298448" cy="56692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699248" y="243230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01000" y="243230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302752" y="243230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571231" y="2999232"/>
            <a:ext cx="1298448" cy="56692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699248" y="3145536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01000" y="3145536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302752" y="3145536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571231" y="3712464"/>
            <a:ext cx="1298448" cy="566928"/>
          </a:xfrm>
          <a:prstGeom prst="roundRect">
            <a:avLst>
              <a:gd name="adj" fmla="val 25000"/>
            </a:avLst>
          </a:prstGeom>
          <a:solidFill>
            <a:srgbClr val="E8E6E1"/>
          </a:solidFill>
          <a:ln w="1651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699248" y="3858768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001000" y="3858768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302752" y="3858768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7498079" y="3657600"/>
            <a:ext cx="1463041" cy="676656"/>
          </a:xfrm>
          <a:prstGeom prst="line">
            <a:avLst/>
          </a:prstGeom>
          <a:ln w="27940">
            <a:solidFill>
              <a:srgbClr val="C44E52"/>
            </a:solidFill>
          </a:ln>
          <a:effectLst/>
        </p:spPr>
      </p:cxnSp>
      <p:sp>
        <p:nvSpPr>
          <p:cNvPr id="82" name="TextBox 81"/>
          <p:cNvSpPr txBox="1"/>
          <p:nvPr/>
        </p:nvSpPr>
        <p:spPr>
          <a:xfrm>
            <a:off x="7333488" y="44988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C44E52"/>
                </a:solidFill>
                <a:latin typeface="Times New Roman"/>
              </a:rPr>
              <a:t>rejected: carries orange</a:t>
            </a:r>
          </a:p>
          <a:p>
            <a:pPr algn="ctr"/>
            <a:r>
              <a:rPr sz="950" b="1" i="0">
                <a:solidFill>
                  <a:srgbClr val="C44E52"/>
                </a:solidFill>
                <a:latin typeface="Times New Roman"/>
              </a:rPr>
              <a:t>(λ penalizes off-scope)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8979408" y="2596896"/>
            <a:ext cx="603504" cy="65836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train,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stop early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610344" y="2167128"/>
            <a:ext cx="932688" cy="749808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065715" y="2039112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0030967" y="1947672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867656" y="2425903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03423" y="2425903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9946111" y="2632008"/>
            <a:ext cx="261152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290304" y="2953512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1F1E"/>
                </a:solidFill>
                <a:latin typeface="Times New Roman"/>
              </a:rPr>
              <a:t>Student LLM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582912" y="4041648"/>
            <a:ext cx="96926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397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610344" y="4069080"/>
            <a:ext cx="822960" cy="164592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0570464" y="3986784"/>
            <a:ext cx="274320" cy="274320"/>
          </a:xfrm>
          <a:prstGeom prst="ellipse">
            <a:avLst/>
          </a:prstGeom>
          <a:solidFill>
            <a:srgbClr val="55A868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400032" y="433425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demand absorbed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10661904" y="2596896"/>
            <a:ext cx="530352" cy="65836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deploy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1247120" y="1920240"/>
            <a:ext cx="201168" cy="2240280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1923776" y="1920240"/>
            <a:ext cx="201168" cy="2240280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1183112" y="1664208"/>
            <a:ext cx="1005840" cy="274320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38560" y="1481328"/>
            <a:ext cx="420624" cy="420624"/>
          </a:xfrm>
          <a:prstGeom prst="ellipse">
            <a:avLst/>
          </a:prstGeom>
          <a:solidFill>
            <a:srgbClr val="55A868"/>
          </a:solidFill>
          <a:ln w="1905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</a:rPr>
              <a:t>90%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561320" y="98755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conformal gate: coverage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guaranteed, not tuned</a:t>
            </a:r>
          </a:p>
        </p:txBody>
      </p:sp>
      <p:cxnSp>
        <p:nvCxnSpPr>
          <p:cNvPr id="101" name="Connector 100"/>
          <p:cNvCxnSpPr/>
          <p:nvPr/>
        </p:nvCxnSpPr>
        <p:spPr>
          <a:xfrm flipV="1">
            <a:off x="11356848" y="2286000"/>
            <a:ext cx="393192" cy="411480"/>
          </a:xfrm>
          <a:prstGeom prst="line">
            <a:avLst/>
          </a:prstGeom>
          <a:ln w="35560">
            <a:solidFill>
              <a:srgbClr val="4C72B0"/>
            </a:solidFill>
            <a:tailEnd type="triangle" w="med" len="med"/>
          </a:ln>
          <a:effectLst/>
        </p:spPr>
      </p:cxnSp>
      <p:cxnSp>
        <p:nvCxnSpPr>
          <p:cNvPr id="102" name="Connector 101"/>
          <p:cNvCxnSpPr/>
          <p:nvPr/>
        </p:nvCxnSpPr>
        <p:spPr>
          <a:xfrm>
            <a:off x="11356848" y="3383280"/>
            <a:ext cx="393192" cy="475488"/>
          </a:xfrm>
          <a:prstGeom prst="line">
            <a:avLst/>
          </a:prstGeom>
          <a:ln w="35560">
            <a:solidFill>
              <a:srgbClr val="DD8452"/>
            </a:solidFill>
            <a:tailEnd type="triangle" w="med" len="med"/>
          </a:ln>
          <a:effectLst/>
        </p:spPr>
      </p:cxnSp>
      <p:sp>
        <p:nvSpPr>
          <p:cNvPr id="103" name="Rounded Rectangle 102"/>
          <p:cNvSpPr/>
          <p:nvPr/>
        </p:nvSpPr>
        <p:spPr>
          <a:xfrm>
            <a:off x="11475720" y="1810512"/>
            <a:ext cx="694944" cy="603504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1905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4C72B0"/>
                </a:solidFill>
                <a:latin typeface="Times New Roman"/>
              </a:rPr>
              <a:t>in-spec →</a:t>
            </a:r>
          </a:p>
          <a:p>
            <a:pPr algn="ctr"/>
            <a:r>
              <a:rPr sz="900" b="1" i="0">
                <a:solidFill>
                  <a:srgbClr val="4C72B0"/>
                </a:solidFill>
                <a:latin typeface="Times New Roman"/>
              </a:rPr>
              <a:t>Student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1475720" y="3913632"/>
            <a:ext cx="694944" cy="603504"/>
          </a:xfrm>
          <a:prstGeom prst="roundRect">
            <a:avLst>
              <a:gd name="adj" fmla="val 25000"/>
            </a:avLst>
          </a:prstGeom>
          <a:solidFill>
            <a:srgbClr val="FDF0E7"/>
          </a:solidFill>
          <a:ln w="19050">
            <a:solidFill>
              <a:srgbClr val="DD8452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DD8452"/>
                </a:solidFill>
                <a:latin typeface="Times New Roman"/>
              </a:rPr>
              <a:t>refuse /</a:t>
            </a:r>
          </a:p>
          <a:p>
            <a:pPr algn="ctr"/>
            <a:r>
              <a:rPr sz="900" b="1" i="0">
                <a:solidFill>
                  <a:srgbClr val="DD8452"/>
                </a:solidFill>
                <a:latin typeface="Times New Roman"/>
              </a:rPr>
              <a:t>escalate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464040" y="4956048"/>
            <a:ext cx="260604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0320">
            <a:solidFill>
              <a:srgbClr val="55A868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050" b="0" i="0">
                <a:solidFill>
                  <a:srgbClr val="1F1F1E"/>
                </a:solidFill>
                <a:latin typeface="Times New Roman"/>
              </a:rPr>
              <a:t>Certified, both sides:</a:t>
            </a:r>
          </a:p>
          <a:p>
            <a:pPr algn="ctr"/>
            <a:r>
              <a:rPr sz="1050" b="0" i="0">
                <a:solidFill>
                  <a:srgbClr val="1F1F1E"/>
                </a:solidFill>
                <a:latin typeface="Times New Roman"/>
              </a:rPr>
              <a:t>in-task ≥ 0.93, off-task ≤ 0.25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2879" y="534924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one backward pass at the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student's init reads each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query's missing skills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514600" y="534924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a sparse dictionary over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many teacher traces factors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gradients into skill atoms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37760" y="534924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the atoms the k queries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activate form the task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specification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06640" y="534924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traces are scored by the atoms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they supply; the budget is filled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from the top; stop once the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in-spec demand is absorbed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063240" y="6199632"/>
            <a:ext cx="6766560" cy="457200"/>
          </a:xfrm>
          <a:prstGeom prst="roundRect">
            <a:avLst>
              <a:gd name="adj" fmla="val 50000"/>
            </a:avLst>
          </a:prstGeom>
          <a:solidFill>
            <a:srgbClr val="F7F6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3291840" y="6309360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621024" y="6309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1F1E"/>
                </a:solidFill>
                <a:latin typeface="Times New Roman"/>
              </a:rPr>
              <a:t>skill the task needs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394960" y="6309360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724144" y="63093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1F1E"/>
                </a:solidFill>
                <a:latin typeface="Times New Roman"/>
              </a:rPr>
              <a:t>out-of-scope skill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452360" y="6309360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781544" y="6309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1F1E"/>
                </a:solidFill>
                <a:latin typeface="Times New Roman"/>
              </a:rPr>
              <a:t>inactive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