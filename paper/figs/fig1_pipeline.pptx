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384048"/>
            <a:ext cx="2788920" cy="5577840"/>
          </a:xfrm>
          <a:prstGeom prst="roundRect">
            <a:avLst>
              <a:gd name="adj" fmla="val 6000"/>
            </a:avLst>
          </a:prstGeom>
          <a:solidFill>
            <a:srgbClr val="FCFBF9"/>
          </a:solidFill>
          <a:ln w="1778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65176" y="512064"/>
            <a:ext cx="2532887" cy="475488"/>
          </a:xfrm>
          <a:prstGeom prst="roundRect">
            <a:avLst>
              <a:gd name="adj" fmla="val 30000"/>
            </a:avLst>
          </a:prstGeom>
          <a:solidFill>
            <a:srgbClr val="1F1F1E"/>
          </a:solidFill>
          <a:ln>
            <a:noFill/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Times New Roman"/>
              </a:rPr>
              <a:t>1 · What must a student learn?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127248" y="384048"/>
            <a:ext cx="2788920" cy="5577840"/>
          </a:xfrm>
          <a:prstGeom prst="roundRect">
            <a:avLst>
              <a:gd name="adj" fmla="val 6000"/>
            </a:avLst>
          </a:prstGeom>
          <a:solidFill>
            <a:srgbClr val="FCFBF9"/>
          </a:solidFill>
          <a:ln w="1778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255264" y="512064"/>
            <a:ext cx="2532887" cy="475488"/>
          </a:xfrm>
          <a:prstGeom prst="roundRect">
            <a:avLst>
              <a:gd name="adj" fmla="val 30000"/>
            </a:avLst>
          </a:prstGeom>
          <a:solidFill>
            <a:srgbClr val="1F1F1E"/>
          </a:solidFill>
          <a:ln>
            <a:noFill/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Times New Roman"/>
              </a:rPr>
              <a:t>2 · A library of skill atoms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17336" y="384048"/>
            <a:ext cx="3017520" cy="5577840"/>
          </a:xfrm>
          <a:prstGeom prst="roundRect">
            <a:avLst>
              <a:gd name="adj" fmla="val 6000"/>
            </a:avLst>
          </a:prstGeom>
          <a:solidFill>
            <a:srgbClr val="FCFBF9"/>
          </a:solidFill>
          <a:ln w="1778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45352" y="512064"/>
            <a:ext cx="2761487" cy="475488"/>
          </a:xfrm>
          <a:prstGeom prst="roundRect">
            <a:avLst>
              <a:gd name="adj" fmla="val 30000"/>
            </a:avLst>
          </a:prstGeom>
          <a:solidFill>
            <a:srgbClr val="1F1F1E"/>
          </a:solidFill>
          <a:ln>
            <a:noFill/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Times New Roman"/>
              </a:rPr>
              <a:t>3 · Distill exactly to spec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36024" y="384048"/>
            <a:ext cx="2715768" cy="5577840"/>
          </a:xfrm>
          <a:prstGeom prst="roundRect">
            <a:avLst>
              <a:gd name="adj" fmla="val 6000"/>
            </a:avLst>
          </a:prstGeom>
          <a:solidFill>
            <a:srgbClr val="FCFBF9"/>
          </a:solidFill>
          <a:ln w="1778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464040" y="512064"/>
            <a:ext cx="2459736" cy="475488"/>
          </a:xfrm>
          <a:prstGeom prst="roundRect">
            <a:avLst>
              <a:gd name="adj" fmla="val 30000"/>
            </a:avLst>
          </a:prstGeom>
          <a:solidFill>
            <a:srgbClr val="1F1F1E"/>
          </a:solidFill>
          <a:ln>
            <a:noFill/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Times New Roman"/>
              </a:rPr>
              <a:t>4 · Certified deployment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889504" y="2999232"/>
            <a:ext cx="292608" cy="5029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8C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5879592" y="2999232"/>
            <a:ext cx="292608" cy="5029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8C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9098280" y="2999232"/>
            <a:ext cx="292608" cy="5029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8C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3" y="1453896"/>
            <a:ext cx="1783080" cy="1298448"/>
          </a:xfrm>
          <a:prstGeom prst="roundRect">
            <a:avLst>
              <a:gd name="adj" fmla="val 25000"/>
            </a:avLst>
          </a:prstGeom>
          <a:solidFill>
            <a:srgbClr val="F7F6F2"/>
          </a:solidFill>
          <a:ln w="1524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93776" y="1344168"/>
            <a:ext cx="1783080" cy="1298448"/>
          </a:xfrm>
          <a:prstGeom prst="roundRect">
            <a:avLst>
              <a:gd name="adj" fmla="val 25000"/>
            </a:avLst>
          </a:prstGeom>
          <a:solidFill>
            <a:srgbClr val="F7F6F2"/>
          </a:solidFill>
          <a:ln w="1524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84048" y="1234440"/>
            <a:ext cx="1783080" cy="1298448"/>
          </a:xfrm>
          <a:prstGeom prst="roundRect">
            <a:avLst>
              <a:gd name="adj" fmla="val 25000"/>
            </a:avLst>
          </a:prstGeom>
          <a:solidFill>
            <a:srgbClr val="F7F6F2"/>
          </a:solidFill>
          <a:ln w="1524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463040"/>
            <a:ext cx="1737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1F1F1E"/>
                </a:solidFill>
                <a:latin typeface="Times New Roman"/>
              </a:rPr>
              <a:t>"How many members</a:t>
            </a:r>
          </a:p>
          <a:p>
            <a:pPr algn="l"/>
            <a:r>
              <a:rPr sz="950" b="0" i="0">
                <a:solidFill>
                  <a:srgbClr val="1F1F1E"/>
                </a:solidFill>
                <a:latin typeface="Times New Roman"/>
              </a:rPr>
              <a:t>does each club</a:t>
            </a:r>
          </a:p>
          <a:p>
            <a:pPr algn="l"/>
            <a:r>
              <a:rPr sz="950" b="0" i="0">
                <a:solidFill>
                  <a:srgbClr val="1F1F1E"/>
                </a:solidFill>
                <a:latin typeface="Times New Roman"/>
              </a:rPr>
              <a:t>have?"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23317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6B6A63"/>
                </a:solidFill>
                <a:latin typeface="Times New Roman"/>
              </a:rPr>
              <a:t>×k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1005840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6B6A63"/>
                </a:solidFill>
                <a:latin typeface="Times New Roman"/>
              </a:rPr>
              <a:t>k example queries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1298448" y="2834640"/>
            <a:ext cx="164592" cy="384048"/>
          </a:xfrm>
          <a:prstGeom prst="downArrow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36192" y="2889504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4C72B0"/>
                </a:solidFill>
                <a:latin typeface="Times New Roman"/>
              </a:rPr>
              <a:t>one backward pass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31012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A63"/>
                </a:solidFill>
                <a:latin typeface="Times New Roman"/>
              </a:rPr>
              <a:t>it reads what each query is missing: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912" y="3639312"/>
            <a:ext cx="274320" cy="384048"/>
          </a:xfrm>
          <a:prstGeom prst="roundRect">
            <a:avLst>
              <a:gd name="adj" fmla="val 25000"/>
            </a:avLst>
          </a:prstGeom>
          <a:solidFill>
            <a:srgbClr val="F7F6F2"/>
          </a:solidFill>
          <a:ln w="1143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2960" y="3694176"/>
            <a:ext cx="566928" cy="256032"/>
          </a:xfrm>
          <a:prstGeom prst="roundRect">
            <a:avLst>
              <a:gd name="adj" fmla="val 45000"/>
            </a:avLst>
          </a:prstGeom>
          <a:solidFill>
            <a:srgbClr val="4C72B0"/>
          </a:solidFill>
          <a:ln w="9525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Times New Roman"/>
              </a:rPr>
              <a:t>JOIN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09344" y="3694176"/>
            <a:ext cx="566928" cy="256032"/>
          </a:xfrm>
          <a:prstGeom prst="roundRect">
            <a:avLst>
              <a:gd name="adj" fmla="val 45000"/>
            </a:avLst>
          </a:prstGeom>
          <a:solidFill>
            <a:srgbClr val="5F9EA0"/>
          </a:solidFill>
          <a:ln w="9525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Times New Roman"/>
              </a:rPr>
              <a:t>COUNT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" y="4206240"/>
            <a:ext cx="274320" cy="384048"/>
          </a:xfrm>
          <a:prstGeom prst="roundRect">
            <a:avLst>
              <a:gd name="adj" fmla="val 25000"/>
            </a:avLst>
          </a:prstGeom>
          <a:solidFill>
            <a:srgbClr val="F7F6F2"/>
          </a:solidFill>
          <a:ln w="1143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0" y="4261103"/>
            <a:ext cx="731520" cy="256032"/>
          </a:xfrm>
          <a:prstGeom prst="roundRect">
            <a:avLst>
              <a:gd name="adj" fmla="val 45000"/>
            </a:avLst>
          </a:prstGeom>
          <a:solidFill>
            <a:srgbClr val="7BA7D7"/>
          </a:solidFill>
          <a:ln w="9525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Times New Roman"/>
              </a:rPr>
              <a:t>GROUP BY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8912" y="4773168"/>
            <a:ext cx="274320" cy="384048"/>
          </a:xfrm>
          <a:prstGeom prst="roundRect">
            <a:avLst>
              <a:gd name="adj" fmla="val 25000"/>
            </a:avLst>
          </a:prstGeom>
          <a:solidFill>
            <a:srgbClr val="F7F6F2"/>
          </a:solidFill>
          <a:ln w="1143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2960" y="4828031"/>
            <a:ext cx="566928" cy="256032"/>
          </a:xfrm>
          <a:prstGeom prst="roundRect">
            <a:avLst>
              <a:gd name="adj" fmla="val 45000"/>
            </a:avLst>
          </a:prstGeom>
          <a:solidFill>
            <a:srgbClr val="4C72B0"/>
          </a:solidFill>
          <a:ln w="9525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Times New Roman"/>
              </a:rPr>
              <a:t>JOIN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609344" y="4828031"/>
            <a:ext cx="731520" cy="256032"/>
          </a:xfrm>
          <a:prstGeom prst="roundRect">
            <a:avLst>
              <a:gd name="adj" fmla="val 45000"/>
            </a:avLst>
          </a:prstGeom>
          <a:solidFill>
            <a:srgbClr val="5F9EA0"/>
          </a:solidFill>
          <a:ln w="9525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Times New Roman"/>
              </a:rPr>
              <a:t>FILTER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5440680"/>
            <a:ext cx="24688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4C72B0"/>
                </a:solidFill>
                <a:latin typeface="Times New Roman"/>
              </a:rPr>
              <a:t>the gradient names the missing skills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10128" y="1783080"/>
            <a:ext cx="786384" cy="310896"/>
          </a:xfrm>
          <a:prstGeom prst="roundRect">
            <a:avLst>
              <a:gd name="adj" fmla="val 45000"/>
            </a:avLst>
          </a:prstGeom>
          <a:solidFill>
            <a:srgbClr val="4C72B0"/>
          </a:solidFill>
          <a:ln w="9525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Times New Roman"/>
              </a:rPr>
              <a:t>JOIN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264408" y="1737360"/>
            <a:ext cx="877824" cy="402336"/>
          </a:xfrm>
          <a:prstGeom prst="roundRect">
            <a:avLst>
              <a:gd name="adj" fmla="val 40000"/>
            </a:avLst>
          </a:prstGeom>
          <a:noFill/>
          <a:ln w="16510">
            <a:solidFill>
              <a:srgbClr val="4C72B0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169664" y="1783080"/>
            <a:ext cx="786384" cy="310896"/>
          </a:xfrm>
          <a:prstGeom prst="roundRect">
            <a:avLst>
              <a:gd name="adj" fmla="val 45000"/>
            </a:avLst>
          </a:prstGeom>
          <a:solidFill>
            <a:srgbClr val="7BA7D7"/>
          </a:solidFill>
          <a:ln w="9525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Times New Roman"/>
              </a:rPr>
              <a:t>GROUP BY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23944" y="1737360"/>
            <a:ext cx="877824" cy="402336"/>
          </a:xfrm>
          <a:prstGeom prst="roundRect">
            <a:avLst>
              <a:gd name="adj" fmla="val 40000"/>
            </a:avLst>
          </a:prstGeom>
          <a:noFill/>
          <a:ln w="16510">
            <a:solidFill>
              <a:srgbClr val="4C72B0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029200" y="1783080"/>
            <a:ext cx="786384" cy="310896"/>
          </a:xfrm>
          <a:prstGeom prst="roundRect">
            <a:avLst>
              <a:gd name="adj" fmla="val 45000"/>
            </a:avLst>
          </a:prstGeom>
          <a:solidFill>
            <a:srgbClr val="5F9EA0"/>
          </a:solidFill>
          <a:ln w="9525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Times New Roman"/>
              </a:rPr>
              <a:t>FILTER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983480" y="1737360"/>
            <a:ext cx="877824" cy="402336"/>
          </a:xfrm>
          <a:prstGeom prst="roundRect">
            <a:avLst>
              <a:gd name="adj" fmla="val 40000"/>
            </a:avLst>
          </a:prstGeom>
          <a:noFill/>
          <a:ln w="16510">
            <a:solidFill>
              <a:srgbClr val="4C72B0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3255264" y="2148840"/>
            <a:ext cx="2523744" cy="0"/>
          </a:xfrm>
          <a:prstGeom prst="line">
            <a:avLst/>
          </a:prstGeom>
          <a:ln w="20320">
            <a:solidFill>
              <a:srgbClr val="8C8C8C"/>
            </a:solidFill>
          </a:ln>
          <a:effectLst/>
        </p:spPr>
      </p:cxnSp>
      <p:sp>
        <p:nvSpPr>
          <p:cNvPr id="38" name="Rounded Rectangle 37"/>
          <p:cNvSpPr/>
          <p:nvPr/>
        </p:nvSpPr>
        <p:spPr>
          <a:xfrm>
            <a:off x="3310128" y="2496312"/>
            <a:ext cx="786384" cy="310896"/>
          </a:xfrm>
          <a:prstGeom prst="roundRect">
            <a:avLst>
              <a:gd name="adj" fmla="val 45000"/>
            </a:avLst>
          </a:prstGeom>
          <a:solidFill>
            <a:srgbClr val="5F9EA0"/>
          </a:solidFill>
          <a:ln w="9525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Times New Roman"/>
              </a:rPr>
              <a:t>COUNT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64408" y="2450592"/>
            <a:ext cx="877824" cy="402336"/>
          </a:xfrm>
          <a:prstGeom prst="roundRect">
            <a:avLst>
              <a:gd name="adj" fmla="val 40000"/>
            </a:avLst>
          </a:prstGeom>
          <a:noFill/>
          <a:ln w="16510">
            <a:solidFill>
              <a:srgbClr val="4C72B0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169664" y="2496312"/>
            <a:ext cx="786384" cy="310896"/>
          </a:xfrm>
          <a:prstGeom prst="roundRect">
            <a:avLst>
              <a:gd name="adj" fmla="val 45000"/>
            </a:avLst>
          </a:prstGeom>
          <a:solidFill>
            <a:srgbClr val="7BA7D7"/>
          </a:solidFill>
          <a:ln w="9525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Times New Roman"/>
              </a:rPr>
              <a:t>SORT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123944" y="2450592"/>
            <a:ext cx="877824" cy="402336"/>
          </a:xfrm>
          <a:prstGeom prst="roundRect">
            <a:avLst>
              <a:gd name="adj" fmla="val 40000"/>
            </a:avLst>
          </a:prstGeom>
          <a:noFill/>
          <a:ln w="16510">
            <a:solidFill>
              <a:srgbClr val="4C72B0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029200" y="2496312"/>
            <a:ext cx="786384" cy="310896"/>
          </a:xfrm>
          <a:prstGeom prst="roundRect">
            <a:avLst>
              <a:gd name="adj" fmla="val 45000"/>
            </a:avLst>
          </a:prstGeom>
          <a:solidFill>
            <a:srgbClr val="E8E6E1"/>
          </a:solidFill>
          <a:ln w="9525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800" b="1" i="0">
                <a:solidFill>
                  <a:srgbClr val="6B6A63"/>
                </a:solidFill>
                <a:latin typeface="Times New Roman"/>
              </a:rPr>
              <a:t>…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3255264" y="2862072"/>
            <a:ext cx="2523744" cy="0"/>
          </a:xfrm>
          <a:prstGeom prst="line">
            <a:avLst/>
          </a:prstGeom>
          <a:ln w="20320">
            <a:solidFill>
              <a:srgbClr val="8C8C8C"/>
            </a:solidFill>
          </a:ln>
          <a:effectLst/>
        </p:spPr>
      </p:cxnSp>
      <p:sp>
        <p:nvSpPr>
          <p:cNvPr id="44" name="Rounded Rectangle 43"/>
          <p:cNvSpPr/>
          <p:nvPr/>
        </p:nvSpPr>
        <p:spPr>
          <a:xfrm>
            <a:off x="3310128" y="3209544"/>
            <a:ext cx="786384" cy="310896"/>
          </a:xfrm>
          <a:prstGeom prst="roundRect">
            <a:avLst>
              <a:gd name="adj" fmla="val 45000"/>
            </a:avLst>
          </a:prstGeom>
          <a:solidFill>
            <a:srgbClr val="DD8452"/>
          </a:solidFill>
          <a:ln w="9525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Times New Roman"/>
              </a:rPr>
              <a:t>PLOT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69664" y="3209544"/>
            <a:ext cx="786384" cy="310896"/>
          </a:xfrm>
          <a:prstGeom prst="roundRect">
            <a:avLst>
              <a:gd name="adj" fmla="val 45000"/>
            </a:avLst>
          </a:prstGeom>
          <a:solidFill>
            <a:srgbClr val="DD8452"/>
          </a:solidFill>
          <a:ln w="9525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Times New Roman"/>
              </a:rPr>
              <a:t>REGEX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29200" y="3209544"/>
            <a:ext cx="786384" cy="310896"/>
          </a:xfrm>
          <a:prstGeom prst="roundRect">
            <a:avLst>
              <a:gd name="adj" fmla="val 45000"/>
            </a:avLst>
          </a:prstGeom>
          <a:solidFill>
            <a:srgbClr val="C44E52"/>
          </a:solidFill>
          <a:ln w="9525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Times New Roman"/>
              </a:rPr>
              <a:t>RECURSION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3255264" y="3575303"/>
            <a:ext cx="2523744" cy="0"/>
          </a:xfrm>
          <a:prstGeom prst="line">
            <a:avLst/>
          </a:prstGeom>
          <a:ln w="20320">
            <a:solidFill>
              <a:srgbClr val="8C8C8C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3255264" y="1170432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B6A63"/>
                </a:solidFill>
                <a:latin typeface="Times New Roman"/>
              </a:rPr>
              <a:t>a sparse dictionary over many traces</a:t>
            </a:r>
          </a:p>
          <a:p>
            <a:pPr algn="ctr"/>
            <a:r>
              <a:rPr sz="950" b="0" i="0">
                <a:solidFill>
                  <a:srgbClr val="6B6A63"/>
                </a:solidFill>
                <a:latin typeface="Times New Roman"/>
              </a:rPr>
              <a:t>stocks the shelves with named atoms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383280" y="4041648"/>
            <a:ext cx="2286000" cy="15727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0320">
            <a:solidFill>
              <a:srgbClr val="4C72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493008" y="4151376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C72B0"/>
                </a:solidFill>
                <a:latin typeface="Times New Roman"/>
              </a:rPr>
              <a:t>Task Specification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02736" y="4498848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4C72B0"/>
                </a:solidFill>
                <a:latin typeface="Times New Roman"/>
              </a:rPr>
              <a:t>✓ JOIN    ✓ GROUP BY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02736" y="4791456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4C72B0"/>
                </a:solidFill>
                <a:latin typeface="Times New Roman"/>
              </a:rPr>
              <a:t>✓ FILTER  ✓ COUNT  ✓ SORT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02736" y="5084064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44E52"/>
                </a:solidFill>
                <a:latin typeface="Times New Roman"/>
              </a:rPr>
              <a:t>✗ PLOT   ✗ REGEX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93008" y="53949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B6A63"/>
                </a:solidFill>
                <a:latin typeface="Times New Roman"/>
              </a:rPr>
              <a:t>= what the k queries need, no more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510528" y="1225295"/>
            <a:ext cx="914400" cy="694944"/>
          </a:xfrm>
          <a:prstGeom prst="roundRect">
            <a:avLst>
              <a:gd name="adj" fmla="val 25000"/>
            </a:avLst>
          </a:prstGeom>
          <a:solidFill>
            <a:srgbClr val="EEF2F9"/>
          </a:solidFill>
          <a:ln w="20320">
            <a:solidFill>
              <a:srgbClr val="4C72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956755" y="1097279"/>
            <a:ext cx="21945" cy="12801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922008" y="1005839"/>
            <a:ext cx="91440" cy="91440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761988" y="1462125"/>
            <a:ext cx="82296" cy="82296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091172" y="1462125"/>
            <a:ext cx="82296" cy="82296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6839712" y="1656161"/>
            <a:ext cx="256032" cy="27432"/>
          </a:xfrm>
          <a:prstGeom prst="roundRect">
            <a:avLst>
              <a:gd name="adj" fmla="val 50000"/>
            </a:avLst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90488" y="1956816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F1F1E"/>
                </a:solidFill>
                <a:latin typeface="Times New Roman"/>
              </a:rPr>
              <a:t>Teacher LLM</a:t>
            </a:r>
          </a:p>
        </p:txBody>
      </p:sp>
      <p:sp>
        <p:nvSpPr>
          <p:cNvPr id="62" name="Down Arrow 61"/>
          <p:cNvSpPr/>
          <p:nvPr/>
        </p:nvSpPr>
        <p:spPr>
          <a:xfrm>
            <a:off x="6903720" y="2157984"/>
            <a:ext cx="146304" cy="310896"/>
          </a:xfrm>
          <a:prstGeom prst="downArrow">
            <a:avLst/>
          </a:prstGeom>
          <a:solidFill>
            <a:srgbClr val="8C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95744" y="217627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A63"/>
                </a:solidFill>
                <a:latin typeface="Times New Roman"/>
              </a:rPr>
              <a:t>traces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309360" y="2395728"/>
            <a:ext cx="1481328" cy="713232"/>
          </a:xfrm>
          <a:prstGeom prst="roundRect">
            <a:avLst>
              <a:gd name="adj" fmla="val 25000"/>
            </a:avLst>
          </a:prstGeom>
          <a:solidFill>
            <a:srgbClr val="F7F6F2"/>
          </a:solidFill>
          <a:ln w="16510">
            <a:solidFill>
              <a:srgbClr val="4C72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00800" y="24505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F1F1E"/>
                </a:solidFill>
                <a:latin typeface="Consolas"/>
              </a:rPr>
              <a:t>SELECT c, COUNT(*)</a:t>
            </a:r>
          </a:p>
          <a:p>
            <a:pPr algn="l"/>
            <a:r>
              <a:rPr sz="700" b="0" i="0">
                <a:solidFill>
                  <a:srgbClr val="1F1F1E"/>
                </a:solidFill>
                <a:latin typeface="Consolas"/>
              </a:rPr>
              <a:t> FROM a JOIN b …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400800" y="2834640"/>
            <a:ext cx="731520" cy="201168"/>
          </a:xfrm>
          <a:prstGeom prst="roundRect">
            <a:avLst>
              <a:gd name="adj" fmla="val 45000"/>
            </a:avLst>
          </a:prstGeom>
          <a:solidFill>
            <a:srgbClr val="4C72B0"/>
          </a:solidFill>
          <a:ln w="9525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650" b="1" i="0">
                <a:solidFill>
                  <a:srgbClr val="FFFFFF"/>
                </a:solidFill>
                <a:latin typeface="Times New Roman"/>
              </a:rPr>
              <a:t>JOIN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7827264" y="2724912"/>
            <a:ext cx="384048" cy="384048"/>
          </a:xfrm>
          <a:prstGeom prst="line">
            <a:avLst/>
          </a:prstGeom>
          <a:ln w="27940">
            <a:solidFill>
              <a:srgbClr val="4C72B0"/>
            </a:solidFill>
            <a:tailEnd type="triangle" w="med" len="med"/>
          </a:ln>
          <a:effectLst/>
        </p:spPr>
      </p:cxnSp>
      <p:sp>
        <p:nvSpPr>
          <p:cNvPr id="68" name="Rounded Rectangle 67"/>
          <p:cNvSpPr/>
          <p:nvPr/>
        </p:nvSpPr>
        <p:spPr>
          <a:xfrm>
            <a:off x="6309360" y="3182112"/>
            <a:ext cx="1481328" cy="713232"/>
          </a:xfrm>
          <a:prstGeom prst="roundRect">
            <a:avLst>
              <a:gd name="adj" fmla="val 25000"/>
            </a:avLst>
          </a:prstGeom>
          <a:solidFill>
            <a:srgbClr val="F7F6F2"/>
          </a:solidFill>
          <a:ln w="16510">
            <a:solidFill>
              <a:srgbClr val="4C72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3236976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F1F1E"/>
                </a:solidFill>
                <a:latin typeface="Consolas"/>
              </a:rPr>
              <a:t>df.groupby('city')</a:t>
            </a:r>
          </a:p>
          <a:p>
            <a:pPr algn="l"/>
            <a:r>
              <a:rPr sz="700" b="0" i="0">
                <a:solidFill>
                  <a:srgbClr val="1F1F1E"/>
                </a:solidFill>
                <a:latin typeface="Consolas"/>
              </a:rPr>
              <a:t> .dues.sum()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400800" y="3621024"/>
            <a:ext cx="731520" cy="201168"/>
          </a:xfrm>
          <a:prstGeom prst="roundRect">
            <a:avLst>
              <a:gd name="adj" fmla="val 45000"/>
            </a:avLst>
          </a:prstGeom>
          <a:solidFill>
            <a:srgbClr val="7BA7D7"/>
          </a:solidFill>
          <a:ln w="9525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650" b="1" i="0">
                <a:solidFill>
                  <a:srgbClr val="FFFFFF"/>
                </a:solidFill>
                <a:latin typeface="Times New Roman"/>
              </a:rPr>
              <a:t>GROUP BY</a:t>
            </a:r>
          </a:p>
        </p:txBody>
      </p:sp>
      <p:cxnSp>
        <p:nvCxnSpPr>
          <p:cNvPr id="71" name="Connector 70"/>
          <p:cNvCxnSpPr/>
          <p:nvPr/>
        </p:nvCxnSpPr>
        <p:spPr>
          <a:xfrm flipV="1">
            <a:off x="7827264" y="3218688"/>
            <a:ext cx="384048" cy="292608"/>
          </a:xfrm>
          <a:prstGeom prst="line">
            <a:avLst/>
          </a:prstGeom>
          <a:ln w="27940">
            <a:solidFill>
              <a:srgbClr val="4C72B0"/>
            </a:solidFill>
            <a:tailEnd type="triangle" w="med" len="med"/>
          </a:ln>
          <a:effectLst/>
        </p:spPr>
      </p:cxnSp>
      <p:sp>
        <p:nvSpPr>
          <p:cNvPr id="72" name="Rounded Rectangle 71"/>
          <p:cNvSpPr/>
          <p:nvPr/>
        </p:nvSpPr>
        <p:spPr>
          <a:xfrm>
            <a:off x="6309360" y="3968496"/>
            <a:ext cx="1481328" cy="713232"/>
          </a:xfrm>
          <a:prstGeom prst="roundRect">
            <a:avLst>
              <a:gd name="adj" fmla="val 25000"/>
            </a:avLst>
          </a:prstGeom>
          <a:solidFill>
            <a:srgbClr val="E8E6E1"/>
          </a:solidFill>
          <a:ln w="1651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00800" y="4023359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F1F1E"/>
                </a:solidFill>
                <a:latin typeface="Consolas"/>
              </a:rPr>
              <a:t>plt.plot(revenue)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400800" y="4407408"/>
            <a:ext cx="731520" cy="201168"/>
          </a:xfrm>
          <a:prstGeom prst="roundRect">
            <a:avLst>
              <a:gd name="adj" fmla="val 45000"/>
            </a:avLst>
          </a:prstGeom>
          <a:solidFill>
            <a:srgbClr val="DD8452"/>
          </a:solidFill>
          <a:ln w="9525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650" b="1" i="0">
                <a:solidFill>
                  <a:srgbClr val="FFFFFF"/>
                </a:solidFill>
                <a:latin typeface="Times New Roman"/>
              </a:rPr>
              <a:t>PLOT</a:t>
            </a:r>
          </a:p>
        </p:txBody>
      </p:sp>
      <p:cxnSp>
        <p:nvCxnSpPr>
          <p:cNvPr id="75" name="Connector 74"/>
          <p:cNvCxnSpPr/>
          <p:nvPr/>
        </p:nvCxnSpPr>
        <p:spPr>
          <a:xfrm flipV="1">
            <a:off x="6254496" y="3913632"/>
            <a:ext cx="1664208" cy="822960"/>
          </a:xfrm>
          <a:prstGeom prst="line">
            <a:avLst/>
          </a:prstGeom>
          <a:ln w="27940">
            <a:solidFill>
              <a:srgbClr val="C44E52"/>
            </a:solidFill>
          </a:ln>
          <a:effectLst/>
        </p:spPr>
      </p:cxnSp>
      <p:sp>
        <p:nvSpPr>
          <p:cNvPr id="76" name="TextBox 75"/>
          <p:cNvSpPr txBox="1"/>
          <p:nvPr/>
        </p:nvSpPr>
        <p:spPr>
          <a:xfrm>
            <a:off x="6236208" y="4809744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C44E52"/>
                </a:solidFill>
                <a:latin typeface="Times New Roman"/>
              </a:rPr>
              <a:t>rejected: supplies</a:t>
            </a:r>
          </a:p>
          <a:p>
            <a:pPr algn="ctr"/>
            <a:r>
              <a:rPr sz="900" b="1" i="0">
                <a:solidFill>
                  <a:srgbClr val="C44E52"/>
                </a:solidFill>
                <a:latin typeface="Times New Roman"/>
              </a:rPr>
              <a:t>PLOT, off the spec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8156448" y="2423160"/>
            <a:ext cx="329184" cy="1463040"/>
          </a:xfrm>
          <a:prstGeom prst="line">
            <a:avLst/>
          </a:prstGeom>
          <a:ln w="33020">
            <a:solidFill>
              <a:srgbClr val="8C8C8C"/>
            </a:solidFill>
          </a:ln>
          <a:effectLst/>
        </p:spPr>
      </p:cxnSp>
      <p:cxnSp>
        <p:nvCxnSpPr>
          <p:cNvPr id="78" name="Connector 77"/>
          <p:cNvCxnSpPr/>
          <p:nvPr/>
        </p:nvCxnSpPr>
        <p:spPr>
          <a:xfrm flipH="1">
            <a:off x="8723376" y="2423160"/>
            <a:ext cx="329184" cy="1463040"/>
          </a:xfrm>
          <a:prstGeom prst="line">
            <a:avLst/>
          </a:prstGeom>
          <a:ln w="33020">
            <a:solidFill>
              <a:srgbClr val="8C8C8C"/>
            </a:solidFill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8631936" y="248716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C44E52"/>
                </a:solidFill>
                <a:latin typeface="Times New Roman"/>
              </a:rPr>
              <a:t>λ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193024" y="212140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6B6A63"/>
                </a:solidFill>
                <a:latin typeface="Times New Roman"/>
              </a:rPr>
              <a:t>budget</a:t>
            </a:r>
          </a:p>
        </p:txBody>
      </p:sp>
      <p:sp>
        <p:nvSpPr>
          <p:cNvPr id="81" name="Down Arrow 80"/>
          <p:cNvSpPr/>
          <p:nvPr/>
        </p:nvSpPr>
        <p:spPr>
          <a:xfrm>
            <a:off x="8522208" y="3913632"/>
            <a:ext cx="164592" cy="310896"/>
          </a:xfrm>
          <a:prstGeom prst="downArrow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8055863" y="4398264"/>
            <a:ext cx="859536" cy="676656"/>
          </a:xfrm>
          <a:prstGeom prst="roundRect">
            <a:avLst>
              <a:gd name="adj" fmla="val 25000"/>
            </a:avLst>
          </a:prstGeom>
          <a:solidFill>
            <a:srgbClr val="EEF2F9"/>
          </a:solidFill>
          <a:ln w="20320">
            <a:solidFill>
              <a:srgbClr val="4C72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474659" y="4270248"/>
            <a:ext cx="21945" cy="12801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8439911" y="4178807"/>
            <a:ext cx="91440" cy="91440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289767" y="4627778"/>
            <a:ext cx="82296" cy="82296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599200" y="4627778"/>
            <a:ext cx="82296" cy="82296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8365296" y="4817790"/>
            <a:ext cx="240670" cy="27432"/>
          </a:xfrm>
          <a:prstGeom prst="roundRect">
            <a:avLst>
              <a:gd name="adj" fmla="val 50000"/>
            </a:avLst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735823" y="5111496"/>
            <a:ext cx="149961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F1F1E"/>
                </a:solidFill>
                <a:latin typeface="Times New Roman"/>
              </a:rPr>
              <a:t>Student LLM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309360" y="5413248"/>
            <a:ext cx="914400" cy="20116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6336792" y="5440680"/>
            <a:ext cx="777240" cy="146304"/>
          </a:xfrm>
          <a:prstGeom prst="roundRect">
            <a:avLst>
              <a:gd name="adj" fmla="val 30000"/>
            </a:avLst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7242048" y="5376672"/>
            <a:ext cx="256032" cy="256032"/>
          </a:xfrm>
          <a:prstGeom prst="ellipse">
            <a:avLst/>
          </a:prstGeom>
          <a:solidFill>
            <a:srgbClr val="55A868"/>
          </a:solidFill>
          <a:ln w="15240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✓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17920" y="5669280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B6A63"/>
                </a:solidFill>
                <a:latin typeface="Times New Roman"/>
              </a:rPr>
              <a:t>train until absorbed, stop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509760" y="111556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6B6A63"/>
                </a:solidFill>
                <a:latin typeface="Times New Roman"/>
              </a:rPr>
              <a:t>live requests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546336" y="1417320"/>
            <a:ext cx="1170432" cy="566928"/>
          </a:xfrm>
          <a:prstGeom prst="roundRect">
            <a:avLst>
              <a:gd name="adj" fmla="val 25000"/>
            </a:avLst>
          </a:prstGeom>
          <a:solidFill>
            <a:srgbClr val="EEF2F9"/>
          </a:solidFill>
          <a:ln w="16510">
            <a:solidFill>
              <a:srgbClr val="4C72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619488" y="1481328"/>
            <a:ext cx="10972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4C72B0"/>
                </a:solidFill>
                <a:latin typeface="Consolas"/>
              </a:rPr>
              <a:t>"Avg dues</a:t>
            </a:r>
          </a:p>
          <a:p>
            <a:pPr algn="l"/>
            <a:r>
              <a:rPr sz="750" b="0" i="0">
                <a:solidFill>
                  <a:srgbClr val="4C72B0"/>
                </a:solidFill>
                <a:latin typeface="Consolas"/>
              </a:rPr>
              <a:t> per club?"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10808208" y="1417320"/>
            <a:ext cx="1170432" cy="566928"/>
          </a:xfrm>
          <a:prstGeom prst="roundRect">
            <a:avLst>
              <a:gd name="adj" fmla="val 25000"/>
            </a:avLst>
          </a:prstGeom>
          <a:solidFill>
            <a:srgbClr val="FDF0E7"/>
          </a:solidFill>
          <a:ln w="16510">
            <a:solidFill>
              <a:srgbClr val="DD845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881360" y="1481328"/>
            <a:ext cx="10972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DD8452"/>
                </a:solidFill>
                <a:latin typeface="Consolas"/>
              </a:rPr>
              <a:t>"Plot a bar</a:t>
            </a:r>
          </a:p>
          <a:p>
            <a:pPr algn="l"/>
            <a:r>
              <a:rPr sz="750" b="0" i="0">
                <a:solidFill>
                  <a:srgbClr val="DD8452"/>
                </a:solidFill>
                <a:latin typeface="Consolas"/>
              </a:rPr>
              <a:t> chart"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509760" y="2962656"/>
            <a:ext cx="530352" cy="292608"/>
          </a:xfrm>
          <a:prstGeom prst="roundRect">
            <a:avLst>
              <a:gd name="adj" fmla="val 25000"/>
            </a:avLst>
          </a:prstGeom>
          <a:solidFill>
            <a:srgbClr val="DFE5EF"/>
          </a:solidFill>
          <a:ln w="16510">
            <a:solidFill>
              <a:srgbClr val="4C72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10753344" y="2962656"/>
            <a:ext cx="1261872" cy="292608"/>
          </a:xfrm>
          <a:prstGeom prst="roundRect">
            <a:avLst>
              <a:gd name="adj" fmla="val 25000"/>
            </a:avLst>
          </a:prstGeom>
          <a:solidFill>
            <a:srgbClr val="DFE5EF"/>
          </a:solidFill>
          <a:ln w="16510">
            <a:solidFill>
              <a:srgbClr val="4C72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0204704" y="2487168"/>
            <a:ext cx="402336" cy="402336"/>
          </a:xfrm>
          <a:prstGeom prst="ellipse">
            <a:avLst/>
          </a:prstGeom>
          <a:solidFill>
            <a:srgbClr val="55A868"/>
          </a:solidFill>
          <a:ln w="19050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90%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515600" y="3328416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B6A63"/>
                </a:solidFill>
                <a:latin typeface="Times New Roman"/>
              </a:rPr>
              <a:t>conformal gate:</a:t>
            </a:r>
          </a:p>
          <a:p>
            <a:pPr algn="l"/>
            <a:r>
              <a:rPr sz="850" b="0" i="0">
                <a:solidFill>
                  <a:srgbClr val="6B6A63"/>
                </a:solidFill>
                <a:latin typeface="Times New Roman"/>
              </a:rPr>
              <a:t>guaranteed, not tuned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10131552" y="2011680"/>
            <a:ext cx="0" cy="1691640"/>
          </a:xfrm>
          <a:prstGeom prst="line">
            <a:avLst/>
          </a:prstGeom>
          <a:ln w="35560">
            <a:solidFill>
              <a:srgbClr val="4C72B0"/>
            </a:solidFill>
            <a:tailEnd type="triangle" w="med" len="med"/>
          </a:ln>
          <a:effectLst/>
        </p:spPr>
      </p:cxnSp>
      <p:cxnSp>
        <p:nvCxnSpPr>
          <p:cNvPr id="103" name="Connector 102"/>
          <p:cNvCxnSpPr/>
          <p:nvPr/>
        </p:nvCxnSpPr>
        <p:spPr>
          <a:xfrm>
            <a:off x="11393424" y="2011680"/>
            <a:ext cx="0" cy="950976"/>
          </a:xfrm>
          <a:prstGeom prst="line">
            <a:avLst/>
          </a:prstGeom>
          <a:ln w="35560">
            <a:solidFill>
              <a:srgbClr val="DD8452"/>
            </a:solidFill>
            <a:tailEnd type="triangle" w="med" len="med"/>
          </a:ln>
          <a:effectLst/>
        </p:spPr>
      </p:cxnSp>
      <p:cxnSp>
        <p:nvCxnSpPr>
          <p:cNvPr id="104" name="Connector 103"/>
          <p:cNvCxnSpPr/>
          <p:nvPr/>
        </p:nvCxnSpPr>
        <p:spPr>
          <a:xfrm>
            <a:off x="11393424" y="2999232"/>
            <a:ext cx="512064" cy="1042416"/>
          </a:xfrm>
          <a:prstGeom prst="line">
            <a:avLst/>
          </a:prstGeom>
          <a:ln w="35560">
            <a:solidFill>
              <a:srgbClr val="DD8452"/>
            </a:solidFill>
            <a:tailEnd type="triangle" w="med" len="med"/>
          </a:ln>
          <a:effectLst/>
        </p:spPr>
      </p:cxnSp>
      <p:sp>
        <p:nvSpPr>
          <p:cNvPr id="105" name="Rounded Rectangle 104"/>
          <p:cNvSpPr/>
          <p:nvPr/>
        </p:nvSpPr>
        <p:spPr>
          <a:xfrm>
            <a:off x="9701784" y="4005072"/>
            <a:ext cx="859536" cy="676656"/>
          </a:xfrm>
          <a:prstGeom prst="roundRect">
            <a:avLst>
              <a:gd name="adj" fmla="val 25000"/>
            </a:avLst>
          </a:prstGeom>
          <a:solidFill>
            <a:srgbClr val="EEF2F9"/>
          </a:solidFill>
          <a:ln w="20320">
            <a:solidFill>
              <a:srgbClr val="4C72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120579" y="3877056"/>
            <a:ext cx="21945" cy="12801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0085832" y="3785615"/>
            <a:ext cx="91440" cy="91440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935687" y="4234586"/>
            <a:ext cx="82296" cy="82296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0245120" y="4234586"/>
            <a:ext cx="82296" cy="82296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10011216" y="4424598"/>
            <a:ext cx="240670" cy="27432"/>
          </a:xfrm>
          <a:prstGeom prst="roundRect">
            <a:avLst>
              <a:gd name="adj" fmla="val 50000"/>
            </a:avLst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381744" y="4718304"/>
            <a:ext cx="149961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F1F1E"/>
                </a:solidFill>
                <a:latin typeface="Times New Roman"/>
              </a:rPr>
              <a:t>Student agent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11356848" y="4096512"/>
            <a:ext cx="658368" cy="457200"/>
          </a:xfrm>
          <a:prstGeom prst="roundRect">
            <a:avLst>
              <a:gd name="adj" fmla="val 25000"/>
            </a:avLst>
          </a:prstGeom>
          <a:solidFill>
            <a:srgbClr val="FDF0E7"/>
          </a:solidFill>
          <a:ln w="17780">
            <a:solidFill>
              <a:srgbClr val="DD8452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900" b="1" i="0">
                <a:solidFill>
                  <a:srgbClr val="DD8452"/>
                </a:solidFill>
                <a:latin typeface="Times New Roman"/>
              </a:rPr>
              <a:t>refuse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9528048" y="5212080"/>
            <a:ext cx="2340864" cy="62179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0320">
            <a:solidFill>
              <a:srgbClr val="55A868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950" b="0" i="0">
                <a:solidFill>
                  <a:srgbClr val="1F1F1E"/>
                </a:solidFill>
                <a:latin typeface="Times New Roman"/>
              </a:rPr>
              <a:t>Certified, both sides:</a:t>
            </a:r>
          </a:p>
          <a:p>
            <a:pPr algn="ctr"/>
            <a:r>
              <a:rPr sz="950" b="0" i="0">
                <a:solidFill>
                  <a:srgbClr val="1F1F1E"/>
                </a:solidFill>
                <a:latin typeface="Times New Roman"/>
              </a:rPr>
              <a:t>in-task ≥ 0.93 · off-task ≤ 0.25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2880360" y="6144768"/>
            <a:ext cx="6949440" cy="502920"/>
          </a:xfrm>
          <a:prstGeom prst="roundRect">
            <a:avLst>
              <a:gd name="adj" fmla="val 50000"/>
            </a:avLst>
          </a:prstGeom>
          <a:solidFill>
            <a:srgbClr val="F7F6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3108960" y="6272784"/>
            <a:ext cx="502920" cy="246888"/>
          </a:xfrm>
          <a:prstGeom prst="roundRect">
            <a:avLst>
              <a:gd name="adj" fmla="val 45000"/>
            </a:avLst>
          </a:prstGeom>
          <a:solidFill>
            <a:srgbClr val="4C72B0"/>
          </a:solidFill>
          <a:ln w="9525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750" b="1" i="0">
                <a:solidFill>
                  <a:srgbClr val="FFFFFF"/>
                </a:solidFill>
                <a:latin typeface="Times New Roman"/>
              </a:rPr>
              <a:t>JOIN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703320" y="6272784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1F1E"/>
                </a:solidFill>
                <a:latin typeface="Times New Roman"/>
              </a:rPr>
              <a:t>= skill the task needs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5486400" y="6272784"/>
            <a:ext cx="502920" cy="246888"/>
          </a:xfrm>
          <a:prstGeom prst="roundRect">
            <a:avLst>
              <a:gd name="adj" fmla="val 45000"/>
            </a:avLst>
          </a:prstGeom>
          <a:solidFill>
            <a:srgbClr val="DD8452"/>
          </a:solidFill>
          <a:ln w="9525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750" b="1" i="0">
                <a:solidFill>
                  <a:srgbClr val="FFFFFF"/>
                </a:solidFill>
                <a:latin typeface="Times New Roman"/>
              </a:rPr>
              <a:t>PLOT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080760" y="6272784"/>
            <a:ext cx="1783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1F1E"/>
                </a:solidFill>
                <a:latin typeface="Times New Roman"/>
              </a:rPr>
              <a:t>= out-of-scope skill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7818120" y="6272784"/>
            <a:ext cx="502920" cy="246888"/>
          </a:xfrm>
          <a:prstGeom prst="roundRect">
            <a:avLst>
              <a:gd name="adj" fmla="val 45000"/>
            </a:avLst>
          </a:prstGeom>
          <a:solidFill>
            <a:srgbClr val="E8E6E1"/>
          </a:solidFill>
          <a:ln w="9525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750" b="1" i="0">
                <a:solidFill>
                  <a:srgbClr val="6B6A63"/>
                </a:solidFill>
                <a:latin typeface="Times New Roman"/>
              </a:rPr>
              <a:t>…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412480" y="6272784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1F1E"/>
                </a:solidFill>
                <a:latin typeface="Times New Roman"/>
              </a:rPr>
              <a:t>= other atoms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