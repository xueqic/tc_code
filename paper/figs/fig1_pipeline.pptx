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7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What must a student learn?</a:t>
            </a:r>
          </a:p>
        </p:txBody>
      </p:sp>
      <p:sp>
        <p:nvSpPr>
          <p:cNvPr id="4" name="Oval 3"/>
          <p:cNvSpPr/>
          <p:nvPr/>
        </p:nvSpPr>
        <p:spPr>
          <a:xfrm>
            <a:off x="329184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5888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A library of skill atoms</a:t>
            </a:r>
          </a:p>
        </p:txBody>
      </p:sp>
      <p:sp>
        <p:nvSpPr>
          <p:cNvPr id="6" name="Oval 5"/>
          <p:cNvSpPr/>
          <p:nvPr/>
        </p:nvSpPr>
        <p:spPr>
          <a:xfrm>
            <a:off x="630936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8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Distill exactly to spec</a:t>
            </a:r>
          </a:p>
        </p:txBody>
      </p:sp>
      <p:sp>
        <p:nvSpPr>
          <p:cNvPr id="8" name="Oval 7"/>
          <p:cNvSpPr/>
          <p:nvPr/>
        </p:nvSpPr>
        <p:spPr>
          <a:xfrm>
            <a:off x="9281160" y="182880"/>
            <a:ext cx="365760" cy="365760"/>
          </a:xfrm>
          <a:prstGeom prst="ellipse">
            <a:avLst/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8" y="201168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1F1E"/>
                </a:solidFill>
                <a:latin typeface="Times New Roman"/>
              </a:rPr>
              <a:t>Certified 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2304288"/>
            <a:ext cx="1572768" cy="128016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4904" y="2203703"/>
            <a:ext cx="1572768" cy="128016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" y="2103120"/>
            <a:ext cx="1572768" cy="1280160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7556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6A63"/>
                </a:solidFill>
                <a:latin typeface="Times New Roman"/>
              </a:rPr>
              <a:t>k example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542032"/>
            <a:ext cx="1481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"How many members</a:t>
            </a:r>
          </a:p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does each club</a:t>
            </a:r>
          </a:p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have?"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18688"/>
            <a:ext cx="457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B6A63"/>
                </a:solidFill>
                <a:latin typeface="Times New Roman"/>
              </a:rPr>
              <a:t>×k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993392" y="2596896"/>
            <a:ext cx="713232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backward</a:t>
            </a:r>
          </a:p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1691640"/>
            <a:ext cx="1591056" cy="2331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1371600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A63"/>
                </a:solidFill>
                <a:latin typeface="Times New Roman"/>
              </a:rPr>
              <a:t>each query needs: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52928" y="1938528"/>
            <a:ext cx="274320" cy="40233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00400" y="2011680"/>
            <a:ext cx="512064" cy="246888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39" y="2011680"/>
            <a:ext cx="512064" cy="246888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52928" y="2615184"/>
            <a:ext cx="274320" cy="40233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2688336"/>
            <a:ext cx="658368" cy="246888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52928" y="3291840"/>
            <a:ext cx="274320" cy="402336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0400" y="3364992"/>
            <a:ext cx="512064" cy="246888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9039" y="3364992"/>
            <a:ext cx="512064" cy="246888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0048" y="411480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4C72B0"/>
                </a:solidFill>
                <a:latin typeface="Times New Roman"/>
              </a:rPr>
              <a:t>the gradient names them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407408" y="2596896"/>
            <a:ext cx="640080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sparse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coding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02352" y="1463040"/>
            <a:ext cx="1920240" cy="26974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352" y="1115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6A63"/>
                </a:solidFill>
                <a:latin typeface="Times New Roman"/>
              </a:rPr>
              <a:t>skill atom library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66944" y="170078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21224" y="1655064"/>
            <a:ext cx="841248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08192" y="170078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62472" y="1655064"/>
            <a:ext cx="841248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266944" y="220370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FILTER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21224" y="2157984"/>
            <a:ext cx="841248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08192" y="220370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COUNT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62472" y="2157984"/>
            <a:ext cx="841248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66944" y="270662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SORT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21224" y="2660904"/>
            <a:ext cx="841248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08192" y="270662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66944" y="320954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REGEX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8192" y="320954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C44E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RECURSION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66944" y="3712464"/>
            <a:ext cx="749808" cy="310896"/>
          </a:xfrm>
          <a:prstGeom prst="roundRect">
            <a:avLst>
              <a:gd name="adj" fmla="val 45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6B6A63"/>
                </a:solidFill>
                <a:latin typeface="Times New Roman"/>
              </a:rPr>
              <a:t>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6048" y="4279392"/>
            <a:ext cx="2212848" cy="56692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778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000" b="1" i="0">
                <a:solidFill>
                  <a:srgbClr val="4C72B0"/>
                </a:solidFill>
                <a:latin typeface="Times New Roman"/>
              </a:rPr>
              <a:t>specification = the atoms</a:t>
            </a:r>
          </a:p>
          <a:p>
            <a:pPr algn="ctr"/>
            <a:r>
              <a:rPr sz="1000" b="1" i="0">
                <a:solidFill>
                  <a:srgbClr val="4C72B0"/>
                </a:solidFill>
                <a:latin typeface="Times New Roman"/>
              </a:rPr>
              <a:t>your k queries need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7114032" y="2596896"/>
            <a:ext cx="585216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score by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supply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95844" y="822960"/>
            <a:ext cx="960120" cy="73152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64931" y="694944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30183" y="603504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161934" y="10744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507577" y="10744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241487" y="1276502"/>
            <a:ext cx="268833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75804" y="1591056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1F1E"/>
                </a:solidFill>
                <a:latin typeface="Times New Roman"/>
              </a:rPr>
              <a:t>Teacher LLM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8311896" y="1810512"/>
            <a:ext cx="146304" cy="329184"/>
          </a:xfrm>
          <a:prstGeom prst="downArrow">
            <a:avLst/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18288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A63"/>
                </a:solidFill>
                <a:latin typeface="Times New Roman"/>
              </a:rPr>
              <a:t>traces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54112" y="2212848"/>
            <a:ext cx="1481328" cy="65836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5552" y="226771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SELECT c, COUNT(*)</a:t>
            </a:r>
          </a:p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  FROM a JOIN b …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45552" y="2633472"/>
            <a:ext cx="603504" cy="201168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54112" y="2999232"/>
            <a:ext cx="1481328" cy="65836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45552" y="305409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df.groupby('city')</a:t>
            </a:r>
          </a:p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  .dues.sum()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45552" y="3419856"/>
            <a:ext cx="603504" cy="201168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54112" y="3785615"/>
            <a:ext cx="1481328" cy="658368"/>
          </a:xfrm>
          <a:prstGeom prst="roundRect">
            <a:avLst>
              <a:gd name="adj" fmla="val 25000"/>
            </a:avLst>
          </a:prstGeom>
          <a:solidFill>
            <a:srgbClr val="E8E6E1"/>
          </a:solidFill>
          <a:ln w="1651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5552" y="3840479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plt.plot(revenue)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45552" y="4206240"/>
            <a:ext cx="603504" cy="201168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7699248" y="3730752"/>
            <a:ext cx="1609344" cy="768096"/>
          </a:xfrm>
          <a:prstGeom prst="line">
            <a:avLst/>
          </a:prstGeom>
          <a:ln w="27940">
            <a:solidFill>
              <a:srgbClr val="C44E52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7589520" y="45902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C44E52"/>
                </a:solidFill>
                <a:latin typeface="Times New Roman"/>
              </a:rPr>
              <a:t>rejected: supplies PLOT,</a:t>
            </a:r>
          </a:p>
          <a:p>
            <a:pPr algn="ctr"/>
            <a:r>
              <a:rPr sz="950" b="1" i="0">
                <a:solidFill>
                  <a:srgbClr val="C44E52"/>
                </a:solidFill>
                <a:latin typeface="Times New Roman"/>
              </a:rPr>
              <a:t>not in the spec (λ)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9345168" y="2596896"/>
            <a:ext cx="548640" cy="658368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train,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stop early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884664" y="1773936"/>
            <a:ext cx="932688" cy="74980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40035" y="1645920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05288" y="1554480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141976" y="2032711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477743" y="2032711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220431" y="2238816"/>
            <a:ext cx="261152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64624" y="2560320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1F1E"/>
                </a:solidFill>
                <a:latin typeface="Times New Roman"/>
              </a:rPr>
              <a:t>Student LLM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93808" y="3246120"/>
            <a:ext cx="96926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397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921240" y="3273552"/>
            <a:ext cx="822960" cy="164592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881360" y="3191256"/>
            <a:ext cx="274320" cy="274320"/>
          </a:xfrm>
          <a:prstGeom prst="ellipse">
            <a:avLst/>
          </a:prstGeom>
          <a:solidFill>
            <a:srgbClr val="55A868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10928" y="352958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demand absorbed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01200" y="395020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B6A63"/>
                </a:solidFill>
                <a:latin typeface="Times New Roman"/>
              </a:rPr>
              <a:t>live requests: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601200" y="4224528"/>
            <a:ext cx="1298448" cy="47548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74352" y="427939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4C72B0"/>
                </a:solidFill>
                <a:latin typeface="Consolas"/>
              </a:rPr>
              <a:t>"Avg dues</a:t>
            </a:r>
          </a:p>
          <a:p>
            <a:pPr algn="l"/>
            <a:r>
              <a:rPr sz="750" b="0" i="0">
                <a:solidFill>
                  <a:srgbClr val="4C72B0"/>
                </a:solidFill>
                <a:latin typeface="Consolas"/>
              </a:rPr>
              <a:t> per club?"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601200" y="4791456"/>
            <a:ext cx="1298448" cy="475488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5240">
            <a:solidFill>
              <a:srgbClr val="DD84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74352" y="484632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DD8452"/>
                </a:solidFill>
                <a:latin typeface="Consolas"/>
              </a:rPr>
              <a:t>"Plot a bar</a:t>
            </a:r>
          </a:p>
          <a:p>
            <a:pPr algn="l"/>
            <a:r>
              <a:rPr sz="750" b="0" i="0">
                <a:solidFill>
                  <a:srgbClr val="DD8452"/>
                </a:solidFill>
                <a:latin typeface="Consolas"/>
              </a:rPr>
              <a:t> chart"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356848" y="3749039"/>
            <a:ext cx="182880" cy="1783080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1978640" y="3749039"/>
            <a:ext cx="182880" cy="1783080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1292840" y="3511296"/>
            <a:ext cx="932688" cy="256032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524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430000" y="3310128"/>
            <a:ext cx="402336" cy="402336"/>
          </a:xfrm>
          <a:prstGeom prst="ellipse">
            <a:avLst/>
          </a:prstGeom>
          <a:solidFill>
            <a:srgbClr val="55A868"/>
          </a:solidFill>
          <a:ln w="1905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90%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064240" y="2999232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B6A63"/>
                </a:solidFill>
                <a:latin typeface="Times New Roman"/>
              </a:rPr>
              <a:t>conformal gate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0936224" y="4462272"/>
            <a:ext cx="402336" cy="0"/>
          </a:xfrm>
          <a:prstGeom prst="line">
            <a:avLst/>
          </a:prstGeom>
          <a:ln w="33020">
            <a:solidFill>
              <a:srgbClr val="4C72B0"/>
            </a:solidFill>
            <a:tailEnd type="triangle" w="med" len="med"/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0936224" y="5029200"/>
            <a:ext cx="402336" cy="256032"/>
          </a:xfrm>
          <a:prstGeom prst="line">
            <a:avLst/>
          </a:prstGeom>
          <a:ln w="33020">
            <a:solidFill>
              <a:srgbClr val="DD8452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11265408" y="3931920"/>
            <a:ext cx="896112" cy="45720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778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4C72B0"/>
                </a:solidFill>
                <a:latin typeface="Times New Roman"/>
              </a:rPr>
              <a:t>→ Student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265408" y="5349240"/>
            <a:ext cx="896112" cy="457200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7780">
            <a:solidFill>
              <a:srgbClr val="DD8452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1" i="0">
                <a:solidFill>
                  <a:srgbClr val="DD8452"/>
                </a:solidFill>
                <a:latin typeface="Times New Roman"/>
              </a:rPr>
              <a:t>refuse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954512" y="1417320"/>
            <a:ext cx="118872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0320">
            <a:solidFill>
              <a:srgbClr val="55A868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50" b="0" i="0">
                <a:solidFill>
                  <a:srgbClr val="1F1F1E"/>
                </a:solidFill>
                <a:latin typeface="Times New Roman"/>
              </a:rPr>
              <a:t>Certified:</a:t>
            </a:r>
          </a:p>
          <a:p>
            <a:pPr algn="ctr"/>
            <a:r>
              <a:rPr sz="850" b="0" i="0">
                <a:solidFill>
                  <a:srgbClr val="1F1F1E"/>
                </a:solidFill>
                <a:latin typeface="Times New Roman"/>
              </a:rPr>
              <a:t>in-task</a:t>
            </a:r>
          </a:p>
          <a:p>
            <a:pPr algn="ctr"/>
            <a:r>
              <a:rPr sz="850" b="0" i="0">
                <a:solidFill>
                  <a:srgbClr val="1F1F1E"/>
                </a:solidFill>
                <a:latin typeface="Times New Roman"/>
              </a:rPr>
              <a:t>≥ 0.93</a:t>
            </a:r>
          </a:p>
          <a:p>
            <a:pPr algn="ctr"/>
            <a:r>
              <a:rPr sz="850" b="0" i="0">
                <a:solidFill>
                  <a:srgbClr val="1F1F1E"/>
                </a:solidFill>
                <a:latin typeface="Times New Roman"/>
              </a:rPr>
              <a:t>off-task</a:t>
            </a:r>
          </a:p>
          <a:p>
            <a:pPr algn="ctr"/>
            <a:r>
              <a:rPr sz="850" b="0" i="0">
                <a:solidFill>
                  <a:srgbClr val="1F1F1E"/>
                </a:solidFill>
                <a:latin typeface="Times New Roman"/>
              </a:rPr>
              <a:t>≤ 0.25</a:t>
            </a:r>
          </a:p>
        </p:txBody>
      </p:sp>
      <p:cxnSp>
        <p:nvCxnSpPr>
          <p:cNvPr id="94" name="Connector 93"/>
          <p:cNvCxnSpPr/>
          <p:nvPr/>
        </p:nvCxnSpPr>
        <p:spPr>
          <a:xfrm flipV="1">
            <a:off x="10835640" y="2011680"/>
            <a:ext cx="137160" cy="137160"/>
          </a:xfrm>
          <a:prstGeom prst="line">
            <a:avLst/>
          </a:prstGeom>
          <a:ln w="20320">
            <a:solidFill>
              <a:srgbClr val="55A868"/>
            </a:solidFill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82879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one backward pass at the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student's init reads each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query's missing skills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60320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a sparse dictionary over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many teacher traces factors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gradients into named atoms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74920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the atoms the k queries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activate form the task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specification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43800" y="534924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traces are scored by the atoms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they supply; budget filled from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the top; stop once absorbed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23160" y="6199632"/>
            <a:ext cx="7498079" cy="457200"/>
          </a:xfrm>
          <a:prstGeom prst="roundRect">
            <a:avLst>
              <a:gd name="adj" fmla="val 50000"/>
            </a:avLst>
          </a:prstGeom>
          <a:solidFill>
            <a:srgbClr val="F7F6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651760" y="6309360"/>
            <a:ext cx="457200" cy="237744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00400" y="63093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= skill the task needs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983479" y="6309360"/>
            <a:ext cx="457200" cy="237744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32120" y="6309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= out-of-scope skill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269479" y="6309360"/>
            <a:ext cx="457200" cy="237744"/>
          </a:xfrm>
          <a:prstGeom prst="roundRect">
            <a:avLst>
              <a:gd name="adj" fmla="val 45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00" b="1" i="0">
                <a:solidFill>
                  <a:srgbClr val="6B6A63"/>
                </a:solidFill>
                <a:latin typeface="Times New Roman"/>
              </a:rPr>
              <a:t>…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18120" y="6309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= other atoms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