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" y="91440"/>
            <a:ext cx="11969496" cy="66568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989320" y="201168"/>
            <a:ext cx="0" cy="6437376"/>
          </a:xfrm>
          <a:prstGeom prst="line">
            <a:avLst/>
          </a:prstGeom>
          <a:ln w="22860">
            <a:solidFill>
              <a:srgbClr val="8A8A8A"/>
            </a:solidFill>
            <a:prstDash val="dash"/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6089904" y="4041648"/>
            <a:ext cx="5888736" cy="0"/>
          </a:xfrm>
          <a:prstGeom prst="line">
            <a:avLst/>
          </a:prstGeom>
          <a:ln w="22860">
            <a:solidFill>
              <a:srgbClr val="8A8A8A"/>
            </a:solidFill>
            <a:prstDash val="dash"/>
          </a:ln>
          <a:effectLst/>
        </p:spPr>
      </p:cxnSp>
      <p:sp>
        <p:nvSpPr>
          <p:cNvPr id="5" name="Oval 4"/>
          <p:cNvSpPr/>
          <p:nvPr/>
        </p:nvSpPr>
        <p:spPr>
          <a:xfrm>
            <a:off x="292608" y="2377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1">
                <a:solidFill>
                  <a:srgbClr val="111111"/>
                </a:solidFill>
                <a:latin typeface="Times New Roman"/>
              </a:rPr>
              <a:t>Stage I — skill extraction &amp; budget allocation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841248"/>
            <a:ext cx="107899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907084"/>
            <a:ext cx="107899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972921"/>
            <a:ext cx="107899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1261872"/>
            <a:ext cx="676656" cy="5943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1499616"/>
            <a:ext cx="676656" cy="5943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1737360"/>
            <a:ext cx="676656" cy="5943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30428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Support Set 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75104" y="1481328"/>
            <a:ext cx="402336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2212848" y="896112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11111"/>
                </a:solidFill>
                <a:latin typeface="Times New Roman"/>
              </a:rPr>
              <a:t>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8860" y="800100"/>
            <a:ext cx="1417320" cy="1234440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4C72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06547" y="672084"/>
            <a:ext cx="2194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71800" y="580644"/>
            <a:ext cx="91440" cy="9144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21254" y="1252728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31489" y="1252728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19095" y="1565452"/>
            <a:ext cx="396849" cy="27432"/>
          </a:xfrm>
          <a:prstGeom prst="roundRect">
            <a:avLst>
              <a:gd name="adj" fmla="val 50000"/>
            </a:avLst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88819" y="2071116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1F1E"/>
                </a:solidFill>
                <a:latin typeface="Times New Roman"/>
              </a:rPr>
              <a:t>Student Model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67328" y="1417320"/>
            <a:ext cx="393192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4233672" y="1901952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233672" y="1755648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233672" y="1609344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4233672" y="1463040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4233672" y="1920240"/>
            <a:ext cx="1088135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4279392" y="1243584"/>
            <a:ext cx="201168" cy="676656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44568" y="1591056"/>
            <a:ext cx="201168" cy="329184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9744" y="1371600"/>
            <a:ext cx="201168" cy="548640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1673352"/>
            <a:ext cx="201168" cy="246888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221284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Gradient Features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2670048"/>
            <a:ext cx="3611880" cy="548640"/>
          </a:xfrm>
          <a:prstGeom prst="roundRect">
            <a:avLst>
              <a:gd name="adj" fmla="val 18000"/>
            </a:avLst>
          </a:prstGeom>
          <a:solidFill>
            <a:srgbClr val="F0F5FB"/>
          </a:solidFill>
          <a:ln w="20320">
            <a:solidFill>
              <a:srgbClr val="4C72B0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070" b="1" i="0">
                <a:solidFill>
                  <a:srgbClr val="111111"/>
                </a:solidFill>
                <a:latin typeface="Times New Roman"/>
              </a:rPr>
              <a:t>min‖X − CD‖²  +  λ‖C‖₁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7980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sparse dictionary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94560" y="3236976"/>
            <a:ext cx="0" cy="201168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37" name="Rounded Rectangle 36"/>
          <p:cNvSpPr/>
          <p:nvPr/>
        </p:nvSpPr>
        <p:spPr>
          <a:xfrm>
            <a:off x="502920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4C72B0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151376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9304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5F9EA0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" y="4151376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75688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7BA7D7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92807" y="4151376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62072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F2B98F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79191" y="4151376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48456" y="35112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29A9A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65576" y="4151376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a₅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46227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90" b="1" i="1">
                <a:solidFill>
                  <a:srgbClr val="111111"/>
                </a:solidFill>
                <a:latin typeface="Times New Roman"/>
              </a:rPr>
              <a:t>Capability Atoms (dictionary D)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480560" y="3803904"/>
            <a:ext cx="256032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4782312" y="4142232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4782312" y="3995928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4782312" y="3849624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4782312" y="3703320"/>
            <a:ext cx="1088136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4782312" y="4160520"/>
            <a:ext cx="1088136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54" name="Rectangle 53"/>
          <p:cNvSpPr/>
          <p:nvPr/>
        </p:nvSpPr>
        <p:spPr>
          <a:xfrm>
            <a:off x="4828032" y="3447287"/>
            <a:ext cx="201168" cy="713232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93208" y="3685031"/>
            <a:ext cx="201168" cy="475488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58384" y="3858768"/>
            <a:ext cx="201168" cy="301752"/>
          </a:xfrm>
          <a:prstGeom prst="rect">
            <a:avLst/>
          </a:prstGeom>
          <a:solidFill>
            <a:srgbClr val="7BA7D7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23560" y="4050791"/>
            <a:ext cx="201168" cy="109728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73168" y="452628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Task Demand 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4828032"/>
            <a:ext cx="4023360" cy="530352"/>
          </a:xfrm>
          <a:prstGeom prst="roundRect">
            <a:avLst>
              <a:gd name="adj" fmla="val 18000"/>
            </a:avLst>
          </a:prstGeom>
          <a:solidFill>
            <a:srgbClr val="FFF6DE"/>
          </a:solidFill>
          <a:ln w="20320">
            <a:solidFill>
              <a:srgbClr val="B88A2E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111111"/>
                </a:solidFill>
                <a:latin typeface="Times New Roman"/>
              </a:rPr>
              <a:t>per-skill token budget  =  w · b</a:t>
            </a:r>
          </a:p>
        </p:txBody>
      </p:sp>
      <p:sp>
        <p:nvSpPr>
          <p:cNvPr id="60" name="Oval 59"/>
          <p:cNvSpPr/>
          <p:nvPr/>
        </p:nvSpPr>
        <p:spPr>
          <a:xfrm>
            <a:off x="4800600" y="5212080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800600" y="5084064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800600" y="4956048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65760" y="5504688"/>
            <a:ext cx="5394960" cy="1188720"/>
          </a:xfrm>
          <a:prstGeom prst="roundRect">
            <a:avLst>
              <a:gd name="adj" fmla="val 10000"/>
            </a:avLst>
          </a:prstGeom>
          <a:solidFill>
            <a:srgbClr val="F7F6F2"/>
          </a:solidFill>
          <a:ln w="16510">
            <a:solidFill>
              <a:srgbClr val="9A9A9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54126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111111"/>
                </a:solidFill>
                <a:latin typeface="Times New Roman"/>
              </a:rPr>
              <a:t>Cross-modal bridge (fit on paid pairs)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31519" y="6419088"/>
            <a:ext cx="822961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66" name="Rectangle 65"/>
          <p:cNvSpPr/>
          <p:nvPr/>
        </p:nvSpPr>
        <p:spPr>
          <a:xfrm>
            <a:off x="777240" y="6144768"/>
            <a:ext cx="201168" cy="274320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2416" y="5980175"/>
            <a:ext cx="201168" cy="438912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07592" y="6217920"/>
            <a:ext cx="201168" cy="201168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45566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Prompt g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783080" y="6172200"/>
            <a:ext cx="41148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71" name="Rounded Rectangle 70"/>
          <p:cNvSpPr/>
          <p:nvPr/>
        </p:nvSpPr>
        <p:spPr>
          <a:xfrm>
            <a:off x="2286000" y="580644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359152" y="5879592"/>
            <a:ext cx="162560" cy="162560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562352" y="5879592"/>
            <a:ext cx="162560" cy="162560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65552" y="5879592"/>
            <a:ext cx="162560" cy="162560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359152" y="6082792"/>
            <a:ext cx="162560" cy="162560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562352" y="6082792"/>
            <a:ext cx="162560" cy="162560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65552" y="6082792"/>
            <a:ext cx="162560" cy="162560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359152" y="6285992"/>
            <a:ext cx="162560" cy="162560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562352" y="6285992"/>
            <a:ext cx="162560" cy="162560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65552" y="6285992"/>
            <a:ext cx="162560" cy="162560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29968" y="645566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Ridge Map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200400" y="6172200"/>
            <a:ext cx="41148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703320" y="6419088"/>
            <a:ext cx="822959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84" name="Rectangle 83"/>
          <p:cNvSpPr/>
          <p:nvPr/>
        </p:nvSpPr>
        <p:spPr>
          <a:xfrm>
            <a:off x="3749039" y="5916168"/>
            <a:ext cx="201168" cy="50292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014215" y="6190488"/>
            <a:ext cx="201168" cy="22860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79392" y="6035040"/>
            <a:ext cx="201168" cy="384048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66160" y="645566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Predicted Skills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56048" y="5925312"/>
            <a:ext cx="868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legal before</a:t>
            </a:r>
          </a:p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paying</a:t>
            </a:r>
          </a:p>
        </p:txBody>
      </p:sp>
      <p:sp>
        <p:nvSpPr>
          <p:cNvPr id="89" name="Oval 88"/>
          <p:cNvSpPr/>
          <p:nvPr/>
        </p:nvSpPr>
        <p:spPr>
          <a:xfrm>
            <a:off x="6172200" y="2377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6560" y="292608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11111"/>
                </a:solidFill>
                <a:latin typeface="Times New Roman"/>
              </a:rPr>
              <a:t>Stage II — budgeted acquisition (×R rounds)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40779" y="754380"/>
            <a:ext cx="1417320" cy="1234440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8A5A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938467" y="626364"/>
            <a:ext cx="21945" cy="128016"/>
          </a:xfrm>
          <a:prstGeom prst="rect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903720" y="534924"/>
            <a:ext cx="91440" cy="91440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653174" y="1207008"/>
            <a:ext cx="82296" cy="82296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163409" y="1207008"/>
            <a:ext cx="82296" cy="82296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751015" y="1519732"/>
            <a:ext cx="396849" cy="27432"/>
          </a:xfrm>
          <a:prstGeom prst="roundRect">
            <a:avLst>
              <a:gd name="adj" fmla="val 50000"/>
            </a:avLst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20740" y="2025395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1F1E"/>
                </a:solidFill>
                <a:latin typeface="Times New Roman"/>
              </a:rPr>
              <a:t>Teacher API</a:t>
            </a:r>
          </a:p>
        </p:txBody>
      </p:sp>
      <p:sp>
        <p:nvSpPr>
          <p:cNvPr id="98" name="Oval 97"/>
          <p:cNvSpPr/>
          <p:nvPr/>
        </p:nvSpPr>
        <p:spPr>
          <a:xfrm>
            <a:off x="7754112" y="1234440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54112" y="1106424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754112" y="978408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754112" y="850392"/>
            <a:ext cx="475488" cy="114300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72400" y="1444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 i="1">
                <a:solidFill>
                  <a:srgbClr val="111111"/>
                </a:solidFill>
                <a:latin typeface="Times New Roman"/>
              </a:rPr>
              <a:t>b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321040" y="1371600"/>
            <a:ext cx="292608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04" name="Rounded Rectangle 103"/>
          <p:cNvSpPr/>
          <p:nvPr/>
        </p:nvSpPr>
        <p:spPr>
          <a:xfrm>
            <a:off x="8686800" y="914400"/>
            <a:ext cx="84124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814816" y="1133856"/>
            <a:ext cx="566928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814816" y="1353312"/>
            <a:ext cx="566928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814816" y="1572768"/>
            <a:ext cx="566928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58200" y="197510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candidate x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582912" y="1371600"/>
            <a:ext cx="27432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9902952" y="1783080"/>
            <a:ext cx="822960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11" name="Rectangle 110"/>
          <p:cNvSpPr/>
          <p:nvPr/>
        </p:nvSpPr>
        <p:spPr>
          <a:xfrm>
            <a:off x="9948672" y="1325880"/>
            <a:ext cx="201168" cy="45720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213848" y="1563624"/>
            <a:ext cx="201168" cy="219456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479024" y="1417319"/>
            <a:ext cx="201168" cy="36576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10928" y="197510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ŝ(x) predicted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0835640" y="1371600"/>
            <a:ext cx="22860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11091672" y="1783080"/>
            <a:ext cx="822960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17" name="Rectangle 116"/>
          <p:cNvSpPr/>
          <p:nvPr/>
        </p:nvSpPr>
        <p:spPr>
          <a:xfrm>
            <a:off x="11137392" y="1216152"/>
            <a:ext cx="201168" cy="566928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402567" y="1618488"/>
            <a:ext cx="201168" cy="164592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667744" y="1453895"/>
            <a:ext cx="201168" cy="329184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927080" y="197510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r remaining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675120" y="2240280"/>
            <a:ext cx="3931920" cy="566928"/>
          </a:xfrm>
          <a:prstGeom prst="roundRect">
            <a:avLst>
              <a:gd name="adj" fmla="val 18000"/>
            </a:avLst>
          </a:prstGeom>
          <a:solidFill>
            <a:srgbClr val="FFF6DE"/>
          </a:solidFill>
          <a:ln w="27940">
            <a:solidFill>
              <a:srgbClr val="B88A2E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111111"/>
                </a:solidFill>
                <a:latin typeface="Times New Roman"/>
              </a:rPr>
              <a:t>buy  argmax  u(x) = Σ min(r, ŝ(x)) ∕ t̂</a:t>
            </a:r>
          </a:p>
        </p:txBody>
      </p:sp>
      <p:cxnSp>
        <p:nvCxnSpPr>
          <p:cNvPr id="122" name="Connector 121"/>
          <p:cNvCxnSpPr/>
          <p:nvPr/>
        </p:nvCxnSpPr>
        <p:spPr>
          <a:xfrm flipH="1">
            <a:off x="6355080" y="2523744"/>
            <a:ext cx="320040" cy="0"/>
          </a:xfrm>
          <a:prstGeom prst="line">
            <a:avLst/>
          </a:prstGeom>
          <a:ln w="27940">
            <a:solidFill>
              <a:srgbClr val="111111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6355080" y="1600200"/>
            <a:ext cx="0" cy="923544"/>
          </a:xfrm>
          <a:prstGeom prst="line">
            <a:avLst/>
          </a:prstGeom>
          <a:ln w="27940">
            <a:solidFill>
              <a:srgbClr val="111111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6355080" y="1481328"/>
            <a:ext cx="91440" cy="118872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25" name="TextBox 124"/>
          <p:cNvSpPr txBox="1"/>
          <p:nvPr/>
        </p:nvSpPr>
        <p:spPr>
          <a:xfrm>
            <a:off x="10698480" y="230428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each round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09360" y="292608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Times New Roman"/>
              </a:rPr>
              <a:t>returns → exec ✓ + gate</a:t>
            </a:r>
          </a:p>
        </p:txBody>
      </p:sp>
      <p:sp>
        <p:nvSpPr>
          <p:cNvPr id="127" name="Oval 126"/>
          <p:cNvSpPr/>
          <p:nvPr/>
        </p:nvSpPr>
        <p:spPr>
          <a:xfrm>
            <a:off x="9509760" y="2834640"/>
            <a:ext cx="493776" cy="493776"/>
          </a:xfrm>
          <a:prstGeom prst="ellipse">
            <a:avLst/>
          </a:prstGeom>
          <a:solidFill>
            <a:srgbClr val="9EC99A"/>
          </a:solidFill>
          <a:ln w="1651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83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28" name="Oval 127"/>
          <p:cNvSpPr/>
          <p:nvPr/>
        </p:nvSpPr>
        <p:spPr>
          <a:xfrm>
            <a:off x="10104120" y="2834640"/>
            <a:ext cx="493776" cy="493776"/>
          </a:xfrm>
          <a:prstGeom prst="ellipse">
            <a:avLst/>
          </a:prstGeom>
          <a:solidFill>
            <a:srgbClr val="E29A9A"/>
          </a:solidFill>
          <a:ln w="1651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830" b="1" i="0">
                <a:solidFill>
                  <a:srgbClr val="FFFFFF"/>
                </a:solidFill>
                <a:latin typeface="Times New Roman"/>
              </a:rPr>
              <a:t>✗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716768" y="290779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11111"/>
                </a:solidFill>
                <a:latin typeface="Times New Roman"/>
              </a:rPr>
              <a:t>waste 2–4%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903720" y="3867912"/>
            <a:ext cx="82295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6903720" y="3721608"/>
            <a:ext cx="82295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6903720" y="3575304"/>
            <a:ext cx="82295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6903720" y="3429000"/>
            <a:ext cx="82295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6903720" y="3886200"/>
            <a:ext cx="822960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35" name="Rectangle 134"/>
          <p:cNvSpPr/>
          <p:nvPr/>
        </p:nvSpPr>
        <p:spPr>
          <a:xfrm>
            <a:off x="6949440" y="3337560"/>
            <a:ext cx="201168" cy="548640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214616" y="3520440"/>
            <a:ext cx="201168" cy="365760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479792" y="3657600"/>
            <a:ext cx="201168" cy="228600"/>
          </a:xfrm>
          <a:prstGeom prst="rect">
            <a:avLst/>
          </a:prstGeom>
          <a:solidFill>
            <a:srgbClr val="7BA7D7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8092440" y="3657600"/>
            <a:ext cx="45720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8641080" y="3867912"/>
            <a:ext cx="82296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8641080" y="3721608"/>
            <a:ext cx="82296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8641080" y="3575304"/>
            <a:ext cx="82296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8641080" y="3429000"/>
            <a:ext cx="82296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8641080" y="3886200"/>
            <a:ext cx="822960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44" name="Rectangle 143"/>
          <p:cNvSpPr/>
          <p:nvPr/>
        </p:nvSpPr>
        <p:spPr>
          <a:xfrm>
            <a:off x="8686800" y="3749039"/>
            <a:ext cx="201168" cy="137160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951976" y="3794760"/>
            <a:ext cx="201168" cy="91440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217152" y="3831336"/>
            <a:ext cx="201168" cy="54864"/>
          </a:xfrm>
          <a:prstGeom prst="rect">
            <a:avLst/>
          </a:prstGeom>
          <a:solidFill>
            <a:srgbClr val="7BA7D7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464040" y="34747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deficit read from student's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464040" y="369417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loss curves → next round;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464040" y="391363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starved skills → generate</a:t>
            </a:r>
          </a:p>
        </p:txBody>
      </p:sp>
      <p:sp>
        <p:nvSpPr>
          <p:cNvPr id="150" name="Oval 149"/>
          <p:cNvSpPr/>
          <p:nvPr/>
        </p:nvSpPr>
        <p:spPr>
          <a:xfrm>
            <a:off x="6172200" y="4169663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748272" y="424281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111111"/>
                </a:solidFill>
                <a:latin typeface="Times New Roman"/>
              </a:rPr>
              <a:t>Stage III — mixed-source SFT</a:t>
            </a:r>
          </a:p>
        </p:txBody>
      </p:sp>
      <p:sp>
        <p:nvSpPr>
          <p:cNvPr id="152" name="Oval 151"/>
          <p:cNvSpPr/>
          <p:nvPr/>
        </p:nvSpPr>
        <p:spPr>
          <a:xfrm>
            <a:off x="9528048" y="4169663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58400" y="4242816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111111"/>
                </a:solidFill>
                <a:latin typeface="Times New Roman"/>
              </a:rPr>
              <a:t>Deploy (optional gate)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309360" y="4709160"/>
            <a:ext cx="8229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400800" y="4828032"/>
            <a:ext cx="493776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242048" y="4636008"/>
            <a:ext cx="201168" cy="457200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6309360" y="5212080"/>
            <a:ext cx="8229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00800" y="5330952"/>
            <a:ext cx="493776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242048" y="5358384"/>
            <a:ext cx="201168" cy="237744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6309360" y="5715000"/>
            <a:ext cx="8229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00800" y="5833872"/>
            <a:ext cx="493776" cy="5486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242048" y="5715000"/>
            <a:ext cx="201168" cy="384048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035040" y="629107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11111"/>
                </a:solidFill>
                <a:latin typeface="Times New Roman"/>
              </a:rPr>
              <a:t>teacher demos ∪ self-verified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7589520" y="5349240"/>
            <a:ext cx="384048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65" name="Rounded Rectangle 164"/>
          <p:cNvSpPr/>
          <p:nvPr/>
        </p:nvSpPr>
        <p:spPr>
          <a:xfrm>
            <a:off x="8023859" y="4809744"/>
            <a:ext cx="1234440" cy="1078992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4C72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630107" y="4681728"/>
            <a:ext cx="2194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8595359" y="4590288"/>
            <a:ext cx="91440" cy="9144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8377732" y="5200192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822131" y="5200192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8468258" y="5478719"/>
            <a:ext cx="345643" cy="27432"/>
          </a:xfrm>
          <a:prstGeom prst="roundRect">
            <a:avLst>
              <a:gd name="adj" fmla="val 50000"/>
            </a:avLst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703819" y="592531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1F1E"/>
                </a:solidFill>
                <a:latin typeface="Times New Roman"/>
              </a:rPr>
              <a:t>Student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6720840" y="6492240"/>
            <a:ext cx="141732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6720840" y="6345936"/>
            <a:ext cx="141732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6720840" y="6199631"/>
            <a:ext cx="141732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6748272" y="6236208"/>
            <a:ext cx="292608" cy="192024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7040880" y="6053328"/>
            <a:ext cx="320040" cy="182880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7360920" y="5998464"/>
            <a:ext cx="274320" cy="54864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>
            <a:off x="7635240" y="5998464"/>
            <a:ext cx="274320" cy="109728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sp>
        <p:nvSpPr>
          <p:cNvPr id="179" name="Oval 178"/>
          <p:cNvSpPr/>
          <p:nvPr/>
        </p:nvSpPr>
        <p:spPr>
          <a:xfrm>
            <a:off x="7562088" y="5925312"/>
            <a:ext cx="155448" cy="155448"/>
          </a:xfrm>
          <a:prstGeom prst="ellipse">
            <a:avLst/>
          </a:prstGeom>
          <a:solidFill>
            <a:srgbClr val="3E7A3A"/>
          </a:solidFill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400800" y="651052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1">
                <a:solidFill>
                  <a:srgbClr val="111111"/>
                </a:solidFill>
                <a:latin typeface="Times New Roman"/>
              </a:rPr>
              <a:t>rollback only past 1-probe margin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646920" y="4617720"/>
            <a:ext cx="2240280" cy="1005840"/>
          </a:xfrm>
          <a:prstGeom prst="roundRect">
            <a:avLst>
              <a:gd name="adj" fmla="val 10000"/>
            </a:avLst>
          </a:prstGeom>
          <a:solidFill>
            <a:srgbClr val="ECF6EB"/>
          </a:solidFill>
          <a:ln w="27940">
            <a:solidFill>
              <a:srgbClr val="3E7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784080" y="4736592"/>
            <a:ext cx="713232" cy="713232"/>
          </a:xfrm>
          <a:prstGeom prst="ellipse">
            <a:avLst/>
          </a:prstGeom>
          <a:solidFill>
            <a:srgbClr val="3E7A3A"/>
          </a:solidFill>
          <a:ln w="2032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497312" y="4773168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90" b="1" i="0">
                <a:solidFill>
                  <a:srgbClr val="111111"/>
                </a:solidFill>
                <a:latin typeface="Times New Roman"/>
              </a:rPr>
              <a:t>coverage ≥ 1−α</a:t>
            </a:r>
          </a:p>
          <a:p>
            <a:pPr algn="l"/>
            <a:r>
              <a:rPr sz="1590" b="1" i="0">
                <a:solidFill>
                  <a:srgbClr val="111111"/>
                </a:solidFill>
                <a:latin typeface="Times New Roman"/>
              </a:rPr>
              <a:t>leakage ≤ ε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784080" y="56692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90" b="1" i="1">
                <a:solidFill>
                  <a:srgbClr val="111111"/>
                </a:solidFill>
                <a:latin typeface="Times New Roman"/>
              </a:rPr>
              <a:t>Certificate</a:t>
            </a:r>
          </a:p>
        </p:txBody>
      </p:sp>
      <p:sp>
        <p:nvSpPr>
          <p:cNvPr id="185" name="Diamond 184"/>
          <p:cNvSpPr/>
          <p:nvPr/>
        </p:nvSpPr>
        <p:spPr>
          <a:xfrm>
            <a:off x="9784080" y="5961888"/>
            <a:ext cx="548640" cy="548640"/>
          </a:xfrm>
          <a:prstGeom prst="diamond">
            <a:avLst/>
          </a:prstGeom>
          <a:solidFill>
            <a:srgbClr val="DFE5EF"/>
          </a:solidFill>
          <a:ln w="1778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378440" y="59618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60" b="1" i="0">
                <a:solidFill>
                  <a:srgbClr val="3E7A3A"/>
                </a:solidFill>
                <a:latin typeface="Times New Roman"/>
              </a:rPr>
              <a:t>in → student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378440" y="62179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60" b="1" i="0">
                <a:solidFill>
                  <a:srgbClr val="8A5AA8"/>
                </a:solidFill>
                <a:latin typeface="Times New Roman"/>
              </a:rPr>
              <a:t>out → teacher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9281160" y="6236208"/>
            <a:ext cx="429768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